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 id="2147483660" r:id="rId2"/>
  </p:sldMasterIdLst>
  <p:notesMasterIdLst>
    <p:notesMasterId r:id="rId34"/>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545"/>
    <p:restoredTop sz="94677"/>
  </p:normalViewPr>
  <p:slideViewPr>
    <p:cSldViewPr snapToGrid="0">
      <p:cViewPr>
        <p:scale>
          <a:sx n="104" d="100"/>
          <a:sy n="104" d="100"/>
        </p:scale>
        <p:origin x="160" y="144"/>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presProps" Target="presProps.xml"/><Relationship Id="rId8" Type="http://schemas.openxmlformats.org/officeDocument/2006/relationships/slide" Target="slides/slide6.xml"/><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14.03.2026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大家好，今天我将为大家汇报我们的研究成果——OKR最优方案计算工具。这个工具旨在解决OKR管理中方案选择的难题，通过引入层次分析法，为团队提供科学、量化的决策支持。</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首先，我们来看一下研究背景。OKR作为一种高效的目标管理方法，已经在许多大型科技公司取得了成功。但对于中小团队而言，如何科学地确定目标优先级、选择最优实施方案，仍然是一个普遍的痛点。这些问题导致OKR在落地时效果大打折扣。</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基于这些背景，我们将研究问题具体化为三个方面：如何科学分配权重、如何系统对比方案、以及如何保证决策透明。这三个问题构成了我们研究的核心。</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我们的研究目标非常明确：构建科学方法、实现量化对比、提供决策工具。这不仅在理论上拓展了AHP方法的应用场景，更在实践中为团队提供了切实可用的解决方案，具有重要的理论和实践价值。</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为了解决这些问题，我们引入了多准则决策方法，也就是MCDM。这是一个成熟的理论体系，包含多种方法。</a:t>
            </a:r>
          </a:p>
          <a:p>
            <a:pPr indent="0" algn="l">
              <a:lnSpc>
                <a:spcPct val="100000"/>
              </a:lnSpc>
            </a:pPr>
            <a:r>
              <a:rPr lang="en-US" sz="1400" b="0" i="0" u="none" strike="noStrike">
                <a:solidFill>
                  <a:srgbClr val="000000"/>
                </a:solidFill>
              </a:rPr>
              <a:t>左侧我们定义了MCDM，它是在多个冲突准则下选择最优方案的科学方法。在本研究中，我们选择了层次分析法（AHP），因为它特别适合处理我们面临的这种定性与定量结合的复杂决策问题，逻辑清晰且易于验证。</a:t>
            </a:r>
          </a:p>
          <a:p>
            <a:pPr indent="0" algn="l">
              <a:lnSpc>
                <a:spcPct val="100000"/>
              </a:lnSpc>
            </a:pPr>
            <a:r>
              <a:rPr lang="en-US" sz="1400" b="0" i="0" u="none" strike="noStrike">
                <a:solidFill>
                  <a:srgbClr val="000000"/>
                </a:solidFill>
              </a:rPr>
              <a:t>右侧列出了其他几种经典的MCDM方法，包括处理模糊信息的FCE、评估效率的DEA以及基于理想解排序的TOPSIS法，它们各有侧重，适用于不同的场景。</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AHP的核心思想非常直观：首先把复杂问题拆解开，然后通过两两比较来确定各个因素的重要性，最后计算出权重并检验其一致性。这个过程将主观判断转化为了可计算的数学模型。</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为了进行两两比较，Saaty教授提出了1-9标度法。这个标度体系非常巧妙，它将我们的定性判断（比如“稍微重要”、“明显重要”）转化为了1到9之间的定量数值，从而为后续的数学计算奠定了基础。</a:t>
            </a:r>
          </a:p>
          <a:p>
            <a:pPr indent="0" algn="l">
              <a:lnSpc>
                <a:spcPct val="100000"/>
              </a:lnSpc>
            </a:pPr>
            <a:r>
              <a:rPr lang="en-US" sz="1400" b="0" i="0" u="none" strike="noStrike">
                <a:solidFill>
                  <a:srgbClr val="000000"/>
                </a:solidFill>
              </a:rPr>
              <a:t>表格中列出了具体的标度含义。1代表同等重要，9代表极端重要，而2、4、6、8则作为中间的折中值。</a:t>
            </a:r>
          </a:p>
          <a:p>
            <a:pPr indent="0" algn="l">
              <a:lnSpc>
                <a:spcPct val="100000"/>
              </a:lnSpc>
            </a:pPr>
            <a:r>
              <a:rPr lang="en-US" sz="1400" b="0" i="0" u="none" strike="noStrike">
                <a:solidFill>
                  <a:srgbClr val="000000"/>
                </a:solidFill>
              </a:rPr>
              <a:t>此外，我们需要注意“互反性原则”，即如果i比j重要a倍，那么j比i就重要1/a倍。这是构建判断矩阵时必须遵守的规则。</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为了确保我们的判断是可靠的，AHP引入了一致性检验机制。简单来说，就是检查我们的两两比较是否存在逻辑矛盾。</a:t>
            </a:r>
          </a:p>
          <a:p>
            <a:pPr indent="0" algn="l">
              <a:lnSpc>
                <a:spcPct val="100000"/>
              </a:lnSpc>
            </a:pPr>
            <a:r>
              <a:rPr lang="en-US" sz="1400" b="0" i="0" u="none" strike="noStrike">
                <a:solidFill>
                  <a:srgbClr val="000000"/>
                </a:solidFill>
              </a:rPr>
              <a:t>我们通过计算一致性比率CR来进行判断。首先计算一致性指标CI，它反映了判断矩阵偏离完全一致性的程度。然后将CI除以随机一致性指标RI，得到CR。</a:t>
            </a:r>
          </a:p>
          <a:p>
            <a:pPr indent="0" algn="l">
              <a:lnSpc>
                <a:spcPct val="100000"/>
              </a:lnSpc>
            </a:pPr>
            <a:r>
              <a:rPr lang="en-US" sz="1400" b="0" i="0" u="none" strike="noStrike">
                <a:solidFill>
                  <a:srgbClr val="000000"/>
                </a:solidFill>
              </a:rPr>
              <a:t>右侧的表格列出了不同维度n对应的RI值，这是通过大量随机抽样计算得出的修正值。</a:t>
            </a:r>
          </a:p>
          <a:p>
            <a:pPr indent="0" algn="l">
              <a:lnSpc>
                <a:spcPct val="100000"/>
              </a:lnSpc>
            </a:pPr>
            <a:r>
              <a:rPr lang="en-US" sz="1400" b="0" i="0" u="none" strike="noStrike">
                <a:solidFill>
                  <a:srgbClr val="000000"/>
                </a:solidFill>
              </a:rPr>
              <a:t>最终的判定标准非常直观：当CR小于0.1时，我们就认为这个判断矩阵具有满意的一致性，其权重结果是可以信赖的。</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在我们开展研究之前，也调研了现有的相关工作。我们发现，虽然有一些方法论和模型，但它们要么偏重战略，要么过于主观，或者工具本身过于复杂。这正是我们研究的切入点，我们希望填补这些空白，打造一个真正实用的工具。</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接下来介绍我们的系统设计。我们采用了经典的三层架构，从表现层到业务逻辑层再到数据层，各司其职。技术上，我们坚持零依赖、纯前端的原则，确保工具的易用性和普适性。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数据模型是系统的基石。我们设计了清晰的实体关系，从OKR到KR，再到具体的方案和评价因子，形成了一个完整的数据闭环，为后续的计算和决策提供了数据基础。</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在算法实现上，我们选择了几何平均法来计算权重。这个方法步骤清晰，计算效率高，能够稳定地从判断矩阵中提取出各因子的权重值。</a:t>
            </a:r>
          </a:p>
          <a:p>
            <a:pPr indent="0" algn="l">
              <a:lnSpc>
                <a:spcPct val="100000"/>
              </a:lnSpc>
            </a:pPr>
            <a:r>
              <a:rPr lang="en-US" sz="1400" b="0" i="0" u="none" strike="noStrike">
                <a:solidFill>
                  <a:srgbClr val="000000"/>
                </a:solidFill>
              </a:rPr>
              <a:t>具体分为三步：首先构建判断矩阵，这是基础；其次计算每行的几何平均值，这是核心计算步骤；最后进行归一化处理，得到最终的权重分布。</a:t>
            </a:r>
          </a:p>
          <a:p>
            <a:pPr indent="0" algn="l">
              <a:lnSpc>
                <a:spcPct val="100000"/>
              </a:lnSpc>
            </a:pPr>
            <a:r>
              <a:rPr lang="en-US" sz="1400" b="0" i="0" u="none" strike="noStrike">
                <a:solidFill>
                  <a:srgbClr val="000000"/>
                </a:solidFill>
              </a:rPr>
              <a:t>从复杂度来看，该算法的时间复杂度为O(n²)，这意味着即使因子数量增加，计算量也不会呈指数级爆炸，保证了系统的高效运行。</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有了权重，我们就可以对每个方案进行量化评分了。我们区分了正向和反向因子，通过加权求和得到每个方案的总分，最后按总分排序，最高分的方案就是我们的推荐方案。这个过程完全量化，结果清晰明了。</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我们深知传统AHP工具的复杂性，因此在交互设计上做了重大创新。我们将繁琐的矩阵填写变成了简单的问答流程，用户只需通过滑块选择重要性，系统会引导完成所有比较。这使得复杂的AHP方法变得非常易用。</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在技术实现上，我们全部采用前端技术，确保了工具的轻量化和易用性。我们使用原生JavaScript和Bootstrap框架，实现了零依赖、即开即用的目标，用户无需任何配置即可使用。</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系统的代码结构清晰，分为因子管理、AHP引擎和方案管理三大核心模块。每个模块职责明确，通过核心函数实现具体的业务逻辑，保证了系统的健壮性和可扩展性。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我们非常注重用户体验，因此采用了响应式设计。无论是在电脑、平板还是手机上，工具的界面都会自动调整，确保最佳的显示效果和操作体验。</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理论说完了，我们来看一个实际案例。这是一个创业团队的真实场景，他们需要为产品MVP的三个关键环节选择最优的技术方案。这正是我们工具要解决的问题。</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第一步是确定评价标准，也就是影响因子。我们从业务价值、开发成本、技术风险和可维护性四个维度来评估每个方案，这样可以确保评估的全面性。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接下来，团队使用我们的工具进行了因子的两两比较。系统自动计算出各因子的权重，并进行了一致性检验。结果显示，业务价值是最重要的考量因素，权重接近一半，这也符合团队的战略重点。</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有了权重，我们对每个方案进行评分。可以看到，方案A（React自研）在业务价值和可维护性上表现突出，最终总分最高，被系统推荐为最优方案。这个结果与团队的初步判断一致，但提供了更量化的依据。</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对所有KR都执行相同的流程后，我们得到了完整的决策结果。每个KR都有了明确的最优方案推荐，并且通过雷达图可以直观地看到每个方案的优势所在，为团队最终的决策提供了清晰、全面的依据。</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为了科学地验证工具的效果，我们设计了一系列实验，从易用性、准确性、效率和用户满意度四个维度进行评估，并设置了实验组和对照组进行对比。</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实验结果显示，用户能够轻松完成所有任务，任务完成率非常高。特别是SUS评分达到了82.5分，这表明我们的工具具有良好的易用性，用户能够快速上手。</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在准确性方面，我们将工具的结果与三位专家的独立决策进行了对比。结果非常令人满意，工具的推荐与专家的共识完全一致，这充分证明了我们工具决策的准确性和专业性。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效率是我们工具的一大亮点。实验数据显示，相比传统的会议讨论，使用我们的工具可以将决策时间缩短60%以上，这对于追求高效的团队来说，价值是巨大的。</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总结一下我们的研究贡献：我们不仅在理论上创新了AHP方法在OKR领域的应用，更在交互设计上做出了突破，让复杂的方法变得简单易用，最终交付了一个具有实际应用价值的工具。</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当然，我们的研究也存在一些局限性。比如，AHP方法本身仍带有主观性，工具目前也缺少数据保存功能。这些都是我们未来需要改进的方向。</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针对这些不足，我们规划了清晰的未来发展路线图。从短期的数据保存，到中期的协作功能，再到长期的智能推荐，我们希望不断完善这个工具，使其功能更加强大。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最后，对我们的研究进行一个总结。我们成功地解决了OKR决策中的核心问题，开发了一个经过验证的、高效易用的工具。关键指标显示，我们的工具在可用性、准确性和效率上都表现出色。</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我的汇报到此结束，感谢大家的聆听！欢迎大家通过屏幕上的方式与我交流讨论，谢谢！</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标题幻灯片" type="title">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标题和内容" type="obj">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节标题" type="secHead">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5"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26"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7"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8"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两栏内容" type="twoObj">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1"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2"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3"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4"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5"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较" type="twoTxTwoObj">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8"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39"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0"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41"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2"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3"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4"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仅标题" type="titleOnly">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47"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9"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2"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3"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内容与标题" type="objTx">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6"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57"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58"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9"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0"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图片与标题" type="picTx">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3" name="Shape 25"/>
          <p:cNvSpPr>
            <a:spLocks noGrp="1"/>
          </p:cNvSpPr>
          <p:nvPr>
            <p:ph type="pic" idx="2"/>
          </p:nvPr>
        </p:nvSpPr>
        <p:spPr>
          <a:xfrm>
            <a:off x="3887391" y="740569"/>
            <a:ext cx="4629150" cy="3655219"/>
          </a:xfrm>
          <a:prstGeom prst="rect">
            <a:avLst/>
          </a:prstGeom>
          <a:noFill/>
          <a:ln>
            <a:noFill/>
          </a:ln>
        </p:spPr>
      </p:sp>
      <p:sp>
        <p:nvSpPr>
          <p:cNvPr id="64"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65"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6"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7"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标题和竖排文字" type="vertTx">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1"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2"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3"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竖排标题与文本" type="vertTitleAndTx">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6"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7"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8"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9"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a:buNone/>
              <a:defRPr sz="3300" b="0" i="0" u="none" strike="noStrike" cap="non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7"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8"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9"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10"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a:ea typeface="Arial"/>
                <a:cs typeface="Arial"/>
                <a:sym typeface="Arial"/>
              </a:defRPr>
            </a:lvl1pPr>
            <a:lvl2pPr marL="0" marR="0" lvl="1" indent="0" algn="r" rtl="0">
              <a:spcBef>
                <a:spcPts val="0"/>
              </a:spcBef>
              <a:buNone/>
              <a:defRPr sz="900" b="0" i="0" u="none" strike="noStrike" cap="none">
                <a:solidFill>
                  <a:srgbClr val="888888"/>
                </a:solidFill>
                <a:latin typeface="Arial"/>
                <a:ea typeface="Arial"/>
                <a:cs typeface="Arial"/>
                <a:sym typeface="Arial"/>
              </a:defRPr>
            </a:lvl2pPr>
            <a:lvl3pPr marL="0" marR="0" lvl="2" indent="0" algn="r" rtl="0">
              <a:spcBef>
                <a:spcPts val="0"/>
              </a:spcBef>
              <a:buNone/>
              <a:defRPr sz="900" b="0" i="0" u="none" strike="noStrike" cap="none">
                <a:solidFill>
                  <a:srgbClr val="888888"/>
                </a:solidFill>
                <a:latin typeface="Arial"/>
                <a:ea typeface="Arial"/>
                <a:cs typeface="Arial"/>
                <a:sym typeface="Arial"/>
              </a:defRPr>
            </a:lvl3pPr>
            <a:lvl4pPr marL="0" marR="0" lvl="3" indent="0" algn="r" rtl="0">
              <a:spcBef>
                <a:spcPts val="0"/>
              </a:spcBef>
              <a:buNone/>
              <a:defRPr sz="900" b="0" i="0" u="none" strike="noStrike" cap="none">
                <a:solidFill>
                  <a:srgbClr val="888888"/>
                </a:solidFill>
                <a:latin typeface="Arial"/>
                <a:ea typeface="Arial"/>
                <a:cs typeface="Arial"/>
                <a:sym typeface="Arial"/>
              </a:defRPr>
            </a:lvl4pPr>
            <a:lvl5pPr marL="0" marR="0" lvl="4" indent="0" algn="r" rtl="0">
              <a:spcBef>
                <a:spcPts val="0"/>
              </a:spcBef>
              <a:buNone/>
              <a:defRPr sz="900" b="0" i="0" u="none" strike="noStrike" cap="none">
                <a:solidFill>
                  <a:srgbClr val="888888"/>
                </a:solidFill>
                <a:latin typeface="Arial"/>
                <a:ea typeface="Arial"/>
                <a:cs typeface="Arial"/>
                <a:sym typeface="Arial"/>
              </a:defRPr>
            </a:lvl5pPr>
            <a:lvl6pPr marL="0" marR="0" lvl="5" indent="0" algn="r" rtl="0">
              <a:spcBef>
                <a:spcPts val="0"/>
              </a:spcBef>
              <a:buNone/>
              <a:defRPr sz="900" b="0" i="0" u="none" strike="noStrike" cap="none">
                <a:solidFill>
                  <a:srgbClr val="888888"/>
                </a:solidFill>
                <a:latin typeface="Arial"/>
                <a:ea typeface="Arial"/>
                <a:cs typeface="Arial"/>
                <a:sym typeface="Arial"/>
              </a:defRPr>
            </a:lvl6pPr>
            <a:lvl7pPr marL="0" marR="0" lvl="6" indent="0" algn="r" rtl="0">
              <a:spcBef>
                <a:spcPts val="0"/>
              </a:spcBef>
              <a:buNone/>
              <a:defRPr sz="900" b="0" i="0" u="none" strike="noStrike" cap="none">
                <a:solidFill>
                  <a:srgbClr val="888888"/>
                </a:solidFill>
                <a:latin typeface="Arial"/>
                <a:ea typeface="Arial"/>
                <a:cs typeface="Arial"/>
                <a:sym typeface="Arial"/>
              </a:defRPr>
            </a:lvl7pPr>
            <a:lvl8pPr marL="0" marR="0" lvl="7" indent="0" algn="r" rtl="0">
              <a:spcBef>
                <a:spcPts val="0"/>
              </a:spcBef>
              <a:buNone/>
              <a:defRPr sz="900" b="0" i="0" u="none" strike="noStrike" cap="none">
                <a:solidFill>
                  <a:srgbClr val="888888"/>
                </a:solidFill>
                <a:latin typeface="Arial"/>
                <a:ea typeface="Arial"/>
                <a:cs typeface="Arial"/>
                <a:sym typeface="Arial"/>
              </a:defRPr>
            </a:lvl8pPr>
            <a:lvl9pPr marL="0" marR="0" lvl="8" indent="0" algn="r" rtl="0">
              <a:spcBef>
                <a:spcPts val="0"/>
              </a:spcBef>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C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默认主题">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5748369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 Id="rId5" Type="http://schemas.openxmlformats.org/officeDocument/2006/relationships/image" Target="../media/image3.sv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4.jpeg"/><Relationship Id="rId7" Type="http://schemas.openxmlformats.org/officeDocument/2006/relationships/image" Target="../media/image8.svg"/><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4.jpeg"/><Relationship Id="rId7" Type="http://schemas.openxmlformats.org/officeDocument/2006/relationships/image" Target="../media/image13.svg"/><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image" Target="../media/image12.png"/><Relationship Id="rId5" Type="http://schemas.openxmlformats.org/officeDocument/2006/relationships/image" Target="../media/image11.svg"/><Relationship Id="rId4" Type="http://schemas.openxmlformats.org/officeDocument/2006/relationships/image" Target="../media/image10.png"/><Relationship Id="rId9" Type="http://schemas.openxmlformats.org/officeDocument/2006/relationships/image" Target="../media/image15.svg"/></Relationships>
</file>

<file path=ppt/slides/_rels/slide4.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4.jpeg"/><Relationship Id="rId7" Type="http://schemas.openxmlformats.org/officeDocument/2006/relationships/image" Target="../media/image19.svg"/><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image" Target="../media/image18.png"/><Relationship Id="rId5" Type="http://schemas.openxmlformats.org/officeDocument/2006/relationships/image" Target="../media/image17.svg"/><Relationship Id="rId4" Type="http://schemas.openxmlformats.org/officeDocument/2006/relationships/image" Target="../media/image16.png"/><Relationship Id="rId9" Type="http://schemas.openxmlformats.org/officeDocument/2006/relationships/image" Target="../media/image21.svg"/></Relationships>
</file>

<file path=ppt/slides/_rels/slide5.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4.jpeg"/><Relationship Id="rId7" Type="http://schemas.openxmlformats.org/officeDocument/2006/relationships/image" Target="../media/image13.sv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media/image12.png"/><Relationship Id="rId11" Type="http://schemas.openxmlformats.org/officeDocument/2006/relationships/image" Target="../media/image27.svg"/><Relationship Id="rId5" Type="http://schemas.openxmlformats.org/officeDocument/2006/relationships/image" Target="../media/image23.svg"/><Relationship Id="rId10" Type="http://schemas.openxmlformats.org/officeDocument/2006/relationships/image" Target="../media/image26.png"/><Relationship Id="rId4" Type="http://schemas.openxmlformats.org/officeDocument/2006/relationships/image" Target="../media/image22.png"/><Relationship Id="rId9" Type="http://schemas.openxmlformats.org/officeDocument/2006/relationships/image" Target="../media/image25.svg"/></Relationships>
</file>

<file path=ppt/slides/_rels/slide6.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4.jpeg"/><Relationship Id="rId7" Type="http://schemas.openxmlformats.org/officeDocument/2006/relationships/image" Target="../media/image31.svg"/><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openxmlformats.org/officeDocument/2006/relationships/image" Target="../media/image30.png"/><Relationship Id="rId11" Type="http://schemas.openxmlformats.org/officeDocument/2006/relationships/image" Target="../media/image35.svg"/><Relationship Id="rId5" Type="http://schemas.openxmlformats.org/officeDocument/2006/relationships/image" Target="../media/image29.svg"/><Relationship Id="rId10" Type="http://schemas.openxmlformats.org/officeDocument/2006/relationships/image" Target="../media/image34.png"/><Relationship Id="rId4" Type="http://schemas.openxmlformats.org/officeDocument/2006/relationships/image" Target="../media/image28.png"/><Relationship Id="rId9" Type="http://schemas.openxmlformats.org/officeDocument/2006/relationships/image" Target="../media/image33.svg"/></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7.xml"/><Relationship Id="rId1" Type="http://schemas.openxmlformats.org/officeDocument/2006/relationships/slideLayout" Target="../slideLayouts/slideLayout12.xml"/><Relationship Id="rId5" Type="http://schemas.openxmlformats.org/officeDocument/2006/relationships/image" Target="../media/image37.svg"/><Relationship Id="rId4" Type="http://schemas.openxmlformats.org/officeDocument/2006/relationships/image" Target="../media/image36.png"/></Relationships>
</file>

<file path=ppt/slides/_rels/slide8.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4.jpeg"/><Relationship Id="rId7" Type="http://schemas.openxmlformats.org/officeDocument/2006/relationships/image" Target="../media/image35.svg"/><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image" Target="../media/image34.png"/><Relationship Id="rId5" Type="http://schemas.openxmlformats.org/officeDocument/2006/relationships/image" Target="../media/image39.svg"/><Relationship Id="rId4" Type="http://schemas.openxmlformats.org/officeDocument/2006/relationships/image" Target="../media/image38.png"/><Relationship Id="rId9" Type="http://schemas.openxmlformats.org/officeDocument/2006/relationships/image" Target="../media/image19.svg"/></Relationships>
</file>

<file path=ppt/slides/_rels/slide9.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image" Target="../media/image4.jpeg"/><Relationship Id="rId7" Type="http://schemas.openxmlformats.org/officeDocument/2006/relationships/image" Target="../media/image43.svg"/><Relationship Id="rId2" Type="http://schemas.openxmlformats.org/officeDocument/2006/relationships/notesSlide" Target="../notesSlides/notesSlide9.xml"/><Relationship Id="rId1" Type="http://schemas.openxmlformats.org/officeDocument/2006/relationships/slideLayout" Target="../slideLayouts/slideLayout12.xml"/><Relationship Id="rId6" Type="http://schemas.openxmlformats.org/officeDocument/2006/relationships/image" Target="../media/image42.png"/><Relationship Id="rId5" Type="http://schemas.openxmlformats.org/officeDocument/2006/relationships/image" Target="../media/image41.svg"/><Relationship Id="rId4" Type="http://schemas.openxmlformats.org/officeDocument/2006/relationships/image" Target="../media/image40.png"/><Relationship Id="rId9" Type="http://schemas.openxmlformats.org/officeDocument/2006/relationships/image" Target="../media/image45.svg"/></Relationships>
</file>

<file path=ppt/slides/_rels/slide10.xml.rels><?xml version="1.0" encoding="UTF-8" standalone="yes"?>
<Relationships xmlns="http://schemas.openxmlformats.org/package/2006/relationships"><Relationship Id="rId8" Type="http://schemas.openxmlformats.org/officeDocument/2006/relationships/image" Target="../media/image50.svg"/><Relationship Id="rId13" Type="http://schemas.openxmlformats.org/officeDocument/2006/relationships/image" Target="../media/image20.png"/><Relationship Id="rId18" Type="http://schemas.openxmlformats.org/officeDocument/2006/relationships/image" Target="../media/image56.svg"/><Relationship Id="rId3" Type="http://schemas.openxmlformats.org/officeDocument/2006/relationships/image" Target="../media/image4.jpeg"/><Relationship Id="rId7" Type="http://schemas.openxmlformats.org/officeDocument/2006/relationships/image" Target="../media/image49.png"/><Relationship Id="rId12" Type="http://schemas.openxmlformats.org/officeDocument/2006/relationships/image" Target="../media/image54.svg"/><Relationship Id="rId17" Type="http://schemas.openxmlformats.org/officeDocument/2006/relationships/image" Target="../media/image55.png"/><Relationship Id="rId2" Type="http://schemas.openxmlformats.org/officeDocument/2006/relationships/notesSlide" Target="../notesSlides/notesSlide10.xml"/><Relationship Id="rId16" Type="http://schemas.openxmlformats.org/officeDocument/2006/relationships/image" Target="../media/image43.svg"/><Relationship Id="rId1" Type="http://schemas.openxmlformats.org/officeDocument/2006/relationships/slideLayout" Target="../slideLayouts/slideLayout12.xml"/><Relationship Id="rId6" Type="http://schemas.openxmlformats.org/officeDocument/2006/relationships/image" Target="../media/image48.svg"/><Relationship Id="rId11" Type="http://schemas.openxmlformats.org/officeDocument/2006/relationships/image" Target="../media/image53.png"/><Relationship Id="rId5" Type="http://schemas.openxmlformats.org/officeDocument/2006/relationships/image" Target="../media/image47.png"/><Relationship Id="rId15" Type="http://schemas.openxmlformats.org/officeDocument/2006/relationships/image" Target="../media/image42.png"/><Relationship Id="rId10" Type="http://schemas.openxmlformats.org/officeDocument/2006/relationships/image" Target="../media/image52.svg"/><Relationship Id="rId4" Type="http://schemas.openxmlformats.org/officeDocument/2006/relationships/image" Target="../media/image46.jpeg"/><Relationship Id="rId9" Type="http://schemas.openxmlformats.org/officeDocument/2006/relationships/image" Target="../media/image51.png"/><Relationship Id="rId14" Type="http://schemas.openxmlformats.org/officeDocument/2006/relationships/image" Target="../media/image21.svg"/></Relationships>
</file>

<file path=ppt/slides/_rels/slide1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1.xml"/><Relationship Id="rId1" Type="http://schemas.openxmlformats.org/officeDocument/2006/relationships/slideLayout" Target="../slideLayouts/slideLayout12.xml"/><Relationship Id="rId6" Type="http://schemas.openxmlformats.org/officeDocument/2006/relationships/image" Target="../media/image59.svg"/><Relationship Id="rId5" Type="http://schemas.openxmlformats.org/officeDocument/2006/relationships/image" Target="../media/image58.png"/><Relationship Id="rId4" Type="http://schemas.openxmlformats.org/officeDocument/2006/relationships/image" Target="../media/image57.jpeg"/></Relationships>
</file>

<file path=ppt/slides/_rels/slide12.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4.jpeg"/><Relationship Id="rId7" Type="http://schemas.openxmlformats.org/officeDocument/2006/relationships/image" Target="../media/image33.svg"/><Relationship Id="rId2" Type="http://schemas.openxmlformats.org/officeDocument/2006/relationships/notesSlide" Target="../notesSlides/notesSlide12.xml"/><Relationship Id="rId1" Type="http://schemas.openxmlformats.org/officeDocument/2006/relationships/slideLayout" Target="../slideLayouts/slideLayout12.xml"/><Relationship Id="rId6" Type="http://schemas.openxmlformats.org/officeDocument/2006/relationships/image" Target="../media/image32.png"/><Relationship Id="rId11" Type="http://schemas.openxmlformats.org/officeDocument/2006/relationships/image" Target="../media/image63.svg"/><Relationship Id="rId5" Type="http://schemas.openxmlformats.org/officeDocument/2006/relationships/image" Target="../media/image61.svg"/><Relationship Id="rId10" Type="http://schemas.openxmlformats.org/officeDocument/2006/relationships/image" Target="../media/image62.png"/><Relationship Id="rId4" Type="http://schemas.openxmlformats.org/officeDocument/2006/relationships/image" Target="../media/image60.png"/><Relationship Id="rId9" Type="http://schemas.openxmlformats.org/officeDocument/2006/relationships/image" Target="../media/image13.svg"/></Relationships>
</file>

<file path=ppt/slides/_rels/slide13.xml.rels><?xml version="1.0" encoding="UTF-8" standalone="yes"?>
<Relationships xmlns="http://schemas.openxmlformats.org/package/2006/relationships"><Relationship Id="rId8" Type="http://schemas.openxmlformats.org/officeDocument/2006/relationships/image" Target="../media/image68.png"/><Relationship Id="rId3" Type="http://schemas.openxmlformats.org/officeDocument/2006/relationships/image" Target="../media/image4.jpeg"/><Relationship Id="rId7" Type="http://schemas.openxmlformats.org/officeDocument/2006/relationships/image" Target="../media/image67.svg"/><Relationship Id="rId2" Type="http://schemas.openxmlformats.org/officeDocument/2006/relationships/notesSlide" Target="../notesSlides/notesSlide13.xml"/><Relationship Id="rId1" Type="http://schemas.openxmlformats.org/officeDocument/2006/relationships/slideLayout" Target="../slideLayouts/slideLayout12.xml"/><Relationship Id="rId6" Type="http://schemas.openxmlformats.org/officeDocument/2006/relationships/image" Target="../media/image66.png"/><Relationship Id="rId11" Type="http://schemas.openxmlformats.org/officeDocument/2006/relationships/image" Target="../media/image71.svg"/><Relationship Id="rId5" Type="http://schemas.openxmlformats.org/officeDocument/2006/relationships/image" Target="../media/image65.svg"/><Relationship Id="rId10" Type="http://schemas.openxmlformats.org/officeDocument/2006/relationships/image" Target="../media/image70.png"/><Relationship Id="rId4" Type="http://schemas.openxmlformats.org/officeDocument/2006/relationships/image" Target="../media/image64.png"/><Relationship Id="rId9" Type="http://schemas.openxmlformats.org/officeDocument/2006/relationships/image" Target="../media/image69.svg"/></Relationships>
</file>

<file path=ppt/slides/_rels/slide14.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4.jpeg"/><Relationship Id="rId7" Type="http://schemas.openxmlformats.org/officeDocument/2006/relationships/image" Target="../media/image43.svg"/><Relationship Id="rId2" Type="http://schemas.openxmlformats.org/officeDocument/2006/relationships/notesSlide" Target="../notesSlides/notesSlide14.xml"/><Relationship Id="rId1" Type="http://schemas.openxmlformats.org/officeDocument/2006/relationships/slideLayout" Target="../slideLayouts/slideLayout12.xml"/><Relationship Id="rId6" Type="http://schemas.openxmlformats.org/officeDocument/2006/relationships/image" Target="../media/image42.png"/><Relationship Id="rId5" Type="http://schemas.openxmlformats.org/officeDocument/2006/relationships/image" Target="../media/image73.svg"/><Relationship Id="rId4" Type="http://schemas.openxmlformats.org/officeDocument/2006/relationships/image" Target="../media/image72.png"/><Relationship Id="rId9" Type="http://schemas.openxmlformats.org/officeDocument/2006/relationships/image" Target="../media/image31.svg"/></Relationships>
</file>

<file path=ppt/slides/_rels/slide1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5.xml"/><Relationship Id="rId1" Type="http://schemas.openxmlformats.org/officeDocument/2006/relationships/slideLayout" Target="../slideLayouts/slideLayout12.xml"/><Relationship Id="rId5" Type="http://schemas.openxmlformats.org/officeDocument/2006/relationships/image" Target="../media/image35.svg"/><Relationship Id="rId4" Type="http://schemas.openxmlformats.org/officeDocument/2006/relationships/image" Target="../media/image34.png"/></Relationships>
</file>

<file path=ppt/slides/_rels/slide16.xml.rels><?xml version="1.0" encoding="UTF-8" standalone="yes"?>
<Relationships xmlns="http://schemas.openxmlformats.org/package/2006/relationships"><Relationship Id="rId8" Type="http://schemas.openxmlformats.org/officeDocument/2006/relationships/image" Target="../media/image78.svg"/><Relationship Id="rId3" Type="http://schemas.openxmlformats.org/officeDocument/2006/relationships/image" Target="../media/image4.jpeg"/><Relationship Id="rId7" Type="http://schemas.openxmlformats.org/officeDocument/2006/relationships/image" Target="../media/image77.png"/><Relationship Id="rId2" Type="http://schemas.openxmlformats.org/officeDocument/2006/relationships/notesSlide" Target="../notesSlides/notesSlide16.xml"/><Relationship Id="rId1" Type="http://schemas.openxmlformats.org/officeDocument/2006/relationships/slideLayout" Target="../slideLayouts/slideLayout12.xml"/><Relationship Id="rId6" Type="http://schemas.openxmlformats.org/officeDocument/2006/relationships/image" Target="../media/image76.svg"/><Relationship Id="rId5" Type="http://schemas.openxmlformats.org/officeDocument/2006/relationships/image" Target="../media/image75.png"/><Relationship Id="rId10" Type="http://schemas.openxmlformats.org/officeDocument/2006/relationships/image" Target="../media/image80.svg"/><Relationship Id="rId4" Type="http://schemas.openxmlformats.org/officeDocument/2006/relationships/image" Target="../media/image74.jpeg"/><Relationship Id="rId9" Type="http://schemas.openxmlformats.org/officeDocument/2006/relationships/image" Target="../media/image79.png"/></Relationships>
</file>

<file path=ppt/slides/_rels/slide17.xml.rels><?xml version="1.0" encoding="UTF-8" standalone="yes"?>
<Relationships xmlns="http://schemas.openxmlformats.org/package/2006/relationships"><Relationship Id="rId8" Type="http://schemas.openxmlformats.org/officeDocument/2006/relationships/image" Target="../media/image83.png"/><Relationship Id="rId3" Type="http://schemas.openxmlformats.org/officeDocument/2006/relationships/image" Target="../media/image4.jpeg"/><Relationship Id="rId7" Type="http://schemas.openxmlformats.org/officeDocument/2006/relationships/image" Target="../media/image82.svg"/><Relationship Id="rId2" Type="http://schemas.openxmlformats.org/officeDocument/2006/relationships/notesSlide" Target="../notesSlides/notesSlide17.xml"/><Relationship Id="rId1" Type="http://schemas.openxmlformats.org/officeDocument/2006/relationships/slideLayout" Target="../slideLayouts/slideLayout12.xml"/><Relationship Id="rId6" Type="http://schemas.openxmlformats.org/officeDocument/2006/relationships/image" Target="../media/image81.png"/><Relationship Id="rId11" Type="http://schemas.openxmlformats.org/officeDocument/2006/relationships/image" Target="../media/image23.svg"/><Relationship Id="rId5" Type="http://schemas.openxmlformats.org/officeDocument/2006/relationships/image" Target="../media/image21.svg"/><Relationship Id="rId10" Type="http://schemas.openxmlformats.org/officeDocument/2006/relationships/image" Target="../media/image22.png"/><Relationship Id="rId4" Type="http://schemas.openxmlformats.org/officeDocument/2006/relationships/image" Target="../media/image20.png"/><Relationship Id="rId9" Type="http://schemas.openxmlformats.org/officeDocument/2006/relationships/image" Target="../media/image84.svg"/></Relationships>
</file>

<file path=ppt/slides/_rels/slide18.xml.rels><?xml version="1.0" encoding="UTF-8" standalone="yes"?>
<Relationships xmlns="http://schemas.openxmlformats.org/package/2006/relationships"><Relationship Id="rId8" Type="http://schemas.openxmlformats.org/officeDocument/2006/relationships/image" Target="../media/image87.png"/><Relationship Id="rId3" Type="http://schemas.openxmlformats.org/officeDocument/2006/relationships/image" Target="../media/image4.jpeg"/><Relationship Id="rId7" Type="http://schemas.openxmlformats.org/officeDocument/2006/relationships/image" Target="../media/image17.svg"/><Relationship Id="rId2" Type="http://schemas.openxmlformats.org/officeDocument/2006/relationships/notesSlide" Target="../notesSlides/notesSlide18.xml"/><Relationship Id="rId1" Type="http://schemas.openxmlformats.org/officeDocument/2006/relationships/slideLayout" Target="../slideLayouts/slideLayout12.xml"/><Relationship Id="rId6" Type="http://schemas.openxmlformats.org/officeDocument/2006/relationships/image" Target="../media/image16.png"/><Relationship Id="rId11" Type="http://schemas.openxmlformats.org/officeDocument/2006/relationships/image" Target="../media/image73.svg"/><Relationship Id="rId5" Type="http://schemas.openxmlformats.org/officeDocument/2006/relationships/image" Target="../media/image86.svg"/><Relationship Id="rId10" Type="http://schemas.openxmlformats.org/officeDocument/2006/relationships/image" Target="../media/image72.png"/><Relationship Id="rId4" Type="http://schemas.openxmlformats.org/officeDocument/2006/relationships/image" Target="../media/image85.png"/><Relationship Id="rId9" Type="http://schemas.openxmlformats.org/officeDocument/2006/relationships/image" Target="../media/image88.svg"/></Relationships>
</file>

<file path=ppt/slides/_rels/slide1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9.xml"/><Relationship Id="rId1" Type="http://schemas.openxmlformats.org/officeDocument/2006/relationships/slideLayout" Target="../slideLayouts/slideLayout12.xml"/><Relationship Id="rId5" Type="http://schemas.openxmlformats.org/officeDocument/2006/relationships/image" Target="../media/image19.svg"/><Relationship Id="rId4" Type="http://schemas.openxmlformats.org/officeDocument/2006/relationships/image" Target="../media/image18.png"/></Relationships>
</file>

<file path=ppt/slides/_rels/slide20.xml.rels><?xml version="1.0" encoding="UTF-8" standalone="yes"?>
<Relationships xmlns="http://schemas.openxmlformats.org/package/2006/relationships"><Relationship Id="rId8" Type="http://schemas.openxmlformats.org/officeDocument/2006/relationships/image" Target="../media/image91.svg"/><Relationship Id="rId3" Type="http://schemas.openxmlformats.org/officeDocument/2006/relationships/image" Target="../media/image4.jpeg"/><Relationship Id="rId7" Type="http://schemas.openxmlformats.org/officeDocument/2006/relationships/image" Target="../media/image90.png"/><Relationship Id="rId2" Type="http://schemas.openxmlformats.org/officeDocument/2006/relationships/notesSlide" Target="../notesSlides/notesSlide20.xml"/><Relationship Id="rId1" Type="http://schemas.openxmlformats.org/officeDocument/2006/relationships/slideLayout" Target="../slideLayouts/slideLayout12.xml"/><Relationship Id="rId6" Type="http://schemas.openxmlformats.org/officeDocument/2006/relationships/image" Target="../media/image89.png"/><Relationship Id="rId5" Type="http://schemas.openxmlformats.org/officeDocument/2006/relationships/image" Target="../media/image31.svg"/><Relationship Id="rId4" Type="http://schemas.openxmlformats.org/officeDocument/2006/relationships/image" Target="../media/image30.png"/></Relationships>
</file>

<file path=ppt/slides/_rels/slide2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1.xml"/><Relationship Id="rId1" Type="http://schemas.openxmlformats.org/officeDocument/2006/relationships/slideLayout" Target="../slideLayouts/slideLayout12.xml"/><Relationship Id="rId6" Type="http://schemas.openxmlformats.org/officeDocument/2006/relationships/image" Target="../media/image94.jpeg"/><Relationship Id="rId5" Type="http://schemas.openxmlformats.org/officeDocument/2006/relationships/image" Target="../media/image93.svg"/><Relationship Id="rId4" Type="http://schemas.openxmlformats.org/officeDocument/2006/relationships/image" Target="../media/image92.png"/></Relationships>
</file>

<file path=ppt/slides/_rels/slide2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2.xml"/><Relationship Id="rId1" Type="http://schemas.openxmlformats.org/officeDocument/2006/relationships/slideLayout" Target="../slideLayouts/slideLayout12.xml"/><Relationship Id="rId4" Type="http://schemas.openxmlformats.org/officeDocument/2006/relationships/image" Target="../media/image95.jpeg"/></Relationships>
</file>

<file path=ppt/slides/_rels/slide23.xml.rels><?xml version="1.0" encoding="UTF-8" standalone="yes"?>
<Relationships xmlns="http://schemas.openxmlformats.org/package/2006/relationships"><Relationship Id="rId3" Type="http://schemas.openxmlformats.org/officeDocument/2006/relationships/image" Target="../media/image4.jpeg"/><Relationship Id="rId7" Type="http://schemas.openxmlformats.org/officeDocument/2006/relationships/image" Target="../media/image99.svg"/><Relationship Id="rId2" Type="http://schemas.openxmlformats.org/officeDocument/2006/relationships/notesSlide" Target="../notesSlides/notesSlide23.xml"/><Relationship Id="rId1" Type="http://schemas.openxmlformats.org/officeDocument/2006/relationships/slideLayout" Target="../slideLayouts/slideLayout12.xml"/><Relationship Id="rId6" Type="http://schemas.openxmlformats.org/officeDocument/2006/relationships/image" Target="../media/image98.png"/><Relationship Id="rId5" Type="http://schemas.openxmlformats.org/officeDocument/2006/relationships/image" Target="../media/image97.svg"/><Relationship Id="rId4" Type="http://schemas.openxmlformats.org/officeDocument/2006/relationships/image" Target="../media/image96.png"/></Relationships>
</file>

<file path=ppt/slides/_rels/slide2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4.xml"/><Relationship Id="rId1" Type="http://schemas.openxmlformats.org/officeDocument/2006/relationships/slideLayout" Target="../slideLayouts/slideLayout12.xml"/><Relationship Id="rId6" Type="http://schemas.openxmlformats.org/officeDocument/2006/relationships/image" Target="../media/image102.svg"/><Relationship Id="rId5" Type="http://schemas.openxmlformats.org/officeDocument/2006/relationships/image" Target="../media/image101.png"/><Relationship Id="rId4" Type="http://schemas.openxmlformats.org/officeDocument/2006/relationships/image" Target="../media/image100.jpeg"/></Relationships>
</file>

<file path=ppt/slides/_rels/slide25.xml.rels><?xml version="1.0" encoding="UTF-8" standalone="yes"?>
<Relationships xmlns="http://schemas.openxmlformats.org/package/2006/relationships"><Relationship Id="rId3" Type="http://schemas.openxmlformats.org/officeDocument/2006/relationships/image" Target="../media/image4.jpeg"/><Relationship Id="rId7" Type="http://schemas.openxmlformats.org/officeDocument/2006/relationships/image" Target="../media/image93.svg"/><Relationship Id="rId2" Type="http://schemas.openxmlformats.org/officeDocument/2006/relationships/notesSlide" Target="../notesSlides/notesSlide25.xml"/><Relationship Id="rId1" Type="http://schemas.openxmlformats.org/officeDocument/2006/relationships/slideLayout" Target="../slideLayouts/slideLayout12.xml"/><Relationship Id="rId6" Type="http://schemas.openxmlformats.org/officeDocument/2006/relationships/image" Target="../media/image92.png"/><Relationship Id="rId5" Type="http://schemas.openxmlformats.org/officeDocument/2006/relationships/image" Target="../media/image104.svg"/><Relationship Id="rId4" Type="http://schemas.openxmlformats.org/officeDocument/2006/relationships/image" Target="../media/image103.png"/></Relationships>
</file>

<file path=ppt/slides/_rels/slide2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6.xml"/><Relationship Id="rId1" Type="http://schemas.openxmlformats.org/officeDocument/2006/relationships/slideLayout" Target="../slideLayouts/slideLayout12.xml"/><Relationship Id="rId6" Type="http://schemas.openxmlformats.org/officeDocument/2006/relationships/image" Target="../media/image107.svg"/><Relationship Id="rId5" Type="http://schemas.openxmlformats.org/officeDocument/2006/relationships/image" Target="../media/image106.png"/><Relationship Id="rId4" Type="http://schemas.openxmlformats.org/officeDocument/2006/relationships/image" Target="../media/image105.jpeg"/></Relationships>
</file>

<file path=ppt/slides/_rels/slide27.xml.rels><?xml version="1.0" encoding="UTF-8" standalone="yes"?>
<Relationships xmlns="http://schemas.openxmlformats.org/package/2006/relationships"><Relationship Id="rId8" Type="http://schemas.openxmlformats.org/officeDocument/2006/relationships/image" Target="../media/image108.png"/><Relationship Id="rId3" Type="http://schemas.openxmlformats.org/officeDocument/2006/relationships/image" Target="../media/image4.jpeg"/><Relationship Id="rId7" Type="http://schemas.openxmlformats.org/officeDocument/2006/relationships/image" Target="../media/image43.svg"/><Relationship Id="rId2" Type="http://schemas.openxmlformats.org/officeDocument/2006/relationships/notesSlide" Target="../notesSlides/notesSlide27.xml"/><Relationship Id="rId1" Type="http://schemas.openxmlformats.org/officeDocument/2006/relationships/slideLayout" Target="../slideLayouts/slideLayout12.xml"/><Relationship Id="rId6" Type="http://schemas.openxmlformats.org/officeDocument/2006/relationships/image" Target="../media/image42.png"/><Relationship Id="rId5" Type="http://schemas.openxmlformats.org/officeDocument/2006/relationships/image" Target="../media/image25.svg"/><Relationship Id="rId4" Type="http://schemas.openxmlformats.org/officeDocument/2006/relationships/image" Target="../media/image24.png"/><Relationship Id="rId9" Type="http://schemas.openxmlformats.org/officeDocument/2006/relationships/image" Target="../media/image109.svg"/></Relationships>
</file>

<file path=ppt/slides/_rels/slide2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8" Type="http://schemas.openxmlformats.org/officeDocument/2006/relationships/image" Target="../media/image77.png"/><Relationship Id="rId3" Type="http://schemas.openxmlformats.org/officeDocument/2006/relationships/image" Target="../media/image4.jpeg"/><Relationship Id="rId7" Type="http://schemas.openxmlformats.org/officeDocument/2006/relationships/image" Target="../media/image6.svg"/><Relationship Id="rId2" Type="http://schemas.openxmlformats.org/officeDocument/2006/relationships/notesSlide" Target="../notesSlides/notesSlide29.xml"/><Relationship Id="rId1" Type="http://schemas.openxmlformats.org/officeDocument/2006/relationships/slideLayout" Target="../slideLayouts/slideLayout12.xml"/><Relationship Id="rId6" Type="http://schemas.openxmlformats.org/officeDocument/2006/relationships/image" Target="../media/image5.png"/><Relationship Id="rId5" Type="http://schemas.openxmlformats.org/officeDocument/2006/relationships/image" Target="../media/image63.svg"/><Relationship Id="rId4" Type="http://schemas.openxmlformats.org/officeDocument/2006/relationships/image" Target="../media/image62.png"/><Relationship Id="rId9" Type="http://schemas.openxmlformats.org/officeDocument/2006/relationships/image" Target="../media/image78.svg"/></Relationships>
</file>

<file path=ppt/slides/_rels/slide30.xml.rels><?xml version="1.0" encoding="UTF-8" standalone="yes"?>
<Relationships xmlns="http://schemas.openxmlformats.org/package/2006/relationships"><Relationship Id="rId8" Type="http://schemas.openxmlformats.org/officeDocument/2006/relationships/image" Target="../media/image112.png"/><Relationship Id="rId13" Type="http://schemas.openxmlformats.org/officeDocument/2006/relationships/image" Target="../media/image117.svg"/><Relationship Id="rId3" Type="http://schemas.openxmlformats.org/officeDocument/2006/relationships/image" Target="../media/image4.jpeg"/><Relationship Id="rId7" Type="http://schemas.openxmlformats.org/officeDocument/2006/relationships/image" Target="../media/image111.svg"/><Relationship Id="rId12" Type="http://schemas.openxmlformats.org/officeDocument/2006/relationships/image" Target="../media/image116.png"/><Relationship Id="rId17" Type="http://schemas.openxmlformats.org/officeDocument/2006/relationships/image" Target="../media/image121.svg"/><Relationship Id="rId2" Type="http://schemas.openxmlformats.org/officeDocument/2006/relationships/notesSlide" Target="../notesSlides/notesSlide30.xml"/><Relationship Id="rId16" Type="http://schemas.openxmlformats.org/officeDocument/2006/relationships/image" Target="../media/image120.png"/><Relationship Id="rId1" Type="http://schemas.openxmlformats.org/officeDocument/2006/relationships/slideLayout" Target="../slideLayouts/slideLayout12.xml"/><Relationship Id="rId6" Type="http://schemas.openxmlformats.org/officeDocument/2006/relationships/image" Target="../media/image110.png"/><Relationship Id="rId11" Type="http://schemas.openxmlformats.org/officeDocument/2006/relationships/image" Target="../media/image115.svg"/><Relationship Id="rId5" Type="http://schemas.openxmlformats.org/officeDocument/2006/relationships/image" Target="../media/image35.svg"/><Relationship Id="rId15" Type="http://schemas.openxmlformats.org/officeDocument/2006/relationships/image" Target="../media/image119.svg"/><Relationship Id="rId10" Type="http://schemas.openxmlformats.org/officeDocument/2006/relationships/image" Target="../media/image114.png"/><Relationship Id="rId4" Type="http://schemas.openxmlformats.org/officeDocument/2006/relationships/image" Target="../media/image34.png"/><Relationship Id="rId9" Type="http://schemas.openxmlformats.org/officeDocument/2006/relationships/image" Target="../media/image113.svg"/><Relationship Id="rId14" Type="http://schemas.openxmlformats.org/officeDocument/2006/relationships/image" Target="../media/image118.png"/></Relationships>
</file>

<file path=ppt/slides/_rels/slide31.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125.svg"/><Relationship Id="rId2" Type="http://schemas.openxmlformats.org/officeDocument/2006/relationships/notesSlide" Target="../notesSlides/notesSlide31.xml"/><Relationship Id="rId1" Type="http://schemas.openxmlformats.org/officeDocument/2006/relationships/slideLayout" Target="../slideLayouts/slideLayout12.xml"/><Relationship Id="rId6" Type="http://schemas.openxmlformats.org/officeDocument/2006/relationships/image" Target="../media/image124.png"/><Relationship Id="rId5" Type="http://schemas.openxmlformats.org/officeDocument/2006/relationships/image" Target="../media/image123.svg"/><Relationship Id="rId4" Type="http://schemas.openxmlformats.org/officeDocument/2006/relationships/image" Target="../media/image12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1" y="-50800"/>
            <a:ext cx="12192000" cy="6858000"/>
          </a:xfrm>
          <a:prstGeom prst="roundRect">
            <a:avLst>
              <a:gd name="adj" fmla="val 0"/>
            </a:avLst>
          </a:prstGeom>
          <a:solidFill>
            <a:srgbClr val="0D6EFD">
              <a:alpha val="85000"/>
            </a:srgbClr>
          </a:solidFill>
          <a:ln w="25400" cap="flat" cmpd="sng">
            <a:noFill/>
            <a:prstDash val="solid"/>
            <a:round/>
          </a:ln>
        </p:spPr>
        <p:txBody>
          <a:bodyPr vert="horz" wrap="square" lIns="63500" tIns="63500" rIns="63500" bIns="63500" rtlCol="0" anchor="ctr"/>
          <a:lstStyle/>
          <a:p>
            <a:pPr algn="ctr">
              <a:defRPr/>
            </a:pPr>
            <a:endParaRPr/>
          </a:p>
        </p:txBody>
      </p:sp>
      <p:pic>
        <p:nvPicPr>
          <p:cNvPr id="4" name="Picture 4"/>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791200" y="762000"/>
            <a:ext cx="609600" cy="609600"/>
          </a:xfrm>
          <a:prstGeom prst="rect">
            <a:avLst/>
          </a:prstGeom>
        </p:spPr>
      </p:pic>
      <p:sp>
        <p:nvSpPr>
          <p:cNvPr id="5" name="AutoShape 5"/>
          <p:cNvSpPr/>
          <p:nvPr/>
        </p:nvSpPr>
        <p:spPr>
          <a:xfrm>
            <a:off x="422563" y="1524000"/>
            <a:ext cx="11346873" cy="1143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200" b="1" i="0" u="none" strike="noStrike" dirty="0" err="1">
                <a:solidFill>
                  <a:srgbClr val="FFFFFF"/>
                </a:solidFill>
                <a:latin typeface="Noto Sans SC"/>
                <a:ea typeface="Noto Sans SC"/>
                <a:cs typeface="Noto Sans SC"/>
                <a:sym typeface="Noto Sans SC"/>
              </a:rPr>
              <a:t>OKR最优方案计算工具</a:t>
            </a:r>
            <a:r>
              <a:rPr lang="en-US" sz="3200" b="1" i="0" u="none" strike="noStrike" dirty="0">
                <a:solidFill>
                  <a:srgbClr val="FFFFFF"/>
                </a:solidFill>
                <a:latin typeface="Noto Sans SC"/>
                <a:ea typeface="Noto Sans SC"/>
                <a:cs typeface="Noto Sans SC"/>
                <a:sym typeface="Noto Sans SC"/>
              </a:rPr>
              <a:t>—</a:t>
            </a:r>
            <a:r>
              <a:rPr lang="en-US" sz="3200" b="1" i="0" u="none" strike="noStrike" dirty="0" err="1">
                <a:solidFill>
                  <a:srgbClr val="FFFFFF"/>
                </a:solidFill>
                <a:latin typeface="Noto Sans SC"/>
                <a:ea typeface="Noto Sans SC"/>
                <a:cs typeface="Noto Sans SC"/>
                <a:sym typeface="Noto Sans SC"/>
              </a:rPr>
              <a:t>基于层次分析法的多准则决策支持系统</a:t>
            </a:r>
            <a:endParaRPr lang="en-US" sz="1100" dirty="0"/>
          </a:p>
        </p:txBody>
      </p:sp>
      <p:sp>
        <p:nvSpPr>
          <p:cNvPr id="6" name="AutoShape 6"/>
          <p:cNvSpPr/>
          <p:nvPr/>
        </p:nvSpPr>
        <p:spPr>
          <a:xfrm>
            <a:off x="609600" y="2794000"/>
            <a:ext cx="109728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0" i="0" u="none" strike="noStrike">
                <a:solidFill>
                  <a:srgbClr val="FFFFFF">
                    <a:alpha val="80000"/>
                  </a:srgbClr>
                </a:solidFill>
                <a:latin typeface="Arial"/>
                <a:ea typeface="Arial"/>
                <a:cs typeface="Arial"/>
                <a:sym typeface="Arial"/>
              </a:rPr>
              <a:t>AHP-based Multi-Criteria Decision Support System for OKR Optimization</a:t>
            </a:r>
            <a:endParaRPr lang="en-US" sz="1100"/>
          </a:p>
        </p:txBody>
      </p:sp>
      <p:cxnSp>
        <p:nvCxnSpPr>
          <p:cNvPr id="7" name="Connector 7"/>
          <p:cNvCxnSpPr/>
          <p:nvPr/>
        </p:nvCxnSpPr>
        <p:spPr>
          <a:xfrm rot="-34376">
            <a:off x="5461032" y="3549650"/>
            <a:ext cx="1270000" cy="12700"/>
          </a:xfrm>
          <a:prstGeom prst="line">
            <a:avLst/>
          </a:prstGeom>
          <a:solidFill>
            <a:srgbClr val="DEE0E3">
              <a:alpha val="100000"/>
            </a:srgbClr>
          </a:solidFill>
          <a:ln w="12700" cap="flat" cmpd="sng">
            <a:solidFill>
              <a:srgbClr val="FFFFFF">
                <a:alpha val="50000"/>
              </a:srgbClr>
            </a:solidFill>
            <a:prstDash val="solid"/>
            <a:round/>
            <a:headEnd type="none" w="med" len="med"/>
            <a:tailEnd type="none" w="med" len="med"/>
          </a:ln>
        </p:spPr>
      </p:cxnSp>
      <p:sp>
        <p:nvSpPr>
          <p:cNvPr id="8" name="AutoShape 8"/>
          <p:cNvSpPr/>
          <p:nvPr/>
        </p:nvSpPr>
        <p:spPr>
          <a:xfrm>
            <a:off x="609600" y="3937000"/>
            <a:ext cx="109728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0" i="0" u="none" strike="noStrike" dirty="0" err="1">
                <a:solidFill>
                  <a:srgbClr val="FFFFFF"/>
                </a:solidFill>
                <a:latin typeface="Noto Sans SC"/>
                <a:ea typeface="Noto Sans SC"/>
                <a:cs typeface="Noto Sans SC"/>
                <a:sym typeface="Noto Sans SC"/>
              </a:rPr>
              <a:t>汇报人：于硕</a:t>
            </a:r>
            <a:endParaRPr lang="en-US" sz="1100" dirty="0"/>
          </a:p>
        </p:txBody>
      </p:sp>
      <p:sp>
        <p:nvSpPr>
          <p:cNvPr id="10" name="AutoShape 10"/>
          <p:cNvSpPr/>
          <p:nvPr/>
        </p:nvSpPr>
        <p:spPr>
          <a:xfrm>
            <a:off x="0" y="6807200"/>
            <a:ext cx="12192000" cy="508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FFFFFF">
              <a:alpha val="9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508000"/>
            <a:ext cx="90551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0D6EFD"/>
                </a:solidFill>
                <a:latin typeface="Noto Sans SC"/>
                <a:ea typeface="Noto Sans SC"/>
                <a:cs typeface="Noto Sans SC"/>
                <a:sym typeface="Noto Sans SC"/>
              </a:rPr>
              <a:t>研究背景：OKR管理方法的兴起与挑战</a:t>
            </a:r>
            <a:endParaRPr lang="en-US" sz="1100"/>
          </a:p>
        </p:txBody>
      </p:sp>
      <p:sp>
        <p:nvSpPr>
          <p:cNvPr id="5" name="AutoShape 5"/>
          <p:cNvSpPr/>
          <p:nvPr/>
        </p:nvSpPr>
        <p:spPr>
          <a:xfrm>
            <a:off x="762000" y="1397000"/>
            <a:ext cx="5334000" cy="1143000"/>
          </a:xfrm>
          <a:prstGeom prst="roundRect">
            <a:avLst>
              <a:gd name="adj" fmla="val 11111"/>
            </a:avLst>
          </a:prstGeom>
          <a:solidFill>
            <a:srgbClr val="EFF6FF">
              <a:alpha val="100000"/>
            </a:srgbClr>
          </a:solidFill>
          <a:ln w="12700" cap="flat" cmpd="sng">
            <a:solidFill>
              <a:srgbClr val="BFDBFE">
                <a:alpha val="100000"/>
              </a:srgbClr>
            </a:solid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52500" y="1587500"/>
            <a:ext cx="406400" cy="406400"/>
          </a:xfrm>
          <a:prstGeom prst="rect">
            <a:avLst/>
          </a:prstGeom>
        </p:spPr>
      </p:pic>
      <p:sp>
        <p:nvSpPr>
          <p:cNvPr id="7" name="AutoShape 7"/>
          <p:cNvSpPr/>
          <p:nvPr/>
        </p:nvSpPr>
        <p:spPr>
          <a:xfrm>
            <a:off x="1460500" y="1549400"/>
            <a:ext cx="4445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329"/>
                </a:solidFill>
                <a:latin typeface="Noto Sans SC"/>
                <a:ea typeface="Noto Sans SC"/>
                <a:cs typeface="Noto Sans SC"/>
                <a:sym typeface="Noto Sans SC"/>
              </a:rPr>
              <a:t>应用现状与普及</a:t>
            </a:r>
            <a:endParaRPr lang="en-US" sz="1100"/>
          </a:p>
        </p:txBody>
      </p:sp>
      <p:sp>
        <p:nvSpPr>
          <p:cNvPr id="8" name="AutoShape 8"/>
          <p:cNvSpPr/>
          <p:nvPr/>
        </p:nvSpPr>
        <p:spPr>
          <a:xfrm>
            <a:off x="1460500" y="1905000"/>
            <a:ext cx="4445000"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400" b="0" i="0" u="none" strike="noStrike">
                <a:solidFill>
                  <a:srgbClr val="4B5563"/>
                </a:solidFill>
                <a:latin typeface="Noto Sans SC"/>
                <a:ea typeface="Noto Sans SC"/>
                <a:cs typeface="Noto Sans SC"/>
                <a:sym typeface="Noto Sans SC"/>
              </a:rPr>
              <a:t>OKR已在Google、Intel等科技巨头广泛应用，其高效的目标管理特性推动了全球企业的实践浪潮。</a:t>
            </a:r>
            <a:endParaRPr lang="en-US" sz="1100"/>
          </a:p>
        </p:txBody>
      </p:sp>
      <p:sp>
        <p:nvSpPr>
          <p:cNvPr id="9" name="AutoShape 9"/>
          <p:cNvSpPr/>
          <p:nvPr/>
        </p:nvSpPr>
        <p:spPr>
          <a:xfrm>
            <a:off x="762000" y="2794000"/>
            <a:ext cx="5334000" cy="2286000"/>
          </a:xfrm>
          <a:prstGeom prst="roundRect">
            <a:avLst>
              <a:gd name="adj" fmla="val 5555"/>
            </a:avLst>
          </a:prstGeom>
          <a:solidFill>
            <a:srgbClr val="F8F9FA">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52500" y="2984500"/>
            <a:ext cx="406400" cy="406400"/>
          </a:xfrm>
          <a:prstGeom prst="rect">
            <a:avLst/>
          </a:prstGeom>
        </p:spPr>
      </p:pic>
      <p:sp>
        <p:nvSpPr>
          <p:cNvPr id="11" name="AutoShape 11"/>
          <p:cNvSpPr/>
          <p:nvPr/>
        </p:nvSpPr>
        <p:spPr>
          <a:xfrm>
            <a:off x="1460500" y="2946400"/>
            <a:ext cx="4445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329"/>
                </a:solidFill>
                <a:latin typeface="Noto Sans SC"/>
                <a:ea typeface="Noto Sans SC"/>
                <a:cs typeface="Noto Sans SC"/>
                <a:sym typeface="Noto Sans SC"/>
              </a:rPr>
              <a:t>中小团队落地核心痛点</a:t>
            </a:r>
            <a:endParaRPr lang="en-US" sz="1100"/>
          </a:p>
        </p:txBody>
      </p:sp>
      <p:sp>
        <p:nvSpPr>
          <p:cNvPr id="12" name="AutoShape 12"/>
          <p:cNvSpPr/>
          <p:nvPr/>
        </p:nvSpPr>
        <p:spPr>
          <a:xfrm>
            <a:off x="1460500" y="3365500"/>
            <a:ext cx="4445000" cy="1524000"/>
          </a:xfrm>
          <a:prstGeom prst="rect">
            <a:avLst/>
          </a:prstGeom>
          <a:noFill/>
          <a:ln w="12700" cap="flat" cmpd="sng">
            <a:noFill/>
            <a:prstDash val="solid"/>
            <a:round/>
          </a:ln>
        </p:spPr>
        <p:txBody>
          <a:bodyPr vert="horz" wrap="square" lIns="0" tIns="0" rIns="0" bIns="0" rtlCol="0" anchor="ctr" anchorCtr="0"/>
          <a:lstStyle/>
          <a:p>
            <a:pPr marL="177800" indent="-177800" algn="l">
              <a:lnSpc>
                <a:spcPct val="108333"/>
              </a:lnSpc>
              <a:buClr>
                <a:srgbClr val="374151"/>
              </a:buClr>
              <a:buChar char="•"/>
              <a:defRPr/>
            </a:pPr>
            <a:r>
              <a:rPr lang="en-US" sz="1400" b="1" i="0" u="none" strike="noStrike">
                <a:solidFill>
                  <a:srgbClr val="374151"/>
                </a:solidFill>
                <a:latin typeface="Noto Sans SC"/>
                <a:ea typeface="Noto Sans SC"/>
                <a:cs typeface="Noto Sans SC"/>
                <a:sym typeface="Noto Sans SC"/>
              </a:rPr>
              <a:t>优先级判断难：</a:t>
            </a:r>
            <a:r>
              <a:rPr lang="en-US" sz="1400" b="0" i="0" u="none" strike="noStrike">
                <a:solidFill>
                  <a:srgbClr val="374151"/>
                </a:solidFill>
                <a:latin typeface="Noto Sans SC"/>
                <a:ea typeface="Noto Sans SC"/>
                <a:cs typeface="Noto Sans SC"/>
                <a:sym typeface="Noto Sans SC"/>
              </a:rPr>
              <a:t>多目标决策缺乏科学依据，过度依赖主观经验。</a:t>
            </a:r>
            <a:endParaRPr lang="en-US" sz="1100"/>
          </a:p>
          <a:p>
            <a:pPr marL="177800" indent="-177800" algn="l">
              <a:lnSpc>
                <a:spcPct val="108333"/>
              </a:lnSpc>
              <a:buClr>
                <a:srgbClr val="374151"/>
              </a:buClr>
              <a:buChar char="•"/>
            </a:pPr>
            <a:r>
              <a:rPr lang="en-US" sz="1400" b="1" i="0" u="none" strike="noStrike">
                <a:solidFill>
                  <a:srgbClr val="374151"/>
                </a:solidFill>
                <a:latin typeface="Noto Sans SC"/>
                <a:ea typeface="Noto Sans SC"/>
                <a:cs typeface="Noto Sans SC"/>
                <a:sym typeface="Noto Sans SC"/>
              </a:rPr>
              <a:t>方案选择复杂：</a:t>
            </a:r>
            <a:r>
              <a:rPr lang="en-US" sz="1400" b="0" i="0" u="none" strike="noStrike">
                <a:solidFill>
                  <a:srgbClr val="374151"/>
                </a:solidFill>
                <a:latin typeface="Noto Sans SC"/>
                <a:ea typeface="Noto Sans SC"/>
                <a:cs typeface="Noto Sans SC"/>
                <a:sym typeface="Noto Sans SC"/>
              </a:rPr>
              <a:t>实现路径多样，难以进行系统性优劣对比。</a:t>
            </a:r>
          </a:p>
          <a:p>
            <a:pPr marL="177800" indent="-177800" algn="l">
              <a:lnSpc>
                <a:spcPct val="108333"/>
              </a:lnSpc>
              <a:buClr>
                <a:srgbClr val="374151"/>
              </a:buClr>
              <a:buChar char="•"/>
            </a:pPr>
            <a:r>
              <a:rPr lang="en-US" sz="1400" b="1" i="0" u="none" strike="noStrike">
                <a:solidFill>
                  <a:srgbClr val="374151"/>
                </a:solidFill>
                <a:latin typeface="Noto Sans SC"/>
                <a:ea typeface="Noto Sans SC"/>
                <a:cs typeface="Noto Sans SC"/>
                <a:sym typeface="Noto Sans SC"/>
              </a:rPr>
              <a:t>资源分配模糊：</a:t>
            </a:r>
            <a:r>
              <a:rPr lang="en-US" sz="1400" b="0" i="0" u="none" strike="noStrike">
                <a:solidFill>
                  <a:srgbClr val="374151"/>
                </a:solidFill>
                <a:latin typeface="Noto Sans SC"/>
                <a:ea typeface="Noto Sans SC"/>
                <a:cs typeface="Noto Sans SC"/>
                <a:sym typeface="Noto Sans SC"/>
              </a:rPr>
              <a:t>决策缺乏量化支撑，资源分配过程不透明。</a:t>
            </a:r>
          </a:p>
        </p:txBody>
      </p:sp>
      <p:sp>
        <p:nvSpPr>
          <p:cNvPr id="13" name="AutoShape 13"/>
          <p:cNvSpPr/>
          <p:nvPr/>
        </p:nvSpPr>
        <p:spPr>
          <a:xfrm>
            <a:off x="6604000" y="1397000"/>
            <a:ext cx="4826000" cy="2540000"/>
          </a:xfrm>
          <a:prstGeom prst="roundRect">
            <a:avLst>
              <a:gd name="adj" fmla="val 5000"/>
            </a:avLst>
          </a:prstGeom>
          <a:solidFill>
            <a:srgbClr val="FFFFFF">
              <a:alpha val="100000"/>
            </a:srgbClr>
          </a:solidFill>
          <a:ln w="25400" cap="flat" cmpd="sng">
            <a:noFill/>
            <a:prstDash val="solid"/>
            <a:round/>
          </a:ln>
          <a:effectLst>
            <a:outerShdw blurRad="127000" dist="50800" dir="5400000" algn="tl" rotWithShape="0">
              <a:srgbClr val="000000">
                <a:alpha val="10000"/>
              </a:srgbClr>
            </a:outerShdw>
          </a:effectLst>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r:embed="rId8"/>
          <a:srcRect l="105" r="105"/>
          <a:stretch>
            <a:fillRect/>
          </a:stretch>
        </p:blipFill>
        <p:spPr>
          <a:xfrm>
            <a:off x="6731000" y="1536700"/>
            <a:ext cx="4572000" cy="2247900"/>
          </a:xfrm>
          <a:prstGeom prst="rect">
            <a:avLst/>
          </a:prstGeom>
          <a:noFill/>
          <a:ln w="25400" cap="flat" cmpd="sng">
            <a:noFill/>
            <a:prstDash val="solid"/>
            <a:round/>
          </a:ln>
        </p:spPr>
      </p:pic>
      <p:sp>
        <p:nvSpPr>
          <p:cNvPr id="15" name="AutoShape 15"/>
          <p:cNvSpPr/>
          <p:nvPr/>
        </p:nvSpPr>
        <p:spPr>
          <a:xfrm>
            <a:off x="6604000" y="4064000"/>
            <a:ext cx="4826000" cy="1016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400" b="0" i="0" u="none" strike="noStrike">
                <a:solidFill>
                  <a:srgbClr val="6C757D"/>
                </a:solidFill>
                <a:latin typeface="Noto Sans SC"/>
                <a:ea typeface="Noto Sans SC"/>
                <a:cs typeface="Noto Sans SC"/>
                <a:sym typeface="Noto Sans SC"/>
              </a:rPr>
              <a:t>图示为典型的OKR管理循环流程，包含制定、分享、锁定、追踪及复盘五个关键阶段。标准化的流程是高效执行的基础，但在实际落地中，决策环节的瓶颈往往阻碍了流程的顺畅运转。</a:t>
            </a:r>
            <a:endParaRPr lang="en-US" sz="1100"/>
          </a:p>
        </p:txBody>
      </p:sp>
      <p:sp>
        <p:nvSpPr>
          <p:cNvPr id="16" name="AutoShape 16"/>
          <p:cNvSpPr/>
          <p:nvPr/>
        </p:nvSpPr>
        <p:spPr>
          <a:xfrm>
            <a:off x="0" y="6781800"/>
            <a:ext cx="12192000" cy="76200"/>
          </a:xfrm>
          <a:prstGeom prst="roundRect">
            <a:avLst>
              <a:gd name="adj" fmla="val 0"/>
            </a:avLst>
          </a:prstGeom>
          <a:solidFill>
            <a:srgbClr val="0D6EFD">
              <a:alpha val="100000"/>
            </a:srgbClr>
          </a:solidFill>
          <a:ln w="25400" cap="flat" cmpd="sng">
            <a:noFill/>
            <a:prstDash val="solid"/>
            <a:round/>
          </a:ln>
        </p:spPr>
        <p:txBody>
          <a:bodyPr vert="horz" wrap="square" lIns="63500" tIns="63500" rIns="63500" bIns="63500" rtlCol="0" anchor="ctr"/>
          <a:lstStyle/>
          <a:p>
            <a:pPr algn="ctr">
              <a:defRPr/>
            </a:pP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508000"/>
            <a:ext cx="60325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0D6EFD"/>
                </a:solidFill>
                <a:latin typeface="Noto Sans SC"/>
                <a:ea typeface="Noto Sans SC"/>
                <a:cs typeface="Noto Sans SC"/>
                <a:sym typeface="Noto Sans SC"/>
              </a:rPr>
              <a:t>问题定义：研究问题的提出</a:t>
            </a:r>
            <a:endParaRPr lang="en-US" sz="1100"/>
          </a:p>
        </p:txBody>
      </p:sp>
      <p:sp>
        <p:nvSpPr>
          <p:cNvPr id="5" name="AutoShape 5"/>
          <p:cNvSpPr/>
          <p:nvPr/>
        </p:nvSpPr>
        <p:spPr>
          <a:xfrm>
            <a:off x="762000" y="1651000"/>
            <a:ext cx="3302000" cy="3048000"/>
          </a:xfrm>
          <a:prstGeom prst="roundRect">
            <a:avLst>
              <a:gd name="adj" fmla="val 4166"/>
            </a:avLst>
          </a:prstGeom>
          <a:solidFill>
            <a:srgbClr val="FFFFFF">
              <a:alpha val="100000"/>
            </a:srgbClr>
          </a:solidFill>
          <a:ln w="12700" cap="flat" cmpd="sng">
            <a:solidFill>
              <a:srgbClr val="0D6EFD">
                <a:alpha val="20000"/>
              </a:srgbClr>
            </a:solidFill>
            <a:prstDash val="solid"/>
            <a:round/>
          </a:ln>
          <a:effectLst>
            <a:outerShdw blurRad="127000" dist="50800" dir="5400000" algn="tl" rotWithShape="0">
              <a:srgbClr val="000000">
                <a:alpha val="10000"/>
              </a:srgbClr>
            </a:outerShdw>
          </a:effectLst>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159000" y="1841500"/>
            <a:ext cx="508000" cy="508000"/>
          </a:xfrm>
          <a:prstGeom prst="rect">
            <a:avLst/>
          </a:prstGeom>
        </p:spPr>
      </p:pic>
      <p:sp>
        <p:nvSpPr>
          <p:cNvPr id="7" name="AutoShape 7"/>
          <p:cNvSpPr/>
          <p:nvPr/>
        </p:nvSpPr>
        <p:spPr>
          <a:xfrm>
            <a:off x="889000" y="24130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0D6EFD"/>
                </a:solidFill>
                <a:latin typeface="Noto Sans SC"/>
                <a:ea typeface="Noto Sans SC"/>
                <a:cs typeface="Noto Sans SC"/>
                <a:sym typeface="Noto Sans SC"/>
              </a:rPr>
              <a:t>权重分配的主观性</a:t>
            </a:r>
            <a:endParaRPr lang="en-US" sz="1100"/>
          </a:p>
        </p:txBody>
      </p:sp>
      <p:sp>
        <p:nvSpPr>
          <p:cNvPr id="8" name="AutoShape 8"/>
          <p:cNvSpPr/>
          <p:nvPr/>
        </p:nvSpPr>
        <p:spPr>
          <a:xfrm>
            <a:off x="889000" y="2857500"/>
            <a:ext cx="3048000" cy="1270000"/>
          </a:xfrm>
          <a:prstGeom prst="rect">
            <a:avLst/>
          </a:prstGeom>
          <a:noFill/>
          <a:ln w="12700" cap="flat" cmpd="sng">
            <a:noFill/>
            <a:prstDash val="solid"/>
            <a:round/>
          </a:ln>
        </p:spPr>
        <p:txBody>
          <a:bodyPr vert="horz" wrap="square" lIns="0" tIns="0" rIns="0" bIns="0" rtlCol="0" anchor="ctr" anchorCtr="0"/>
          <a:lstStyle/>
          <a:p>
            <a:pPr indent="0" algn="just">
              <a:lnSpc>
                <a:spcPct val="108333"/>
              </a:lnSpc>
              <a:defRPr/>
            </a:pPr>
            <a:r>
              <a:rPr lang="en-US" sz="1400" b="0" i="0" u="none" strike="noStrike">
                <a:solidFill>
                  <a:srgbClr val="6C757D"/>
                </a:solidFill>
                <a:latin typeface="Noto Sans SC"/>
                <a:ea typeface="Noto Sans SC"/>
                <a:cs typeface="Noto Sans SC"/>
                <a:sym typeface="Noto Sans SC"/>
              </a:rPr>
              <a:t>如何科学地确定各个影响因子的权重？如何避免“拍脑袋”式的决策，确保评估体系的客观性？</a:t>
            </a:r>
            <a:endParaRPr lang="en-US" sz="1100"/>
          </a:p>
        </p:txBody>
      </p:sp>
      <p:sp>
        <p:nvSpPr>
          <p:cNvPr id="9" name="AutoShape 9"/>
          <p:cNvSpPr/>
          <p:nvPr/>
        </p:nvSpPr>
        <p:spPr>
          <a:xfrm>
            <a:off x="4445000" y="1651000"/>
            <a:ext cx="3302000" cy="3048000"/>
          </a:xfrm>
          <a:prstGeom prst="roundRect">
            <a:avLst>
              <a:gd name="adj" fmla="val 4166"/>
            </a:avLst>
          </a:prstGeom>
          <a:solidFill>
            <a:srgbClr val="FFFFFF">
              <a:alpha val="100000"/>
            </a:srgbClr>
          </a:solidFill>
          <a:ln w="12700" cap="flat" cmpd="sng">
            <a:solidFill>
              <a:srgbClr val="0D6EFD">
                <a:alpha val="20000"/>
              </a:srgbClr>
            </a:solidFill>
            <a:prstDash val="solid"/>
            <a:round/>
          </a:ln>
          <a:effectLst>
            <a:outerShdw blurRad="127000" dist="50800" dir="5400000" algn="tl" rotWithShape="0">
              <a:srgbClr val="000000">
                <a:alpha val="10000"/>
              </a:srgbClr>
            </a:outerShdw>
          </a:effectLst>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842000" y="1841500"/>
            <a:ext cx="508000" cy="508000"/>
          </a:xfrm>
          <a:prstGeom prst="rect">
            <a:avLst/>
          </a:prstGeom>
        </p:spPr>
      </p:pic>
      <p:sp>
        <p:nvSpPr>
          <p:cNvPr id="11" name="AutoShape 11"/>
          <p:cNvSpPr/>
          <p:nvPr/>
        </p:nvSpPr>
        <p:spPr>
          <a:xfrm>
            <a:off x="4572000" y="24130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0D6EFD"/>
                </a:solidFill>
                <a:latin typeface="Noto Sans SC"/>
                <a:ea typeface="Noto Sans SC"/>
                <a:cs typeface="Noto Sans SC"/>
                <a:sym typeface="Noto Sans SC"/>
              </a:rPr>
              <a:t>方案对比的复杂性</a:t>
            </a:r>
            <a:endParaRPr lang="en-US" sz="1100"/>
          </a:p>
        </p:txBody>
      </p:sp>
      <p:sp>
        <p:nvSpPr>
          <p:cNvPr id="12" name="AutoShape 12"/>
          <p:cNvSpPr/>
          <p:nvPr/>
        </p:nvSpPr>
        <p:spPr>
          <a:xfrm>
            <a:off x="4572000" y="2857500"/>
            <a:ext cx="3048000" cy="1270000"/>
          </a:xfrm>
          <a:prstGeom prst="rect">
            <a:avLst/>
          </a:prstGeom>
          <a:noFill/>
          <a:ln w="12700" cap="flat" cmpd="sng">
            <a:noFill/>
            <a:prstDash val="solid"/>
            <a:round/>
          </a:ln>
        </p:spPr>
        <p:txBody>
          <a:bodyPr vert="horz" wrap="square" lIns="0" tIns="0" rIns="0" bIns="0" rtlCol="0" anchor="ctr" anchorCtr="0"/>
          <a:lstStyle/>
          <a:p>
            <a:pPr indent="0" algn="just">
              <a:lnSpc>
                <a:spcPct val="108333"/>
              </a:lnSpc>
              <a:defRPr/>
            </a:pPr>
            <a:r>
              <a:rPr lang="en-US" sz="1400" b="0" i="0" u="none" strike="noStrike">
                <a:solidFill>
                  <a:srgbClr val="6C757D"/>
                </a:solidFill>
                <a:latin typeface="Noto Sans SC"/>
                <a:ea typeface="Noto Sans SC"/>
                <a:cs typeface="Noto Sans SC"/>
                <a:sym typeface="Noto Sans SC"/>
              </a:rPr>
              <a:t>面对多目标和多方案，如何进行系统、全面的对比？如何将不同维度的定性指标进行统一量化处理？</a:t>
            </a:r>
            <a:endParaRPr lang="en-US" sz="1100"/>
          </a:p>
        </p:txBody>
      </p:sp>
      <p:sp>
        <p:nvSpPr>
          <p:cNvPr id="13" name="AutoShape 13"/>
          <p:cNvSpPr/>
          <p:nvPr/>
        </p:nvSpPr>
        <p:spPr>
          <a:xfrm>
            <a:off x="8128000" y="1651000"/>
            <a:ext cx="3302000" cy="3048000"/>
          </a:xfrm>
          <a:prstGeom prst="roundRect">
            <a:avLst>
              <a:gd name="adj" fmla="val 4166"/>
            </a:avLst>
          </a:prstGeom>
          <a:solidFill>
            <a:srgbClr val="FFFFFF">
              <a:alpha val="100000"/>
            </a:srgbClr>
          </a:solidFill>
          <a:ln w="12700" cap="flat" cmpd="sng">
            <a:solidFill>
              <a:srgbClr val="0D6EFD">
                <a:alpha val="20000"/>
              </a:srgbClr>
            </a:solidFill>
            <a:prstDash val="solid"/>
            <a:round/>
          </a:ln>
          <a:effectLst>
            <a:outerShdw blurRad="127000" dist="50800" dir="5400000" algn="tl" rotWithShape="0">
              <a:srgbClr val="000000">
                <a:alpha val="10000"/>
              </a:srgbClr>
            </a:outerShdw>
          </a:effectLst>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525000" y="1841500"/>
            <a:ext cx="508000" cy="508000"/>
          </a:xfrm>
          <a:prstGeom prst="rect">
            <a:avLst/>
          </a:prstGeom>
        </p:spPr>
      </p:pic>
      <p:sp>
        <p:nvSpPr>
          <p:cNvPr id="15" name="AutoShape 15"/>
          <p:cNvSpPr/>
          <p:nvPr/>
        </p:nvSpPr>
        <p:spPr>
          <a:xfrm>
            <a:off x="8255000" y="24130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0D6EFD"/>
                </a:solidFill>
                <a:latin typeface="Noto Sans SC"/>
                <a:ea typeface="Noto Sans SC"/>
                <a:cs typeface="Noto Sans SC"/>
                <a:sym typeface="Noto Sans SC"/>
              </a:rPr>
              <a:t>决策过程的透明性</a:t>
            </a:r>
            <a:endParaRPr lang="en-US" sz="1100"/>
          </a:p>
        </p:txBody>
      </p:sp>
      <p:sp>
        <p:nvSpPr>
          <p:cNvPr id="16" name="AutoShape 16"/>
          <p:cNvSpPr/>
          <p:nvPr/>
        </p:nvSpPr>
        <p:spPr>
          <a:xfrm>
            <a:off x="8255000" y="2857500"/>
            <a:ext cx="3048000" cy="1270000"/>
          </a:xfrm>
          <a:prstGeom prst="rect">
            <a:avLst/>
          </a:prstGeom>
          <a:noFill/>
          <a:ln w="12700" cap="flat" cmpd="sng">
            <a:noFill/>
            <a:prstDash val="solid"/>
            <a:round/>
          </a:ln>
        </p:spPr>
        <p:txBody>
          <a:bodyPr vert="horz" wrap="square" lIns="0" tIns="0" rIns="0" bIns="0" rtlCol="0" anchor="ctr" anchorCtr="0"/>
          <a:lstStyle/>
          <a:p>
            <a:pPr indent="0" algn="just">
              <a:lnSpc>
                <a:spcPct val="108333"/>
              </a:lnSpc>
              <a:defRPr/>
            </a:pPr>
            <a:r>
              <a:rPr lang="en-US" sz="1400" b="0" i="0" u="none" strike="noStrike">
                <a:solidFill>
                  <a:srgbClr val="6C757D"/>
                </a:solidFill>
                <a:latin typeface="Noto Sans SC"/>
                <a:ea typeface="Noto Sans SC"/>
                <a:cs typeface="Noto Sans SC"/>
                <a:sym typeface="Noto Sans SC"/>
              </a:rPr>
              <a:t>如何让团队成员理解并信服最终的决策依据？如何保证决策逻辑的可追溯性，提升团队信任度？</a:t>
            </a:r>
            <a:endParaRPr lang="en-US" sz="1100"/>
          </a:p>
        </p:txBody>
      </p:sp>
      <p:sp>
        <p:nvSpPr>
          <p:cNvPr id="17" name="AutoShape 17"/>
          <p:cNvSpPr/>
          <p:nvPr/>
        </p:nvSpPr>
        <p:spPr>
          <a:xfrm>
            <a:off x="762000" y="5334000"/>
            <a:ext cx="10668000" cy="25400"/>
          </a:xfrm>
          <a:prstGeom prst="roundRect">
            <a:avLst>
              <a:gd name="adj" fmla="val 0"/>
            </a:avLst>
          </a:prstGeom>
          <a:solidFill>
            <a:srgbClr val="0D6EFD">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18" name="AutoShape 18"/>
          <p:cNvSpPr/>
          <p:nvPr/>
        </p:nvSpPr>
        <p:spPr>
          <a:xfrm>
            <a:off x="762000" y="5461000"/>
            <a:ext cx="1066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1" u="none" strike="noStrike">
                <a:solidFill>
                  <a:srgbClr val="6C757D"/>
                </a:solidFill>
                <a:latin typeface="Noto Sans SC"/>
                <a:ea typeface="Noto Sans SC"/>
                <a:cs typeface="Noto Sans SC"/>
                <a:sym typeface="Noto Sans SC"/>
              </a:rPr>
              <a:t>核心目标：构建科学、系统、透明的决策支持体系</a:t>
            </a:r>
            <a:endParaRPr lang="en-US"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FFFFFF">
              <a:alpha val="9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508000"/>
            <a:ext cx="35179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0D6EFD"/>
                </a:solidFill>
                <a:latin typeface="Noto Sans SC"/>
                <a:ea typeface="Noto Sans SC"/>
                <a:cs typeface="Noto Sans SC"/>
                <a:sym typeface="Noto Sans SC"/>
              </a:rPr>
              <a:t>研究目标与意义</a:t>
            </a:r>
            <a:endParaRPr lang="en-US" sz="1100"/>
          </a:p>
        </p:txBody>
      </p:sp>
      <p:sp>
        <p:nvSpPr>
          <p:cNvPr id="5" name="AutoShape 5"/>
          <p:cNvSpPr/>
          <p:nvPr/>
        </p:nvSpPr>
        <p:spPr>
          <a:xfrm>
            <a:off x="762000" y="1397000"/>
            <a:ext cx="5080000" cy="4318000"/>
          </a:xfrm>
          <a:prstGeom prst="roundRect">
            <a:avLst>
              <a:gd name="adj" fmla="val 2941"/>
            </a:avLst>
          </a:prstGeom>
          <a:solidFill>
            <a:srgbClr val="FFFFFF">
              <a:alpha val="100000"/>
            </a:srgbClr>
          </a:solidFill>
          <a:ln w="12700" cap="flat" cmpd="sng">
            <a:solidFill>
              <a:srgbClr val="E5E7EB">
                <a:alpha val="100000"/>
              </a:srgbClr>
            </a:solidFill>
            <a:prstDash val="solid"/>
            <a:round/>
          </a:ln>
          <a:effectLst>
            <a:outerShdw blurRad="127000" dist="50800" dir="5400000" algn="tl" rotWithShape="0">
              <a:srgbClr val="0D6EFD">
                <a:alpha val="15000"/>
              </a:srgbClr>
            </a:outerShdw>
          </a:effectLst>
        </p:spPr>
        <p:txBody>
          <a:bodyPr vert="horz" wrap="square" lIns="63500" tIns="63500" rIns="63500" bIns="63500" rtlCol="0" anchor="ctr"/>
          <a:lstStyle/>
          <a:p>
            <a:pPr algn="ctr">
              <a:defRPr/>
            </a:pPr>
            <a:endParaRPr/>
          </a:p>
        </p:txBody>
      </p:sp>
      <p:sp>
        <p:nvSpPr>
          <p:cNvPr id="6" name="AutoShape 6"/>
          <p:cNvSpPr/>
          <p:nvPr/>
        </p:nvSpPr>
        <p:spPr>
          <a:xfrm>
            <a:off x="1016000" y="1587500"/>
            <a:ext cx="457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D6EFD"/>
                </a:solidFill>
                <a:latin typeface="Noto Sans SC"/>
                <a:ea typeface="Noto Sans SC"/>
                <a:cs typeface="Noto Sans SC"/>
                <a:sym typeface="Noto Sans SC"/>
              </a:rPr>
              <a:t>研究目标</a:t>
            </a:r>
            <a:endParaRPr lang="en-US" sz="1100"/>
          </a:p>
        </p:txBody>
      </p:sp>
      <p:pic>
        <p:nvPicPr>
          <p:cNvPr id="7" name="Picture 7"/>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2159000"/>
            <a:ext cx="304800" cy="304800"/>
          </a:xfrm>
          <a:prstGeom prst="rect">
            <a:avLst/>
          </a:prstGeom>
        </p:spPr>
      </p:pic>
      <p:sp>
        <p:nvSpPr>
          <p:cNvPr id="8" name="AutoShape 8"/>
          <p:cNvSpPr/>
          <p:nvPr/>
        </p:nvSpPr>
        <p:spPr>
          <a:xfrm>
            <a:off x="1397000" y="2095500"/>
            <a:ext cx="4191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374151"/>
                </a:solidFill>
                <a:latin typeface="Noto Sans SC"/>
                <a:ea typeface="Noto Sans SC"/>
                <a:cs typeface="Noto Sans SC"/>
                <a:sym typeface="Noto Sans SC"/>
              </a:rPr>
              <a:t>构建科学权重方法</a:t>
            </a:r>
            <a:endParaRPr lang="en-US" sz="1100"/>
          </a:p>
          <a:p>
            <a:pPr indent="0" algn="l">
              <a:lnSpc>
                <a:spcPct val="125000"/>
              </a:lnSpc>
            </a:pPr>
            <a:r>
              <a:rPr lang="en-US" sz="1300" b="0" i="0" u="none" strike="noStrike">
                <a:solidFill>
                  <a:srgbClr val="6C757D"/>
                </a:solidFill>
                <a:latin typeface="Noto Sans SC"/>
                <a:ea typeface="Noto Sans SC"/>
                <a:cs typeface="Noto Sans SC"/>
                <a:sym typeface="Noto Sans SC"/>
              </a:rPr>
              <a:t>解决主观判断问题，建立客观评价体系。</a:t>
            </a:r>
          </a:p>
        </p:txBody>
      </p:sp>
      <p:pic>
        <p:nvPicPr>
          <p:cNvPr id="9" name="Picture 9"/>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16000" y="2984500"/>
            <a:ext cx="304800" cy="304800"/>
          </a:xfrm>
          <a:prstGeom prst="rect">
            <a:avLst/>
          </a:prstGeom>
        </p:spPr>
      </p:pic>
      <p:sp>
        <p:nvSpPr>
          <p:cNvPr id="10" name="AutoShape 10"/>
          <p:cNvSpPr/>
          <p:nvPr/>
        </p:nvSpPr>
        <p:spPr>
          <a:xfrm>
            <a:off x="1397000" y="2921000"/>
            <a:ext cx="4191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374151"/>
                </a:solidFill>
                <a:latin typeface="Noto Sans SC"/>
                <a:ea typeface="Noto Sans SC"/>
                <a:cs typeface="Noto Sans SC"/>
                <a:sym typeface="Noto Sans SC"/>
              </a:rPr>
              <a:t>实现多方案量化对比</a:t>
            </a:r>
            <a:endParaRPr lang="en-US" sz="1100"/>
          </a:p>
          <a:p>
            <a:pPr indent="0" algn="l">
              <a:lnSpc>
                <a:spcPct val="125000"/>
              </a:lnSpc>
            </a:pPr>
            <a:r>
              <a:rPr lang="en-US" sz="1300" b="0" i="0" u="none" strike="noStrike">
                <a:solidFill>
                  <a:srgbClr val="6C757D"/>
                </a:solidFill>
                <a:latin typeface="Noto Sans SC"/>
                <a:ea typeface="Noto Sans SC"/>
                <a:cs typeface="Noto Sans SC"/>
                <a:sym typeface="Noto Sans SC"/>
              </a:rPr>
              <a:t>提供清晰的决策依据，减少决策偏差。</a:t>
            </a:r>
          </a:p>
        </p:txBody>
      </p:sp>
      <p:pic>
        <p:nvPicPr>
          <p:cNvPr id="11" name="Picture 11"/>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16000" y="3810000"/>
            <a:ext cx="304800" cy="304800"/>
          </a:xfrm>
          <a:prstGeom prst="rect">
            <a:avLst/>
          </a:prstGeom>
        </p:spPr>
      </p:pic>
      <p:sp>
        <p:nvSpPr>
          <p:cNvPr id="12" name="AutoShape 12"/>
          <p:cNvSpPr/>
          <p:nvPr/>
        </p:nvSpPr>
        <p:spPr>
          <a:xfrm>
            <a:off x="1397000" y="3746500"/>
            <a:ext cx="4191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374151"/>
                </a:solidFill>
                <a:latin typeface="Noto Sans SC"/>
                <a:ea typeface="Noto Sans SC"/>
                <a:cs typeface="Noto Sans SC"/>
                <a:sym typeface="Noto Sans SC"/>
              </a:rPr>
              <a:t>开发决策支持工具</a:t>
            </a:r>
            <a:endParaRPr lang="en-US" sz="1100"/>
          </a:p>
          <a:p>
            <a:pPr indent="0" algn="l">
              <a:lnSpc>
                <a:spcPct val="125000"/>
              </a:lnSpc>
            </a:pPr>
            <a:r>
              <a:rPr lang="en-US" sz="1300" b="0" i="0" u="none" strike="noStrike">
                <a:solidFill>
                  <a:srgbClr val="6C757D"/>
                </a:solidFill>
                <a:latin typeface="Noto Sans SC"/>
                <a:ea typeface="Noto Sans SC"/>
                <a:cs typeface="Noto Sans SC"/>
                <a:sym typeface="Noto Sans SC"/>
              </a:rPr>
              <a:t>打造透明、易用的工具，赋能团队高效决策。</a:t>
            </a:r>
          </a:p>
        </p:txBody>
      </p:sp>
      <p:sp>
        <p:nvSpPr>
          <p:cNvPr id="13" name="AutoShape 13"/>
          <p:cNvSpPr/>
          <p:nvPr/>
        </p:nvSpPr>
        <p:spPr>
          <a:xfrm>
            <a:off x="6350000" y="1397000"/>
            <a:ext cx="5080000" cy="4318000"/>
          </a:xfrm>
          <a:prstGeom prst="roundRect">
            <a:avLst>
              <a:gd name="adj" fmla="val 2941"/>
            </a:avLst>
          </a:prstGeom>
          <a:solidFill>
            <a:srgbClr val="FFFFFF">
              <a:alpha val="100000"/>
            </a:srgbClr>
          </a:solidFill>
          <a:ln w="12700" cap="flat" cmpd="sng">
            <a:solidFill>
              <a:srgbClr val="E5E7EB">
                <a:alpha val="100000"/>
              </a:srgbClr>
            </a:solidFill>
            <a:prstDash val="solid"/>
            <a:round/>
          </a:ln>
          <a:effectLst>
            <a:outerShdw blurRad="127000" dist="50800" dir="5400000" algn="tl" rotWithShape="0">
              <a:srgbClr val="0D6EFD">
                <a:alpha val="15000"/>
              </a:srgbClr>
            </a:outerShdw>
          </a:effectLst>
        </p:spPr>
        <p:txBody>
          <a:bodyPr vert="horz" wrap="square" lIns="63500" tIns="63500" rIns="63500" bIns="63500" rtlCol="0" anchor="ctr"/>
          <a:lstStyle/>
          <a:p>
            <a:pPr algn="ctr">
              <a:defRPr/>
            </a:pPr>
            <a:endParaRPr/>
          </a:p>
        </p:txBody>
      </p:sp>
      <p:sp>
        <p:nvSpPr>
          <p:cNvPr id="14" name="AutoShape 14"/>
          <p:cNvSpPr/>
          <p:nvPr/>
        </p:nvSpPr>
        <p:spPr>
          <a:xfrm>
            <a:off x="6604000" y="1587500"/>
            <a:ext cx="457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D6EFD"/>
                </a:solidFill>
                <a:latin typeface="Noto Sans SC"/>
                <a:ea typeface="Noto Sans SC"/>
                <a:cs typeface="Noto Sans SC"/>
                <a:sym typeface="Noto Sans SC"/>
              </a:rPr>
              <a:t>研究意义</a:t>
            </a:r>
            <a:endParaRPr lang="en-US" sz="1100"/>
          </a:p>
        </p:txBody>
      </p:sp>
      <p:graphicFrame>
        <p:nvGraphicFramePr>
          <p:cNvPr id="15" name="Table 15"/>
          <p:cNvGraphicFramePr>
            <a:graphicFrameLocks noGrp="1"/>
          </p:cNvGraphicFramePr>
          <p:nvPr/>
        </p:nvGraphicFramePr>
        <p:xfrm>
          <a:off x="6604000" y="2095500"/>
          <a:ext cx="4572000" cy="2794000"/>
        </p:xfrm>
        <a:graphic>
          <a:graphicData uri="http://schemas.openxmlformats.org/drawingml/2006/table">
            <a:tbl>
              <a:tblPr>
                <a:effectLst/>
              </a:tblPr>
              <a:tblGrid>
                <a:gridCol w="2286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tblGrid>
              <a:tr h="508000">
                <a:tc>
                  <a:txBody>
                    <a:bodyPr/>
                    <a:lstStyle/>
                    <a:p>
                      <a:pPr indent="0" algn="ctr">
                        <a:lnSpc>
                          <a:spcPct val="100000"/>
                        </a:lnSpc>
                        <a:defRPr/>
                      </a:pPr>
                      <a:r>
                        <a:rPr lang="en-US" sz="1500" b="1" i="0" u="none" strike="noStrike">
                          <a:solidFill>
                            <a:srgbClr val="FFFFFF"/>
                          </a:solidFill>
                          <a:latin typeface="Noto Sans SC"/>
                          <a:ea typeface="Noto Sans SC"/>
                          <a:cs typeface="Noto Sans SC"/>
                          <a:sym typeface="Noto Sans SC"/>
                        </a:rPr>
                        <a:t>理论意义</a:t>
                      </a:r>
                      <a:endParaRPr lang="en-US" sz="1100"/>
                    </a:p>
                  </a:txBody>
                  <a:tcPr marL="101600" marR="101600" marT="101600" marB="101600" anchor="ctr">
                    <a:lnL>
                      <a:noFill/>
                    </a:lnL>
                    <a:lnR>
                      <a:noFill/>
                    </a:lnR>
                    <a:lnT>
                      <a:noFill/>
                    </a:lnT>
                    <a:lnB>
                      <a:noFill/>
                    </a:lnB>
                    <a:solidFill>
                      <a:srgbClr val="0D6EFD">
                        <a:alpha val="100000"/>
                      </a:srgbClr>
                    </a:solidFill>
                  </a:tcPr>
                </a:tc>
                <a:tc>
                  <a:txBody>
                    <a:bodyPr/>
                    <a:lstStyle/>
                    <a:p>
                      <a:pPr indent="0" algn="ctr">
                        <a:lnSpc>
                          <a:spcPct val="100000"/>
                        </a:lnSpc>
                        <a:defRPr/>
                      </a:pPr>
                      <a:r>
                        <a:rPr lang="en-US" sz="1500" b="1" i="0" u="none" strike="noStrike">
                          <a:solidFill>
                            <a:srgbClr val="FFFFFF"/>
                          </a:solidFill>
                          <a:latin typeface="Noto Sans SC"/>
                          <a:ea typeface="Noto Sans SC"/>
                          <a:cs typeface="Noto Sans SC"/>
                          <a:sym typeface="Noto Sans SC"/>
                        </a:rPr>
                        <a:t>实践意义</a:t>
                      </a:r>
                      <a:endParaRPr lang="en-US" sz="1100"/>
                    </a:p>
                  </a:txBody>
                  <a:tcPr marL="101600" marR="101600" marT="101600" marB="101600" anchor="ctr">
                    <a:lnL>
                      <a:noFill/>
                    </a:lnL>
                    <a:lnR>
                      <a:noFill/>
                    </a:lnR>
                    <a:lnT>
                      <a:noFill/>
                    </a:lnT>
                    <a:lnB>
                      <a:noFill/>
                    </a:lnB>
                    <a:solidFill>
                      <a:srgbClr val="0D6EFD">
                        <a:alpha val="100000"/>
                      </a:srgbClr>
                    </a:solidFill>
                  </a:tcPr>
                </a:tc>
                <a:extLst>
                  <a:ext uri="{0D108BD9-81ED-4DB2-BD59-A6C34878D82A}">
                    <a16:rowId xmlns:a16="http://schemas.microsoft.com/office/drawing/2014/main" val="10000"/>
                  </a:ext>
                </a:extLst>
              </a:tr>
              <a:tr h="762000">
                <a:tc>
                  <a:txBody>
                    <a:bodyPr/>
                    <a:lstStyle/>
                    <a:p>
                      <a:pPr indent="0" algn="l">
                        <a:lnSpc>
                          <a:spcPct val="100000"/>
                        </a:lnSpc>
                        <a:defRPr/>
                      </a:pPr>
                      <a:r>
                        <a:rPr lang="en-US" sz="1300" b="0" i="0" u="none" strike="noStrike">
                          <a:solidFill>
                            <a:srgbClr val="374151"/>
                          </a:solidFill>
                          <a:latin typeface="Noto Sans SC"/>
                          <a:ea typeface="Noto Sans SC"/>
                          <a:cs typeface="Noto Sans SC"/>
                          <a:sym typeface="Noto Sans SC"/>
                        </a:rPr>
                        <a:t>将AHP方法创新性地应用于OKR决策场景</a:t>
                      </a:r>
                      <a:endParaRPr lang="en-US" sz="1100"/>
                    </a:p>
                  </a:txBody>
                  <a:tcPr marL="101600" marR="101600" marT="101600" marB="101600" anchor="ctr">
                    <a:lnL>
                      <a:noFill/>
                    </a:lnL>
                    <a:lnR>
                      <a:noFill/>
                    </a:lnR>
                    <a:lnT>
                      <a:noFill/>
                    </a:lnT>
                    <a:lnB>
                      <a:noFill/>
                    </a:lnB>
                    <a:solidFill>
                      <a:srgbClr val="F3F4F6">
                        <a:alpha val="100000"/>
                      </a:srgbClr>
                    </a:solidFill>
                  </a:tcPr>
                </a:tc>
                <a:tc>
                  <a:txBody>
                    <a:bodyPr/>
                    <a:lstStyle/>
                    <a:p>
                      <a:pPr indent="0" algn="l">
                        <a:lnSpc>
                          <a:spcPct val="100000"/>
                        </a:lnSpc>
                        <a:defRPr/>
                      </a:pPr>
                      <a:r>
                        <a:rPr lang="en-US" sz="1300" b="0" i="0" u="none" strike="noStrike">
                          <a:solidFill>
                            <a:srgbClr val="374151"/>
                          </a:solidFill>
                          <a:latin typeface="Noto Sans SC"/>
                          <a:ea typeface="Noto Sans SC"/>
                          <a:cs typeface="Noto Sans SC"/>
                          <a:sym typeface="Noto Sans SC"/>
                        </a:rPr>
                        <a:t>为团队提供开箱即用的决策工具，提升OKR落地效率</a:t>
                      </a:r>
                      <a:endParaRPr lang="en-US" sz="1100"/>
                    </a:p>
                  </a:txBody>
                  <a:tcPr marL="101600" marR="101600" marT="101600" marB="101600" anchor="ctr">
                    <a:lnL>
                      <a:noFill/>
                    </a:lnL>
                    <a:lnR>
                      <a:noFill/>
                    </a:lnR>
                    <a:lnT>
                      <a:noFill/>
                    </a:lnT>
                    <a:lnB>
                      <a:noFill/>
                    </a:lnB>
                    <a:solidFill>
                      <a:srgbClr val="F3F4F6">
                        <a:alpha val="100000"/>
                      </a:srgbClr>
                    </a:solidFill>
                  </a:tcPr>
                </a:tc>
                <a:extLst>
                  <a:ext uri="{0D108BD9-81ED-4DB2-BD59-A6C34878D82A}">
                    <a16:rowId xmlns:a16="http://schemas.microsoft.com/office/drawing/2014/main" val="10001"/>
                  </a:ext>
                </a:extLst>
              </a:tr>
              <a:tr h="762000">
                <a:tc>
                  <a:txBody>
                    <a:bodyPr/>
                    <a:lstStyle/>
                    <a:p>
                      <a:pPr indent="0" algn="l">
                        <a:lnSpc>
                          <a:spcPct val="100000"/>
                        </a:lnSpc>
                        <a:defRPr/>
                      </a:pPr>
                      <a:r>
                        <a:rPr lang="en-US" sz="1300" b="0" i="0" u="none" strike="noStrike">
                          <a:solidFill>
                            <a:srgbClr val="374151"/>
                          </a:solidFill>
                          <a:latin typeface="Noto Sans SC"/>
                          <a:ea typeface="Noto Sans SC"/>
                          <a:cs typeface="Noto Sans SC"/>
                          <a:sym typeface="Noto Sans SC"/>
                        </a:rPr>
                        <a:t>探索多准则决策的可视化交互方式，降低使用门槛</a:t>
                      </a:r>
                      <a:endParaRPr lang="en-US" sz="1100"/>
                    </a:p>
                  </a:txBody>
                  <a:tcPr marL="101600" marR="101600" marT="101600" marB="101600" anchor="ctr">
                    <a:lnL>
                      <a:noFill/>
                    </a:lnL>
                    <a:lnR>
                      <a:noFill/>
                    </a:lnR>
                    <a:lnT>
                      <a:noFill/>
                    </a:lnT>
                    <a:lnB>
                      <a:noFill/>
                    </a:lnB>
                    <a:solidFill>
                      <a:srgbClr val="FFFFFF">
                        <a:alpha val="100000"/>
                      </a:srgbClr>
                    </a:solidFill>
                  </a:tcPr>
                </a:tc>
                <a:tc>
                  <a:txBody>
                    <a:bodyPr/>
                    <a:lstStyle/>
                    <a:p>
                      <a:pPr indent="0" algn="l">
                        <a:lnSpc>
                          <a:spcPct val="100000"/>
                        </a:lnSpc>
                        <a:defRPr/>
                      </a:pPr>
                      <a:r>
                        <a:rPr lang="en-US" sz="1300" b="0" i="0" u="none" strike="noStrike">
                          <a:solidFill>
                            <a:srgbClr val="374151"/>
                          </a:solidFill>
                          <a:latin typeface="Noto Sans SC"/>
                          <a:ea typeface="Noto Sans SC"/>
                          <a:cs typeface="Noto Sans SC"/>
                          <a:sym typeface="Noto Sans SC"/>
                        </a:rPr>
                        <a:t>提升OKR决策的科学性和执行力，促进数据驱动文化</a:t>
                      </a:r>
                      <a:endParaRPr lang="en-US" sz="1100"/>
                    </a:p>
                  </a:txBody>
                  <a:tcPr marL="101600" marR="101600" marT="101600" marB="101600" anchor="ctr">
                    <a:lnL>
                      <a:noFill/>
                    </a:lnL>
                    <a:lnR>
                      <a:noFill/>
                    </a:lnR>
                    <a:lnT>
                      <a:noFill/>
                    </a:lnT>
                    <a:lnB>
                      <a:noFill/>
                    </a:lnB>
                    <a:solidFill>
                      <a:srgbClr val="FFFFFF">
                        <a:alpha val="100000"/>
                      </a:srgbClr>
                    </a:solidFill>
                  </a:tcPr>
                </a:tc>
                <a:extLst>
                  <a:ext uri="{0D108BD9-81ED-4DB2-BD59-A6C34878D82A}">
                    <a16:rowId xmlns:a16="http://schemas.microsoft.com/office/drawing/2014/main" val="10002"/>
                  </a:ext>
                </a:extLst>
              </a:tr>
              <a:tr h="762000">
                <a:tc>
                  <a:txBody>
                    <a:bodyPr/>
                    <a:lstStyle/>
                    <a:p>
                      <a:pPr indent="0" algn="l">
                        <a:lnSpc>
                          <a:spcPct val="100000"/>
                        </a:lnSpc>
                        <a:defRPr/>
                      </a:pPr>
                      <a:r>
                        <a:rPr lang="en-US" sz="1300" b="0" i="0" u="none" strike="noStrike">
                          <a:solidFill>
                            <a:srgbClr val="374151"/>
                          </a:solidFill>
                          <a:latin typeface="Noto Sans SC"/>
                          <a:ea typeface="Noto Sans SC"/>
                          <a:cs typeface="Noto Sans SC"/>
                          <a:sym typeface="Noto Sans SC"/>
                        </a:rPr>
                        <a:t>丰富了AHP方法在管理学领域的应用案例</a:t>
                      </a:r>
                      <a:endParaRPr lang="en-US" sz="1100"/>
                    </a:p>
                  </a:txBody>
                  <a:tcPr marL="101600" marR="101600" marT="101600" marB="101600" anchor="ctr">
                    <a:lnL>
                      <a:noFill/>
                    </a:lnL>
                    <a:lnR>
                      <a:noFill/>
                    </a:lnR>
                    <a:lnT>
                      <a:noFill/>
                    </a:lnT>
                    <a:lnB>
                      <a:noFill/>
                    </a:lnB>
                    <a:solidFill>
                      <a:srgbClr val="F3F4F6">
                        <a:alpha val="100000"/>
                      </a:srgbClr>
                    </a:solidFill>
                  </a:tcPr>
                </a:tc>
                <a:tc>
                  <a:txBody>
                    <a:bodyPr/>
                    <a:lstStyle/>
                    <a:p>
                      <a:pPr indent="0" algn="l">
                        <a:lnSpc>
                          <a:spcPct val="100000"/>
                        </a:lnSpc>
                        <a:defRPr/>
                      </a:pPr>
                      <a:r>
                        <a:rPr lang="en-US" sz="1300" b="0" i="0" u="none" strike="noStrike">
                          <a:solidFill>
                            <a:srgbClr val="374151"/>
                          </a:solidFill>
                          <a:latin typeface="Noto Sans SC"/>
                          <a:ea typeface="Noto Sans SC"/>
                          <a:cs typeface="Noto Sans SC"/>
                          <a:sym typeface="Noto Sans SC"/>
                        </a:rPr>
                        <a:t>帮助团队在有限资源下做出最优选择，提升整体效能</a:t>
                      </a:r>
                      <a:endParaRPr lang="en-US" sz="1100"/>
                    </a:p>
                  </a:txBody>
                  <a:tcPr marL="101600" marR="101600" marT="101600" marB="101600" anchor="ctr">
                    <a:lnL>
                      <a:noFill/>
                    </a:lnL>
                    <a:lnR>
                      <a:noFill/>
                    </a:lnR>
                    <a:lnT>
                      <a:noFill/>
                    </a:lnT>
                    <a:lnB>
                      <a:noFill/>
                    </a:lnB>
                    <a:solidFill>
                      <a:srgbClr val="F3F4F6">
                        <a:alpha val="100000"/>
                      </a:srgbClr>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FFFFFF">
              <a:alpha val="9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508000"/>
            <a:ext cx="75438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0D6EFD"/>
                </a:solidFill>
                <a:latin typeface="Noto Sans SC"/>
                <a:ea typeface="Noto Sans SC"/>
                <a:cs typeface="Noto Sans SC"/>
                <a:sym typeface="Noto Sans SC"/>
              </a:rPr>
              <a:t>多准则决策方法概述 (MCDM)</a:t>
            </a:r>
            <a:endParaRPr lang="en-US" sz="1100"/>
          </a:p>
        </p:txBody>
      </p:sp>
      <p:sp>
        <p:nvSpPr>
          <p:cNvPr id="5" name="AutoShape 5"/>
          <p:cNvSpPr/>
          <p:nvPr/>
        </p:nvSpPr>
        <p:spPr>
          <a:xfrm>
            <a:off x="762000" y="1397000"/>
            <a:ext cx="5080000" cy="1651000"/>
          </a:xfrm>
          <a:prstGeom prst="roundRect">
            <a:avLst>
              <a:gd name="adj" fmla="val 7692"/>
            </a:avLst>
          </a:prstGeom>
          <a:solidFill>
            <a:srgbClr val="EFF6FF">
              <a:alpha val="100000"/>
            </a:srgbClr>
          </a:solidFill>
          <a:ln w="12700" cap="flat" cmpd="sng">
            <a:solidFill>
              <a:srgbClr val="BFDBFE">
                <a:alpha val="100000"/>
              </a:srgbClr>
            </a:solid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889000" y="1524000"/>
            <a:ext cx="4826000" cy="1397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D6EFD"/>
                </a:solidFill>
                <a:latin typeface="Noto Sans SC"/>
                <a:ea typeface="Noto Sans SC"/>
                <a:cs typeface="Noto Sans SC"/>
                <a:sym typeface="Noto Sans SC"/>
              </a:rPr>
              <a:t>核心定义</a:t>
            </a:r>
            <a:endParaRPr lang="en-US" sz="1100"/>
          </a:p>
          <a:p>
            <a:pPr indent="0" algn="l">
              <a:lnSpc>
                <a:spcPct val="125000"/>
              </a:lnSpc>
            </a:pPr>
            <a:r>
              <a:rPr lang="en-US" sz="1400" b="0" i="0" u="none" strike="noStrike">
                <a:solidFill>
                  <a:srgbClr val="374151"/>
                </a:solidFill>
                <a:latin typeface="Noto Sans SC"/>
                <a:ea typeface="Noto Sans SC"/>
                <a:cs typeface="Noto Sans SC"/>
                <a:sym typeface="Noto Sans SC"/>
              </a:rPr>
              <a:t>多准则决策方法 (MCDM) 是在多个相互冲突的准则下，从有限方案集中选择最优方案的理论体系。广泛应用于工程、经济、管理等领域。</a:t>
            </a:r>
          </a:p>
        </p:txBody>
      </p:sp>
      <p:sp>
        <p:nvSpPr>
          <p:cNvPr id="7" name="AutoShape 7"/>
          <p:cNvSpPr/>
          <p:nvPr/>
        </p:nvSpPr>
        <p:spPr>
          <a:xfrm>
            <a:off x="762000" y="3302000"/>
            <a:ext cx="5080000" cy="1651000"/>
          </a:xfrm>
          <a:prstGeom prst="roundRect">
            <a:avLst>
              <a:gd name="adj" fmla="val 7692"/>
            </a:avLst>
          </a:prstGeom>
          <a:solidFill>
            <a:srgbClr val="F0FDF4">
              <a:alpha val="100000"/>
            </a:srgbClr>
          </a:solidFill>
          <a:ln w="12700" cap="flat" cmpd="sng">
            <a:solidFill>
              <a:srgbClr val="BBF7D0">
                <a:alpha val="100000"/>
              </a:srgbClr>
            </a:solid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889000" y="3429000"/>
            <a:ext cx="4826000" cy="1397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5803D"/>
                </a:solidFill>
                <a:latin typeface="Noto Sans SC"/>
                <a:ea typeface="Noto Sans SC"/>
                <a:cs typeface="Noto Sans SC"/>
                <a:sym typeface="Noto Sans SC"/>
              </a:rPr>
              <a:t>本研究方法选择</a:t>
            </a:r>
            <a:endParaRPr lang="en-US" sz="1100"/>
          </a:p>
          <a:p>
            <a:pPr indent="0" algn="l">
              <a:lnSpc>
                <a:spcPct val="125000"/>
              </a:lnSpc>
            </a:pPr>
            <a:r>
              <a:rPr lang="en-US" sz="1400" b="0" i="0" u="none" strike="noStrike">
                <a:solidFill>
                  <a:srgbClr val="374151"/>
                </a:solidFill>
                <a:latin typeface="Noto Sans SC"/>
                <a:ea typeface="Noto Sans SC"/>
                <a:cs typeface="Noto Sans SC"/>
                <a:sym typeface="Noto Sans SC"/>
              </a:rPr>
              <a:t>选择</a:t>
            </a:r>
            <a:r>
              <a:rPr lang="en-US" sz="1400" b="1" i="0" u="none" strike="noStrike">
                <a:solidFill>
                  <a:srgbClr val="15803D"/>
                </a:solidFill>
                <a:latin typeface="Noto Sans SC"/>
                <a:ea typeface="Noto Sans SC"/>
                <a:cs typeface="Noto Sans SC"/>
                <a:sym typeface="Noto Sans SC"/>
              </a:rPr>
              <a:t>层次分析法 (AHP)</a:t>
            </a:r>
            <a:r>
              <a:rPr lang="en-US" sz="1400" b="0" i="0" u="none" strike="noStrike">
                <a:solidFill>
                  <a:srgbClr val="374151"/>
                </a:solidFill>
                <a:latin typeface="Noto Sans SC"/>
                <a:ea typeface="Noto Sans SC"/>
                <a:cs typeface="Noto Sans SC"/>
                <a:sym typeface="Noto Sans SC"/>
              </a:rPr>
              <a:t>作为核心方法。理由：能有效处理定性与定量结合的问题，逻辑清晰，计算过程透明，易于理解和验证。</a:t>
            </a:r>
          </a:p>
        </p:txBody>
      </p:sp>
      <p:sp>
        <p:nvSpPr>
          <p:cNvPr id="9" name="AutoShape 9"/>
          <p:cNvSpPr/>
          <p:nvPr/>
        </p:nvSpPr>
        <p:spPr>
          <a:xfrm>
            <a:off x="6350000" y="1397000"/>
            <a:ext cx="508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D6EFD"/>
                </a:solidFill>
                <a:latin typeface="Noto Sans SC"/>
                <a:ea typeface="Noto Sans SC"/>
                <a:cs typeface="Noto Sans SC"/>
                <a:sym typeface="Noto Sans SC"/>
              </a:rPr>
              <a:t>经典 MCDM 方法体系</a:t>
            </a:r>
            <a:endParaRPr lang="en-US" sz="1100"/>
          </a:p>
        </p:txBody>
      </p:sp>
      <p:sp>
        <p:nvSpPr>
          <p:cNvPr id="10" name="AutoShape 10"/>
          <p:cNvSpPr/>
          <p:nvPr/>
        </p:nvSpPr>
        <p:spPr>
          <a:xfrm>
            <a:off x="6350000" y="1905000"/>
            <a:ext cx="5080000" cy="762000"/>
          </a:xfrm>
          <a:prstGeom prst="roundRect">
            <a:avLst>
              <a:gd name="adj" fmla="val 8333"/>
            </a:avLst>
          </a:prstGeom>
          <a:solidFill>
            <a:srgbClr val="FFFFFF">
              <a:alpha val="100000"/>
            </a:srgbClr>
          </a:solidFill>
          <a:ln w="12700" cap="flat" cmpd="sng">
            <a:solidFill>
              <a:srgbClr val="E5E7EB">
                <a:alpha val="100000"/>
              </a:srgbClr>
            </a:solidFill>
            <a:prstDash val="solid"/>
            <a:round/>
          </a:ln>
          <a:effectLst>
            <a:outerShdw blurRad="101600" dist="50800" dir="5400000" algn="tl" rotWithShape="0">
              <a:srgbClr val="000000">
                <a:alpha val="5000"/>
              </a:srgbClr>
            </a:outerShdw>
          </a:effectLst>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540500" y="2082800"/>
            <a:ext cx="406400" cy="406400"/>
          </a:xfrm>
          <a:prstGeom prst="rect">
            <a:avLst/>
          </a:prstGeom>
        </p:spPr>
      </p:pic>
      <p:sp>
        <p:nvSpPr>
          <p:cNvPr id="12" name="AutoShape 12"/>
          <p:cNvSpPr/>
          <p:nvPr/>
        </p:nvSpPr>
        <p:spPr>
          <a:xfrm>
            <a:off x="7048500" y="1968500"/>
            <a:ext cx="431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937"/>
                </a:solidFill>
                <a:latin typeface="Noto Sans SC"/>
                <a:ea typeface="Noto Sans SC"/>
                <a:cs typeface="Noto Sans SC"/>
                <a:sym typeface="Noto Sans SC"/>
              </a:rPr>
              <a:t>层次分析法 (AHP)</a:t>
            </a:r>
            <a:endParaRPr lang="en-US" sz="1100"/>
          </a:p>
          <a:p>
            <a:pPr indent="0" algn="l">
              <a:lnSpc>
                <a:spcPct val="125000"/>
              </a:lnSpc>
            </a:pPr>
            <a:r>
              <a:rPr lang="en-US" sz="1200" b="0" i="0" u="none" strike="noStrike">
                <a:solidFill>
                  <a:srgbClr val="6B7280"/>
                </a:solidFill>
                <a:latin typeface="Noto Sans SC"/>
                <a:ea typeface="Noto Sans SC"/>
                <a:cs typeface="Noto Sans SC"/>
                <a:sym typeface="Noto Sans SC"/>
              </a:rPr>
              <a:t>分解复杂问题为层次结构，通过两两比较确定权重。</a:t>
            </a:r>
          </a:p>
        </p:txBody>
      </p:sp>
      <p:sp>
        <p:nvSpPr>
          <p:cNvPr id="13" name="AutoShape 13"/>
          <p:cNvSpPr/>
          <p:nvPr/>
        </p:nvSpPr>
        <p:spPr>
          <a:xfrm>
            <a:off x="6350000" y="2794000"/>
            <a:ext cx="5080000" cy="762000"/>
          </a:xfrm>
          <a:prstGeom prst="roundRect">
            <a:avLst>
              <a:gd name="adj" fmla="val 8333"/>
            </a:avLst>
          </a:prstGeom>
          <a:solidFill>
            <a:srgbClr val="FFFFFF">
              <a:alpha val="100000"/>
            </a:srgbClr>
          </a:solidFill>
          <a:ln w="12700" cap="flat" cmpd="sng">
            <a:solidFill>
              <a:srgbClr val="E5E7EB">
                <a:alpha val="100000"/>
              </a:srgbClr>
            </a:solidFill>
            <a:prstDash val="solid"/>
            <a:round/>
          </a:ln>
          <a:effectLst>
            <a:outerShdw blurRad="101600" dist="50800" dir="5400000" algn="tl" rotWithShape="0">
              <a:srgbClr val="000000">
                <a:alpha val="5000"/>
              </a:srgbClr>
            </a:outerShdw>
          </a:effectLst>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540500" y="2971800"/>
            <a:ext cx="406400" cy="406400"/>
          </a:xfrm>
          <a:prstGeom prst="rect">
            <a:avLst/>
          </a:prstGeom>
        </p:spPr>
      </p:pic>
      <p:sp>
        <p:nvSpPr>
          <p:cNvPr id="15" name="AutoShape 15"/>
          <p:cNvSpPr/>
          <p:nvPr/>
        </p:nvSpPr>
        <p:spPr>
          <a:xfrm>
            <a:off x="7048500" y="2857500"/>
            <a:ext cx="431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937"/>
                </a:solidFill>
                <a:latin typeface="Noto Sans SC"/>
                <a:ea typeface="Noto Sans SC"/>
                <a:cs typeface="Noto Sans SC"/>
                <a:sym typeface="Noto Sans SC"/>
              </a:rPr>
              <a:t>模糊综合评价法 (FCE)</a:t>
            </a:r>
            <a:endParaRPr lang="en-US" sz="1100"/>
          </a:p>
          <a:p>
            <a:pPr indent="0" algn="l">
              <a:lnSpc>
                <a:spcPct val="125000"/>
              </a:lnSpc>
            </a:pPr>
            <a:r>
              <a:rPr lang="en-US" sz="1200" b="0" i="0" u="none" strike="noStrike">
                <a:solidFill>
                  <a:srgbClr val="6B7280"/>
                </a:solidFill>
                <a:latin typeface="Noto Sans SC"/>
                <a:ea typeface="Noto Sans SC"/>
                <a:cs typeface="Noto Sans SC"/>
                <a:sym typeface="Noto Sans SC"/>
              </a:rPr>
              <a:t>引入模糊数学理论，有效处理模糊和不确定信息。</a:t>
            </a:r>
          </a:p>
        </p:txBody>
      </p:sp>
      <p:sp>
        <p:nvSpPr>
          <p:cNvPr id="16" name="AutoShape 16"/>
          <p:cNvSpPr/>
          <p:nvPr/>
        </p:nvSpPr>
        <p:spPr>
          <a:xfrm>
            <a:off x="6350000" y="3683000"/>
            <a:ext cx="5080000" cy="762000"/>
          </a:xfrm>
          <a:prstGeom prst="roundRect">
            <a:avLst>
              <a:gd name="adj" fmla="val 8333"/>
            </a:avLst>
          </a:prstGeom>
          <a:solidFill>
            <a:srgbClr val="FFFFFF">
              <a:alpha val="100000"/>
            </a:srgbClr>
          </a:solidFill>
          <a:ln w="12700" cap="flat" cmpd="sng">
            <a:solidFill>
              <a:srgbClr val="E5E7EB">
                <a:alpha val="100000"/>
              </a:srgbClr>
            </a:solidFill>
            <a:prstDash val="solid"/>
            <a:round/>
          </a:ln>
          <a:effectLst>
            <a:outerShdw blurRad="101600" dist="50800" dir="5400000" algn="tl" rotWithShape="0">
              <a:srgbClr val="000000">
                <a:alpha val="5000"/>
              </a:srgbClr>
            </a:outerShdw>
          </a:effectLst>
        </p:spPr>
        <p:txBody>
          <a:bodyPr vert="horz" wrap="square" lIns="63500" tIns="63500" rIns="63500" bIns="63500" rtlCol="0" anchor="ctr"/>
          <a:lstStyle/>
          <a:p>
            <a:pPr algn="ctr">
              <a:defRPr/>
            </a:pPr>
            <a:endParaRPr/>
          </a:p>
        </p:txBody>
      </p:sp>
      <p:pic>
        <p:nvPicPr>
          <p:cNvPr id="17" name="Picture 17"/>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540500" y="3860800"/>
            <a:ext cx="406400" cy="406400"/>
          </a:xfrm>
          <a:prstGeom prst="rect">
            <a:avLst/>
          </a:prstGeom>
        </p:spPr>
      </p:pic>
      <p:sp>
        <p:nvSpPr>
          <p:cNvPr id="18" name="AutoShape 18"/>
          <p:cNvSpPr/>
          <p:nvPr/>
        </p:nvSpPr>
        <p:spPr>
          <a:xfrm>
            <a:off x="7048500" y="3746500"/>
            <a:ext cx="431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937"/>
                </a:solidFill>
                <a:latin typeface="Noto Sans SC"/>
                <a:ea typeface="Noto Sans SC"/>
                <a:cs typeface="Noto Sans SC"/>
                <a:sym typeface="Noto Sans SC"/>
              </a:rPr>
              <a:t>数据包络分析 (DEA)</a:t>
            </a:r>
            <a:endParaRPr lang="en-US" sz="1100"/>
          </a:p>
          <a:p>
            <a:pPr indent="0" algn="l">
              <a:lnSpc>
                <a:spcPct val="125000"/>
              </a:lnSpc>
            </a:pPr>
            <a:r>
              <a:rPr lang="en-US" sz="1200" b="0" i="0" u="none" strike="noStrike">
                <a:solidFill>
                  <a:srgbClr val="6B7280"/>
                </a:solidFill>
                <a:latin typeface="Noto Sans SC"/>
                <a:ea typeface="Noto Sans SC"/>
                <a:cs typeface="Noto Sans SC"/>
                <a:sym typeface="Noto Sans SC"/>
              </a:rPr>
              <a:t>主要用于评估决策单元(DMU)的相对效率。</a:t>
            </a:r>
          </a:p>
        </p:txBody>
      </p:sp>
      <p:sp>
        <p:nvSpPr>
          <p:cNvPr id="19" name="AutoShape 19"/>
          <p:cNvSpPr/>
          <p:nvPr/>
        </p:nvSpPr>
        <p:spPr>
          <a:xfrm>
            <a:off x="6350000" y="4572000"/>
            <a:ext cx="5080000" cy="762000"/>
          </a:xfrm>
          <a:prstGeom prst="roundRect">
            <a:avLst>
              <a:gd name="adj" fmla="val 8333"/>
            </a:avLst>
          </a:prstGeom>
          <a:solidFill>
            <a:srgbClr val="FFFFFF">
              <a:alpha val="100000"/>
            </a:srgbClr>
          </a:solidFill>
          <a:ln w="12700" cap="flat" cmpd="sng">
            <a:solidFill>
              <a:srgbClr val="E5E7EB">
                <a:alpha val="100000"/>
              </a:srgbClr>
            </a:solidFill>
            <a:prstDash val="solid"/>
            <a:round/>
          </a:ln>
          <a:effectLst>
            <a:outerShdw blurRad="101600" dist="50800" dir="5400000" algn="tl" rotWithShape="0">
              <a:srgbClr val="000000">
                <a:alpha val="5000"/>
              </a:srgbClr>
            </a:outerShdw>
          </a:effectLst>
        </p:spPr>
        <p:txBody>
          <a:bodyPr vert="horz" wrap="square" lIns="63500" tIns="63500" rIns="63500" bIns="63500" rtlCol="0" anchor="ctr"/>
          <a:lstStyle/>
          <a:p>
            <a:pPr algn="ctr">
              <a:defRPr/>
            </a:pPr>
            <a:endParaRPr/>
          </a:p>
        </p:txBody>
      </p:sp>
      <p:pic>
        <p:nvPicPr>
          <p:cNvPr id="20" name="Picture 20"/>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540500" y="4749800"/>
            <a:ext cx="406400" cy="406400"/>
          </a:xfrm>
          <a:prstGeom prst="rect">
            <a:avLst/>
          </a:prstGeom>
        </p:spPr>
      </p:pic>
      <p:sp>
        <p:nvSpPr>
          <p:cNvPr id="21" name="AutoShape 21"/>
          <p:cNvSpPr/>
          <p:nvPr/>
        </p:nvSpPr>
        <p:spPr>
          <a:xfrm>
            <a:off x="7048500" y="4635500"/>
            <a:ext cx="431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937"/>
                </a:solidFill>
                <a:latin typeface="Noto Sans SC"/>
                <a:ea typeface="Noto Sans SC"/>
                <a:cs typeface="Noto Sans SC"/>
                <a:sym typeface="Noto Sans SC"/>
              </a:rPr>
              <a:t>TOPSIS 法</a:t>
            </a:r>
            <a:endParaRPr lang="en-US" sz="1100"/>
          </a:p>
          <a:p>
            <a:pPr indent="0" algn="l">
              <a:lnSpc>
                <a:spcPct val="125000"/>
              </a:lnSpc>
            </a:pPr>
            <a:r>
              <a:rPr lang="en-US" sz="1200" b="0" i="0" u="none" strike="noStrike">
                <a:solidFill>
                  <a:srgbClr val="6B7280"/>
                </a:solidFill>
                <a:latin typeface="Noto Sans SC"/>
                <a:ea typeface="Noto Sans SC"/>
                <a:cs typeface="Noto Sans SC"/>
                <a:sym typeface="Noto Sans SC"/>
              </a:rPr>
              <a:t>通过计算方案与理想解的距离进行优劣排序。</a:t>
            </a:r>
          </a:p>
        </p:txBody>
      </p:sp>
      <p:sp>
        <p:nvSpPr>
          <p:cNvPr id="22" name="AutoShape 22"/>
          <p:cNvSpPr/>
          <p:nvPr/>
        </p:nvSpPr>
        <p:spPr>
          <a:xfrm>
            <a:off x="762000" y="5715000"/>
            <a:ext cx="10668000" cy="25400"/>
          </a:xfrm>
          <a:prstGeom prst="roundRect">
            <a:avLst>
              <a:gd name="adj" fmla="val 0"/>
            </a:avLst>
          </a:prstGeom>
          <a:solidFill>
            <a:srgbClr val="E5E7E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3" name="AutoShape 23"/>
          <p:cNvSpPr/>
          <p:nvPr/>
        </p:nvSpPr>
        <p:spPr>
          <a:xfrm>
            <a:off x="762000" y="5842000"/>
            <a:ext cx="10668000" cy="381000"/>
          </a:xfrm>
          <a:prstGeom prst="rect">
            <a:avLst/>
          </a:prstGeom>
          <a:noFill/>
          <a:ln w="12700" cap="flat" cmpd="sng">
            <a:noFill/>
            <a:prstDash val="solid"/>
            <a:round/>
          </a:ln>
        </p:spPr>
        <p:txBody>
          <a:bodyPr vert="horz" wrap="square" lIns="0" tIns="0" rIns="0" bIns="0" rtlCol="0" anchor="ctr" anchorCtr="0"/>
          <a:lstStyle/>
          <a:p>
            <a:pPr indent="0" algn="r">
              <a:lnSpc>
                <a:spcPct val="125000"/>
              </a:lnSpc>
              <a:defRPr/>
            </a:pPr>
            <a:r>
              <a:rPr lang="en-US" sz="1200" b="0" i="0" u="none" strike="noStrike">
                <a:solidFill>
                  <a:srgbClr val="9CA3AF"/>
                </a:solidFill>
                <a:latin typeface="Noto Sans SC"/>
                <a:ea typeface="Noto Sans SC"/>
                <a:cs typeface="Noto Sans SC"/>
                <a:sym typeface="Noto Sans SC"/>
              </a:rPr>
              <a:t>MCDM 理论体系广泛应用于复杂系统决策场景</a:t>
            </a:r>
            <a:endParaRPr lang="en-US"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FFFFFF">
              <a:alpha val="9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508000"/>
            <a:ext cx="60325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0D6EFD"/>
                </a:solidFill>
                <a:latin typeface="Noto Sans SC"/>
                <a:ea typeface="Noto Sans SC"/>
                <a:cs typeface="Noto Sans SC"/>
                <a:sym typeface="Noto Sans SC"/>
              </a:rPr>
              <a:t>层次分析法原理 (AHP)</a:t>
            </a:r>
            <a:endParaRPr lang="en-US" sz="1100"/>
          </a:p>
        </p:txBody>
      </p:sp>
      <p:sp>
        <p:nvSpPr>
          <p:cNvPr id="5" name="AutoShape 5"/>
          <p:cNvSpPr/>
          <p:nvPr/>
        </p:nvSpPr>
        <p:spPr>
          <a:xfrm>
            <a:off x="762000" y="1397000"/>
            <a:ext cx="5080000" cy="762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600" b="0" i="0" u="none" strike="noStrike">
                <a:solidFill>
                  <a:srgbClr val="343A40"/>
                </a:solidFill>
                <a:latin typeface="Noto Sans SC"/>
                <a:ea typeface="Noto Sans SC"/>
                <a:cs typeface="Noto Sans SC"/>
                <a:sym typeface="Noto Sans SC"/>
              </a:rPr>
              <a:t>层次分析法 (AHP) 由美国运筹学家 Thomas L. Saaty 于20世纪70年代提出，是一种将定性与定量分析相结合的多准则决策方法。</a:t>
            </a:r>
            <a:endParaRPr lang="en-US" sz="1100"/>
          </a:p>
        </p:txBody>
      </p:sp>
      <p:sp>
        <p:nvSpPr>
          <p:cNvPr id="6" name="AutoShape 6"/>
          <p:cNvSpPr/>
          <p:nvPr/>
        </p:nvSpPr>
        <p:spPr>
          <a:xfrm>
            <a:off x="762000" y="2286000"/>
            <a:ext cx="508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D6EFD"/>
                </a:solidFill>
                <a:latin typeface="Noto Sans SC"/>
                <a:ea typeface="Noto Sans SC"/>
                <a:cs typeface="Noto Sans SC"/>
                <a:sym typeface="Noto Sans SC"/>
              </a:rPr>
              <a:t>核心思想：四步分析法</a:t>
            </a:r>
            <a:endParaRPr lang="en-US" sz="1100"/>
          </a:p>
        </p:txBody>
      </p:sp>
      <p:sp>
        <p:nvSpPr>
          <p:cNvPr id="7" name="AutoShape 7"/>
          <p:cNvSpPr/>
          <p:nvPr/>
        </p:nvSpPr>
        <p:spPr>
          <a:xfrm>
            <a:off x="762000" y="2730500"/>
            <a:ext cx="5080000" cy="1524000"/>
          </a:xfrm>
          <a:prstGeom prst="rect">
            <a:avLst/>
          </a:prstGeom>
          <a:noFill/>
          <a:ln w="12700" cap="flat" cmpd="sng">
            <a:noFill/>
            <a:prstDash val="solid"/>
            <a:round/>
          </a:ln>
        </p:spPr>
        <p:txBody>
          <a:bodyPr vert="horz" wrap="square" lIns="0" tIns="0" rIns="0" bIns="0" rtlCol="0" anchor="ctr" anchorCtr="0"/>
          <a:lstStyle/>
          <a:p>
            <a:pPr marL="190500" indent="-190500" algn="l">
              <a:lnSpc>
                <a:spcPct val="116666"/>
              </a:lnSpc>
              <a:buClr>
                <a:srgbClr val="495057"/>
              </a:buClr>
              <a:buChar char="•"/>
              <a:defRPr/>
            </a:pPr>
            <a:r>
              <a:rPr lang="en-US" sz="1500" b="1" i="0" u="none" strike="noStrike">
                <a:solidFill>
                  <a:srgbClr val="495057"/>
                </a:solidFill>
                <a:latin typeface="Noto Sans SC"/>
                <a:ea typeface="Noto Sans SC"/>
                <a:cs typeface="Noto Sans SC"/>
                <a:sym typeface="Noto Sans SC"/>
              </a:rPr>
              <a:t>分解：</a:t>
            </a:r>
            <a:r>
              <a:rPr lang="en-US" sz="1500" b="0" i="0" u="none" strike="noStrike">
                <a:solidFill>
                  <a:srgbClr val="495057"/>
                </a:solidFill>
                <a:latin typeface="Noto Sans SC"/>
                <a:ea typeface="Noto Sans SC"/>
                <a:cs typeface="Noto Sans SC"/>
                <a:sym typeface="Noto Sans SC"/>
              </a:rPr>
              <a:t>将复杂问题拆解为目标、准则、方案等层次结构。</a:t>
            </a:r>
            <a:endParaRPr lang="en-US" sz="1100"/>
          </a:p>
          <a:p>
            <a:pPr marL="190500" indent="-190500" algn="l">
              <a:lnSpc>
                <a:spcPct val="116666"/>
              </a:lnSpc>
              <a:buClr>
                <a:srgbClr val="495057"/>
              </a:buClr>
              <a:buChar char="•"/>
            </a:pPr>
            <a:r>
              <a:rPr lang="en-US" sz="1500" b="1" i="0" u="none" strike="noStrike">
                <a:solidFill>
                  <a:srgbClr val="495057"/>
                </a:solidFill>
                <a:latin typeface="Noto Sans SC"/>
                <a:ea typeface="Noto Sans SC"/>
                <a:cs typeface="Noto Sans SC"/>
                <a:sym typeface="Noto Sans SC"/>
              </a:rPr>
              <a:t>比较：</a:t>
            </a:r>
            <a:r>
              <a:rPr lang="en-US" sz="1500" b="0" i="0" u="none" strike="noStrike">
                <a:solidFill>
                  <a:srgbClr val="495057"/>
                </a:solidFill>
                <a:latin typeface="Noto Sans SC"/>
                <a:ea typeface="Noto Sans SC"/>
                <a:cs typeface="Noto Sans SC"/>
                <a:sym typeface="Noto Sans SC"/>
              </a:rPr>
              <a:t>对同一层次元素进行两两比较，构建判断矩阵。</a:t>
            </a:r>
          </a:p>
          <a:p>
            <a:pPr marL="190500" indent="-190500" algn="l">
              <a:lnSpc>
                <a:spcPct val="116666"/>
              </a:lnSpc>
              <a:buClr>
                <a:srgbClr val="495057"/>
              </a:buClr>
              <a:buChar char="•"/>
            </a:pPr>
            <a:r>
              <a:rPr lang="en-US" sz="1500" b="1" i="0" u="none" strike="noStrike">
                <a:solidFill>
                  <a:srgbClr val="495057"/>
                </a:solidFill>
                <a:latin typeface="Noto Sans SC"/>
                <a:ea typeface="Noto Sans SC"/>
                <a:cs typeface="Noto Sans SC"/>
                <a:sym typeface="Noto Sans SC"/>
              </a:rPr>
              <a:t>计算：</a:t>
            </a:r>
            <a:r>
              <a:rPr lang="en-US" sz="1500" b="0" i="0" u="none" strike="noStrike">
                <a:solidFill>
                  <a:srgbClr val="495057"/>
                </a:solidFill>
                <a:latin typeface="Noto Sans SC"/>
                <a:ea typeface="Noto Sans SC"/>
                <a:cs typeface="Noto Sans SC"/>
                <a:sym typeface="Noto Sans SC"/>
              </a:rPr>
              <a:t>通过数学方法计算各元素的权重向量。</a:t>
            </a:r>
          </a:p>
          <a:p>
            <a:pPr marL="190500" indent="-190500" algn="l">
              <a:lnSpc>
                <a:spcPct val="116666"/>
              </a:lnSpc>
              <a:buClr>
                <a:srgbClr val="495057"/>
              </a:buClr>
              <a:buChar char="•"/>
            </a:pPr>
            <a:r>
              <a:rPr lang="en-US" sz="1500" b="1" i="0" u="none" strike="noStrike">
                <a:solidFill>
                  <a:srgbClr val="495057"/>
                </a:solidFill>
                <a:latin typeface="Noto Sans SC"/>
                <a:ea typeface="Noto Sans SC"/>
                <a:cs typeface="Noto Sans SC"/>
                <a:sym typeface="Noto Sans SC"/>
              </a:rPr>
              <a:t>检验：</a:t>
            </a:r>
            <a:r>
              <a:rPr lang="en-US" sz="1500" b="0" i="0" u="none" strike="noStrike">
                <a:solidFill>
                  <a:srgbClr val="495057"/>
                </a:solidFill>
                <a:latin typeface="Noto Sans SC"/>
                <a:ea typeface="Noto Sans SC"/>
                <a:cs typeface="Noto Sans SC"/>
                <a:sym typeface="Noto Sans SC"/>
              </a:rPr>
              <a:t>进行一致性检验，确保逻辑合理性。</a:t>
            </a:r>
          </a:p>
        </p:txBody>
      </p:sp>
      <p:sp>
        <p:nvSpPr>
          <p:cNvPr id="8" name="AutoShape 8"/>
          <p:cNvSpPr/>
          <p:nvPr/>
        </p:nvSpPr>
        <p:spPr>
          <a:xfrm>
            <a:off x="762000" y="4445000"/>
            <a:ext cx="5080000" cy="1016000"/>
          </a:xfrm>
          <a:prstGeom prst="roundRect">
            <a:avLst>
              <a:gd name="adj" fmla="val 12500"/>
            </a:avLst>
          </a:prstGeom>
          <a:solidFill>
            <a:srgbClr val="EFF6FF">
              <a:alpha val="100000"/>
            </a:srgbClr>
          </a:solidFill>
          <a:ln w="12700" cap="flat" cmpd="sng">
            <a:solidFill>
              <a:srgbClr val="BFDBFE">
                <a:alpha val="100000"/>
              </a:srgbClr>
            </a:solid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889000" y="4572000"/>
            <a:ext cx="4826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D6EFD"/>
                </a:solidFill>
                <a:latin typeface="Noto Sans SC"/>
                <a:ea typeface="Noto Sans SC"/>
                <a:cs typeface="Noto Sans SC"/>
                <a:sym typeface="Noto Sans SC"/>
              </a:rPr>
              <a:t>数学基础：特征根法</a:t>
            </a:r>
            <a:endParaRPr lang="en-US" sz="1100"/>
          </a:p>
          <a:p>
            <a:pPr indent="0" algn="l">
              <a:lnSpc>
                <a:spcPct val="125000"/>
              </a:lnSpc>
            </a:pPr>
            <a:r>
              <a:rPr lang="en-US" sz="1400" b="0" i="0" u="none" strike="noStrike">
                <a:solidFill>
                  <a:srgbClr val="374151"/>
                </a:solidFill>
                <a:latin typeface="Noto Sans SC"/>
                <a:ea typeface="Noto Sans SC"/>
                <a:cs typeface="Noto Sans SC"/>
                <a:sym typeface="Noto Sans SC"/>
              </a:rPr>
              <a:t>求解判断矩阵的最大特征根和特征向量：</a:t>
            </a:r>
            <a:r>
              <a:rPr lang="en-US" sz="1400" b="1" i="0" u="none" strike="noStrike">
                <a:solidFill>
                  <a:srgbClr val="0D6EFD"/>
                </a:solidFill>
                <a:latin typeface="Noto Sans SC"/>
                <a:ea typeface="Noto Sans SC"/>
                <a:cs typeface="Noto Sans SC"/>
                <a:sym typeface="Noto Sans SC"/>
              </a:rPr>
              <a:t>A · w = λ_max · w</a:t>
            </a:r>
          </a:p>
        </p:txBody>
      </p:sp>
      <p:sp>
        <p:nvSpPr>
          <p:cNvPr id="10" name="AutoShape 10"/>
          <p:cNvSpPr/>
          <p:nvPr/>
        </p:nvSpPr>
        <p:spPr>
          <a:xfrm>
            <a:off x="6350000" y="1397000"/>
            <a:ext cx="4826000" cy="4064000"/>
          </a:xfrm>
          <a:prstGeom prst="roundRect">
            <a:avLst>
              <a:gd name="adj" fmla="val 3125"/>
            </a:avLst>
          </a:prstGeom>
          <a:solidFill>
            <a:srgbClr val="F8F9FA">
              <a:alpha val="100000"/>
            </a:srgbClr>
          </a:solidFill>
          <a:ln w="12700" cap="flat" cmpd="sng">
            <a:solidFill>
              <a:srgbClr val="DEE2E6">
                <a:alpha val="100000"/>
              </a:srgbClr>
            </a:solid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6604000" y="1651000"/>
            <a:ext cx="4318000" cy="762000"/>
          </a:xfrm>
          <a:prstGeom prst="roundRect">
            <a:avLst>
              <a:gd name="adj" fmla="val 8333"/>
            </a:avLst>
          </a:prstGeom>
          <a:solidFill>
            <a:srgbClr val="FFFFFF">
              <a:alpha val="100000"/>
            </a:srgbClr>
          </a:solidFill>
          <a:ln w="25400" cap="flat" cmpd="sng">
            <a:noFill/>
            <a:prstDash val="solid"/>
            <a:round/>
          </a:ln>
          <a:effectLst>
            <a:outerShdw blurRad="50800" dist="25400" dir="2700000" algn="tl" rotWithShape="0">
              <a:srgbClr val="000000">
                <a:alpha val="5000"/>
              </a:srgbClr>
            </a:outerShdw>
          </a:effectLst>
        </p:spPr>
        <p:txBody>
          <a:bodyPr vert="horz" wrap="square" lIns="63500" tIns="63500" rIns="63500" bIns="63500" rtlCol="0" anchor="ctr"/>
          <a:lstStyle/>
          <a:p>
            <a:pPr algn="ctr">
              <a:defRPr/>
            </a:pPr>
            <a:endParaRPr/>
          </a:p>
        </p:txBody>
      </p:sp>
      <p:pic>
        <p:nvPicPr>
          <p:cNvPr id="12" name="Picture 12"/>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794500" y="1828800"/>
            <a:ext cx="406400" cy="406400"/>
          </a:xfrm>
          <a:prstGeom prst="rect">
            <a:avLst/>
          </a:prstGeom>
        </p:spPr>
      </p:pic>
      <p:sp>
        <p:nvSpPr>
          <p:cNvPr id="13" name="AutoShape 13"/>
          <p:cNvSpPr/>
          <p:nvPr/>
        </p:nvSpPr>
        <p:spPr>
          <a:xfrm>
            <a:off x="7366000" y="1778000"/>
            <a:ext cx="3302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212529"/>
                </a:solidFill>
                <a:latin typeface="Noto Sans SC"/>
                <a:ea typeface="Noto Sans SC"/>
                <a:cs typeface="Noto Sans SC"/>
                <a:sym typeface="Noto Sans SC"/>
              </a:rPr>
              <a:t>问题分解</a:t>
            </a:r>
            <a:endParaRPr lang="en-US" sz="1100"/>
          </a:p>
          <a:p>
            <a:pPr indent="0" algn="l">
              <a:lnSpc>
                <a:spcPct val="125000"/>
              </a:lnSpc>
            </a:pPr>
            <a:r>
              <a:rPr lang="en-US" sz="1200" b="0" i="0" u="none" strike="noStrike">
                <a:solidFill>
                  <a:srgbClr val="6C757D"/>
                </a:solidFill>
                <a:latin typeface="Noto Sans SC"/>
                <a:ea typeface="Noto Sans SC"/>
                <a:cs typeface="Noto Sans SC"/>
                <a:sym typeface="Noto Sans SC"/>
              </a:rPr>
              <a:t>构建目标层、准则层、方案层</a:t>
            </a:r>
          </a:p>
        </p:txBody>
      </p:sp>
      <p:sp>
        <p:nvSpPr>
          <p:cNvPr id="14" name="AutoShape 14"/>
          <p:cNvSpPr/>
          <p:nvPr/>
        </p:nvSpPr>
        <p:spPr>
          <a:xfrm>
            <a:off x="6604000" y="2540000"/>
            <a:ext cx="4318000" cy="762000"/>
          </a:xfrm>
          <a:prstGeom prst="roundRect">
            <a:avLst>
              <a:gd name="adj" fmla="val 8333"/>
            </a:avLst>
          </a:prstGeom>
          <a:solidFill>
            <a:srgbClr val="FFFFFF">
              <a:alpha val="100000"/>
            </a:srgbClr>
          </a:solidFill>
          <a:ln w="25400" cap="flat" cmpd="sng">
            <a:noFill/>
            <a:prstDash val="solid"/>
            <a:round/>
          </a:ln>
          <a:effectLst>
            <a:outerShdw blurRad="50800" dist="25400" dir="2700000" algn="tl" rotWithShape="0">
              <a:srgbClr val="000000">
                <a:alpha val="5000"/>
              </a:srgbClr>
            </a:outerShdw>
          </a:effectLst>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794500" y="2717800"/>
            <a:ext cx="406400" cy="406400"/>
          </a:xfrm>
          <a:prstGeom prst="rect">
            <a:avLst/>
          </a:prstGeom>
        </p:spPr>
      </p:pic>
      <p:sp>
        <p:nvSpPr>
          <p:cNvPr id="16" name="AutoShape 16"/>
          <p:cNvSpPr/>
          <p:nvPr/>
        </p:nvSpPr>
        <p:spPr>
          <a:xfrm>
            <a:off x="7366000" y="2667000"/>
            <a:ext cx="3302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212529"/>
                </a:solidFill>
                <a:latin typeface="Noto Sans SC"/>
                <a:ea typeface="Noto Sans SC"/>
                <a:cs typeface="Noto Sans SC"/>
                <a:sym typeface="Noto Sans SC"/>
              </a:rPr>
              <a:t>两两比较</a:t>
            </a:r>
            <a:endParaRPr lang="en-US" sz="1100"/>
          </a:p>
          <a:p>
            <a:pPr indent="0" algn="l">
              <a:lnSpc>
                <a:spcPct val="125000"/>
              </a:lnSpc>
            </a:pPr>
            <a:r>
              <a:rPr lang="en-US" sz="1200" b="0" i="0" u="none" strike="noStrike">
                <a:solidFill>
                  <a:srgbClr val="6C757D"/>
                </a:solidFill>
                <a:latin typeface="Noto Sans SC"/>
                <a:ea typeface="Noto Sans SC"/>
                <a:cs typeface="Noto Sans SC"/>
                <a:sym typeface="Noto Sans SC"/>
              </a:rPr>
              <a:t>建立判断矩阵，量化相对重要性</a:t>
            </a:r>
          </a:p>
        </p:txBody>
      </p:sp>
      <p:sp>
        <p:nvSpPr>
          <p:cNvPr id="17" name="AutoShape 17"/>
          <p:cNvSpPr/>
          <p:nvPr/>
        </p:nvSpPr>
        <p:spPr>
          <a:xfrm>
            <a:off x="6604000" y="3429000"/>
            <a:ext cx="4318000" cy="762000"/>
          </a:xfrm>
          <a:prstGeom prst="roundRect">
            <a:avLst>
              <a:gd name="adj" fmla="val 8333"/>
            </a:avLst>
          </a:prstGeom>
          <a:solidFill>
            <a:srgbClr val="FFFFFF">
              <a:alpha val="100000"/>
            </a:srgbClr>
          </a:solidFill>
          <a:ln w="25400" cap="flat" cmpd="sng">
            <a:noFill/>
            <a:prstDash val="solid"/>
            <a:round/>
          </a:ln>
          <a:effectLst>
            <a:outerShdw blurRad="50800" dist="25400" dir="2700000" algn="tl" rotWithShape="0">
              <a:srgbClr val="000000">
                <a:alpha val="5000"/>
              </a:srgbClr>
            </a:outerShdw>
          </a:effectLst>
        </p:spPr>
        <p:txBody>
          <a:bodyPr vert="horz" wrap="square" lIns="63500" tIns="63500" rIns="63500" bIns="63500" rtlCol="0" anchor="ctr"/>
          <a:lstStyle/>
          <a:p>
            <a:pPr algn="ctr">
              <a:defRPr/>
            </a:pPr>
            <a:endParaRPr/>
          </a:p>
        </p:txBody>
      </p:sp>
      <p:pic>
        <p:nvPicPr>
          <p:cNvPr id="18" name="Picture 18"/>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794500" y="3606800"/>
            <a:ext cx="406400" cy="406400"/>
          </a:xfrm>
          <a:prstGeom prst="rect">
            <a:avLst/>
          </a:prstGeom>
        </p:spPr>
      </p:pic>
      <p:sp>
        <p:nvSpPr>
          <p:cNvPr id="19" name="AutoShape 19"/>
          <p:cNvSpPr/>
          <p:nvPr/>
        </p:nvSpPr>
        <p:spPr>
          <a:xfrm>
            <a:off x="7366000" y="3556000"/>
            <a:ext cx="3302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212529"/>
                </a:solidFill>
                <a:latin typeface="Noto Sans SC"/>
                <a:ea typeface="Noto Sans SC"/>
                <a:cs typeface="Noto Sans SC"/>
                <a:sym typeface="Noto Sans SC"/>
              </a:rPr>
              <a:t>权重计算</a:t>
            </a:r>
            <a:endParaRPr lang="en-US" sz="1100"/>
          </a:p>
          <a:p>
            <a:pPr indent="0" algn="l">
              <a:lnSpc>
                <a:spcPct val="125000"/>
              </a:lnSpc>
            </a:pPr>
            <a:r>
              <a:rPr lang="en-US" sz="1200" b="0" i="0" u="none" strike="noStrike">
                <a:solidFill>
                  <a:srgbClr val="6C757D"/>
                </a:solidFill>
                <a:latin typeface="Noto Sans SC"/>
                <a:ea typeface="Noto Sans SC"/>
                <a:cs typeface="Noto Sans SC"/>
                <a:sym typeface="Noto Sans SC"/>
              </a:rPr>
              <a:t>计算特征向量，确定各因素权重</a:t>
            </a:r>
          </a:p>
        </p:txBody>
      </p:sp>
      <p:sp>
        <p:nvSpPr>
          <p:cNvPr id="20" name="AutoShape 20"/>
          <p:cNvSpPr/>
          <p:nvPr/>
        </p:nvSpPr>
        <p:spPr>
          <a:xfrm>
            <a:off x="6604000" y="4318000"/>
            <a:ext cx="4318000" cy="762000"/>
          </a:xfrm>
          <a:prstGeom prst="roundRect">
            <a:avLst>
              <a:gd name="adj" fmla="val 8333"/>
            </a:avLst>
          </a:prstGeom>
          <a:solidFill>
            <a:srgbClr val="FFFFFF">
              <a:alpha val="100000"/>
            </a:srgbClr>
          </a:solidFill>
          <a:ln w="25400" cap="flat" cmpd="sng">
            <a:noFill/>
            <a:prstDash val="solid"/>
            <a:round/>
          </a:ln>
          <a:effectLst>
            <a:outerShdw blurRad="50800" dist="25400" dir="2700000" algn="tl" rotWithShape="0">
              <a:srgbClr val="000000">
                <a:alpha val="5000"/>
              </a:srgbClr>
            </a:outerShdw>
          </a:effectLst>
        </p:spPr>
        <p:txBody>
          <a:bodyPr vert="horz" wrap="square" lIns="63500" tIns="63500" rIns="63500" bIns="63500" rtlCol="0" anchor="ctr"/>
          <a:lstStyle/>
          <a:p>
            <a:pPr algn="ctr">
              <a:defRPr/>
            </a:pPr>
            <a:endParaRPr/>
          </a:p>
        </p:txBody>
      </p:sp>
      <p:pic>
        <p:nvPicPr>
          <p:cNvPr id="21" name="Picture 21"/>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794500" y="4495800"/>
            <a:ext cx="406400" cy="406400"/>
          </a:xfrm>
          <a:prstGeom prst="rect">
            <a:avLst/>
          </a:prstGeom>
        </p:spPr>
      </p:pic>
      <p:sp>
        <p:nvSpPr>
          <p:cNvPr id="22" name="AutoShape 22"/>
          <p:cNvSpPr/>
          <p:nvPr/>
        </p:nvSpPr>
        <p:spPr>
          <a:xfrm>
            <a:off x="7366000" y="4445000"/>
            <a:ext cx="3302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212529"/>
                </a:solidFill>
                <a:latin typeface="Noto Sans SC"/>
                <a:ea typeface="Noto Sans SC"/>
                <a:cs typeface="Noto Sans SC"/>
                <a:sym typeface="Noto Sans SC"/>
              </a:rPr>
              <a:t>一致性检验</a:t>
            </a:r>
            <a:endParaRPr lang="en-US" sz="1100"/>
          </a:p>
          <a:p>
            <a:pPr indent="0" algn="l">
              <a:lnSpc>
                <a:spcPct val="125000"/>
              </a:lnSpc>
            </a:pPr>
            <a:r>
              <a:rPr lang="en-US" sz="1200" b="0" i="0" u="none" strike="noStrike">
                <a:solidFill>
                  <a:srgbClr val="6C757D"/>
                </a:solidFill>
                <a:latin typeface="Noto Sans SC"/>
                <a:ea typeface="Noto Sans SC"/>
                <a:cs typeface="Noto Sans SC"/>
                <a:sym typeface="Noto Sans SC"/>
              </a:rPr>
              <a:t>验证逻辑合理性，CR &lt; 0.1 通过</a:t>
            </a:r>
          </a:p>
        </p:txBody>
      </p:sp>
      <p:sp>
        <p:nvSpPr>
          <p:cNvPr id="23" name="AutoShape 23"/>
          <p:cNvSpPr/>
          <p:nvPr/>
        </p:nvSpPr>
        <p:spPr>
          <a:xfrm>
            <a:off x="0" y="6807200"/>
            <a:ext cx="12192000" cy="50800"/>
          </a:xfrm>
          <a:prstGeom prst="roundRect">
            <a:avLst>
              <a:gd name="adj" fmla="val 0"/>
            </a:avLst>
          </a:prstGeom>
          <a:solidFill>
            <a:srgbClr val="0D6EFD">
              <a:alpha val="100000"/>
            </a:srgbClr>
          </a:solidFill>
          <a:ln w="25400" cap="flat" cmpd="sng">
            <a:noFill/>
            <a:prstDash val="solid"/>
            <a:round/>
          </a:ln>
        </p:spPr>
        <p:txBody>
          <a:bodyPr vert="horz" wrap="square" lIns="63500" tIns="63500" rIns="63500" bIns="63500" rtlCol="0" anchor="ctr"/>
          <a:lstStyle/>
          <a:p>
            <a:pPr algn="ctr">
              <a:defRPr/>
            </a:pP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FFFFFF">
              <a:alpha val="9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508000"/>
            <a:ext cx="50800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0D6EFD"/>
                </a:solidFill>
                <a:latin typeface="Noto Sans SC"/>
                <a:ea typeface="Noto Sans SC"/>
                <a:cs typeface="Noto Sans SC"/>
                <a:sym typeface="Noto Sans SC"/>
              </a:rPr>
              <a:t>AHP的Saaty标度</a:t>
            </a:r>
            <a:endParaRPr lang="en-US" sz="1100"/>
          </a:p>
        </p:txBody>
      </p:sp>
      <p:sp>
        <p:nvSpPr>
          <p:cNvPr id="5" name="AutoShape 5"/>
          <p:cNvSpPr/>
          <p:nvPr/>
        </p:nvSpPr>
        <p:spPr>
          <a:xfrm>
            <a:off x="762000" y="12065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6C757D"/>
                </a:solidFill>
                <a:latin typeface="Noto Sans SC"/>
                <a:ea typeface="Noto Sans SC"/>
                <a:cs typeface="Noto Sans SC"/>
                <a:sym typeface="Noto Sans SC"/>
              </a:rPr>
              <a:t>在层次分析法(AHP)中，我们使用Saaty提出的1-9标度法来量化两个因素之间的相对重要性，将定性判断转化为定量数值。</a:t>
            </a:r>
            <a:endParaRPr lang="en-US" sz="1100"/>
          </a:p>
        </p:txBody>
      </p:sp>
      <p:graphicFrame>
        <p:nvGraphicFramePr>
          <p:cNvPr id="6" name="Table 6"/>
          <p:cNvGraphicFramePr>
            <a:graphicFrameLocks noGrp="1"/>
          </p:cNvGraphicFramePr>
          <p:nvPr/>
        </p:nvGraphicFramePr>
        <p:xfrm>
          <a:off x="762000" y="1778000"/>
          <a:ext cx="10668000" cy="2865120"/>
        </p:xfrm>
        <a:graphic>
          <a:graphicData uri="http://schemas.openxmlformats.org/drawingml/2006/table">
            <a:tbl>
              <a:tblPr>
                <a:effectLst/>
              </a:tblPr>
              <a:tblGrid>
                <a:gridCol w="1270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7112000">
                  <a:extLst>
                    <a:ext uri="{9D8B030D-6E8A-4147-A177-3AD203B41FA5}">
                      <a16:colId xmlns:a16="http://schemas.microsoft.com/office/drawing/2014/main" val="20002"/>
                    </a:ext>
                  </a:extLst>
                </a:gridCol>
              </a:tblGrid>
              <a:tr h="457200">
                <a:tc>
                  <a:txBody>
                    <a:bodyPr/>
                    <a:lstStyle/>
                    <a:p>
                      <a:pPr indent="0" algn="ctr">
                        <a:lnSpc>
                          <a:spcPct val="100000"/>
                        </a:lnSpc>
                        <a:defRPr/>
                      </a:pPr>
                      <a:r>
                        <a:rPr lang="en-US" sz="1400" b="1" i="0" u="none" strike="noStrike">
                          <a:solidFill>
                            <a:srgbClr val="FFFFFF"/>
                          </a:solidFill>
                          <a:latin typeface="Noto Sans SC"/>
                          <a:ea typeface="Noto Sans SC"/>
                          <a:cs typeface="Noto Sans SC"/>
                          <a:sym typeface="Noto Sans SC"/>
                        </a:rPr>
                        <a:t>标度</a:t>
                      </a:r>
                      <a:endParaRPr lang="en-US" sz="1100"/>
                    </a:p>
                  </a:txBody>
                  <a:tcPr marL="101600" marR="101600" marT="101600" marB="101600" anchor="ctr">
                    <a:lnL>
                      <a:noFill/>
                    </a:lnL>
                    <a:lnR>
                      <a:noFill/>
                    </a:lnR>
                    <a:lnT>
                      <a:noFill/>
                    </a:lnT>
                    <a:lnB>
                      <a:noFill/>
                    </a:lnB>
                    <a:solidFill>
                      <a:srgbClr val="0D6EFD">
                        <a:alpha val="100000"/>
                      </a:srgbClr>
                    </a:solidFill>
                  </a:tcPr>
                </a:tc>
                <a:tc>
                  <a:txBody>
                    <a:bodyPr/>
                    <a:lstStyle/>
                    <a:p>
                      <a:pPr indent="0" algn="ctr">
                        <a:lnSpc>
                          <a:spcPct val="100000"/>
                        </a:lnSpc>
                        <a:defRPr/>
                      </a:pPr>
                      <a:r>
                        <a:rPr lang="en-US" sz="1400" b="1" i="0" u="none" strike="noStrike">
                          <a:solidFill>
                            <a:srgbClr val="FFFFFF"/>
                          </a:solidFill>
                          <a:latin typeface="Noto Sans SC"/>
                          <a:ea typeface="Noto Sans SC"/>
                          <a:cs typeface="Noto Sans SC"/>
                          <a:sym typeface="Noto Sans SC"/>
                        </a:rPr>
                        <a:t>含义</a:t>
                      </a:r>
                      <a:endParaRPr lang="en-US" sz="1100"/>
                    </a:p>
                  </a:txBody>
                  <a:tcPr marL="101600" marR="101600" marT="101600" marB="101600" anchor="ctr">
                    <a:lnL>
                      <a:noFill/>
                    </a:lnL>
                    <a:lnR>
                      <a:noFill/>
                    </a:lnR>
                    <a:lnT>
                      <a:noFill/>
                    </a:lnT>
                    <a:lnB>
                      <a:noFill/>
                    </a:lnB>
                    <a:solidFill>
                      <a:srgbClr val="0D6EFD">
                        <a:alpha val="100000"/>
                      </a:srgbClr>
                    </a:solidFill>
                  </a:tcPr>
                </a:tc>
                <a:tc>
                  <a:txBody>
                    <a:bodyPr/>
                    <a:lstStyle/>
                    <a:p>
                      <a:pPr indent="0" algn="l">
                        <a:lnSpc>
                          <a:spcPct val="100000"/>
                        </a:lnSpc>
                        <a:defRPr/>
                      </a:pPr>
                      <a:r>
                        <a:rPr lang="en-US" sz="1400" b="1" i="0" u="none" strike="noStrike">
                          <a:solidFill>
                            <a:srgbClr val="FFFFFF"/>
                          </a:solidFill>
                          <a:latin typeface="Noto Sans SC"/>
                          <a:ea typeface="Noto Sans SC"/>
                          <a:cs typeface="Noto Sans SC"/>
                          <a:sym typeface="Noto Sans SC"/>
                        </a:rPr>
                        <a:t>说明</a:t>
                      </a:r>
                      <a:endParaRPr lang="en-US" sz="1100"/>
                    </a:p>
                  </a:txBody>
                  <a:tcPr marL="101600" marR="101600" marT="101600" marB="101600" anchor="ctr">
                    <a:lnL>
                      <a:noFill/>
                    </a:lnL>
                    <a:lnR>
                      <a:noFill/>
                    </a:lnR>
                    <a:lnT>
                      <a:noFill/>
                    </a:lnT>
                    <a:lnB>
                      <a:noFill/>
                    </a:lnB>
                    <a:solidFill>
                      <a:srgbClr val="0D6EFD">
                        <a:alpha val="100000"/>
                      </a:srgbClr>
                    </a:solidFill>
                  </a:tcPr>
                </a:tc>
                <a:extLst>
                  <a:ext uri="{0D108BD9-81ED-4DB2-BD59-A6C34878D82A}">
                    <a16:rowId xmlns:a16="http://schemas.microsoft.com/office/drawing/2014/main" val="10000"/>
                  </a:ext>
                </a:extLst>
              </a:tr>
              <a:tr h="381000">
                <a:tc>
                  <a:txBody>
                    <a:bodyPr/>
                    <a:lstStyle/>
                    <a:p>
                      <a:pPr indent="0" algn="ctr">
                        <a:lnSpc>
                          <a:spcPct val="100000"/>
                        </a:lnSpc>
                        <a:defRPr/>
                      </a:pPr>
                      <a:r>
                        <a:rPr lang="en-US" sz="1300" b="0" i="0" u="none" strike="noStrike">
                          <a:solidFill>
                            <a:srgbClr val="212529"/>
                          </a:solidFill>
                          <a:latin typeface="Noto Sans SC"/>
                          <a:ea typeface="Noto Sans SC"/>
                          <a:cs typeface="Noto Sans SC"/>
                          <a:sym typeface="Noto Sans SC"/>
                        </a:rPr>
                        <a:t>1</a:t>
                      </a:r>
                      <a:endParaRPr lang="en-US" sz="1100"/>
                    </a:p>
                  </a:txBody>
                  <a:tcPr marL="101600" marR="101600" marT="101600" marB="101600" anchor="ctr">
                    <a:lnL>
                      <a:noFill/>
                    </a:lnL>
                    <a:lnR>
                      <a:noFill/>
                    </a:lnR>
                    <a:lnT>
                      <a:noFill/>
                    </a:lnT>
                    <a:lnB>
                      <a:noFill/>
                    </a:lnB>
                    <a:solidFill>
                      <a:srgbClr val="F0F8FF">
                        <a:alpha val="100000"/>
                      </a:srgbClr>
                    </a:solidFill>
                  </a:tcPr>
                </a:tc>
                <a:tc>
                  <a:txBody>
                    <a:bodyPr/>
                    <a:lstStyle/>
                    <a:p>
                      <a:pPr indent="0" algn="ctr">
                        <a:lnSpc>
                          <a:spcPct val="100000"/>
                        </a:lnSpc>
                        <a:defRPr/>
                      </a:pPr>
                      <a:r>
                        <a:rPr lang="en-US" sz="1300" b="0" i="0" u="none" strike="noStrike">
                          <a:solidFill>
                            <a:srgbClr val="212529"/>
                          </a:solidFill>
                          <a:latin typeface="Noto Sans SC"/>
                          <a:ea typeface="Noto Sans SC"/>
                          <a:cs typeface="Noto Sans SC"/>
                          <a:sym typeface="Noto Sans SC"/>
                        </a:rPr>
                        <a:t>同等重要</a:t>
                      </a:r>
                      <a:endParaRPr lang="en-US" sz="1100"/>
                    </a:p>
                  </a:txBody>
                  <a:tcPr marL="101600" marR="101600" marT="101600" marB="101600" anchor="ctr">
                    <a:lnL>
                      <a:noFill/>
                    </a:lnL>
                    <a:lnR>
                      <a:noFill/>
                    </a:lnR>
                    <a:lnT>
                      <a:noFill/>
                    </a:lnT>
                    <a:lnB>
                      <a:noFill/>
                    </a:lnB>
                    <a:solidFill>
                      <a:srgbClr val="F0F8FF">
                        <a:alpha val="100000"/>
                      </a:srgbClr>
                    </a:solidFill>
                  </a:tcPr>
                </a:tc>
                <a:tc>
                  <a:txBody>
                    <a:bodyPr/>
                    <a:lstStyle/>
                    <a:p>
                      <a:pPr indent="0" algn="l">
                        <a:lnSpc>
                          <a:spcPct val="100000"/>
                        </a:lnSpc>
                        <a:defRPr/>
                      </a:pPr>
                      <a:r>
                        <a:rPr lang="en-US" sz="1300" b="0" i="0" u="none" strike="noStrike">
                          <a:solidFill>
                            <a:srgbClr val="212529"/>
                          </a:solidFill>
                          <a:latin typeface="Noto Sans SC"/>
                          <a:ea typeface="Noto Sans SC"/>
                          <a:cs typeface="Noto Sans SC"/>
                          <a:sym typeface="Noto Sans SC"/>
                        </a:rPr>
                        <a:t>两因素对目标的贡献相同</a:t>
                      </a:r>
                      <a:endParaRPr lang="en-US" sz="1100"/>
                    </a:p>
                  </a:txBody>
                  <a:tcPr marL="101600" marR="101600" marT="101600" marB="101600" anchor="ctr">
                    <a:lnL>
                      <a:noFill/>
                    </a:lnL>
                    <a:lnR>
                      <a:noFill/>
                    </a:lnR>
                    <a:lnT>
                      <a:noFill/>
                    </a:lnT>
                    <a:lnB>
                      <a:noFill/>
                    </a:lnB>
                    <a:solidFill>
                      <a:srgbClr val="F0F8FF">
                        <a:alpha val="100000"/>
                      </a:srgbClr>
                    </a:solidFill>
                  </a:tcPr>
                </a:tc>
                <a:extLst>
                  <a:ext uri="{0D108BD9-81ED-4DB2-BD59-A6C34878D82A}">
                    <a16:rowId xmlns:a16="http://schemas.microsoft.com/office/drawing/2014/main" val="10001"/>
                  </a:ext>
                </a:extLst>
              </a:tr>
              <a:tr h="381000">
                <a:tc>
                  <a:txBody>
                    <a:bodyPr/>
                    <a:lstStyle/>
                    <a:p>
                      <a:pPr indent="0" algn="ctr">
                        <a:lnSpc>
                          <a:spcPct val="100000"/>
                        </a:lnSpc>
                        <a:defRPr/>
                      </a:pPr>
                      <a:r>
                        <a:rPr lang="en-US" sz="1300" b="0" i="0" u="none" strike="noStrike">
                          <a:solidFill>
                            <a:srgbClr val="212529"/>
                          </a:solidFill>
                          <a:latin typeface="Noto Sans SC"/>
                          <a:ea typeface="Noto Sans SC"/>
                          <a:cs typeface="Noto Sans SC"/>
                          <a:sym typeface="Noto Sans SC"/>
                        </a:rPr>
                        <a:t>3</a:t>
                      </a:r>
                      <a:endParaRPr lang="en-US" sz="1100"/>
                    </a:p>
                  </a:txBody>
                  <a:tcPr marL="101600" marR="101600" marT="101600" marB="101600" anchor="ctr">
                    <a:lnL>
                      <a:noFill/>
                    </a:lnL>
                    <a:lnR>
                      <a:noFill/>
                    </a:lnR>
                    <a:lnT>
                      <a:noFill/>
                    </a:lnT>
                    <a:lnB>
                      <a:noFill/>
                    </a:lnB>
                    <a:solidFill>
                      <a:srgbClr val="FFFFFF">
                        <a:alpha val="100000"/>
                      </a:srgbClr>
                    </a:solidFill>
                  </a:tcPr>
                </a:tc>
                <a:tc>
                  <a:txBody>
                    <a:bodyPr/>
                    <a:lstStyle/>
                    <a:p>
                      <a:pPr indent="0" algn="ctr">
                        <a:lnSpc>
                          <a:spcPct val="100000"/>
                        </a:lnSpc>
                        <a:defRPr/>
                      </a:pPr>
                      <a:r>
                        <a:rPr lang="en-US" sz="1300" b="0" i="0" u="none" strike="noStrike">
                          <a:solidFill>
                            <a:srgbClr val="212529"/>
                          </a:solidFill>
                          <a:latin typeface="Noto Sans SC"/>
                          <a:ea typeface="Noto Sans SC"/>
                          <a:cs typeface="Noto Sans SC"/>
                          <a:sym typeface="Noto Sans SC"/>
                        </a:rPr>
                        <a:t>稍微重要</a:t>
                      </a:r>
                      <a:endParaRPr lang="en-US" sz="1100"/>
                    </a:p>
                  </a:txBody>
                  <a:tcPr marL="101600" marR="101600" marT="101600" marB="101600" anchor="ctr">
                    <a:lnL>
                      <a:noFill/>
                    </a:lnL>
                    <a:lnR>
                      <a:noFill/>
                    </a:lnR>
                    <a:lnT>
                      <a:noFill/>
                    </a:lnT>
                    <a:lnB>
                      <a:noFill/>
                    </a:lnB>
                    <a:solidFill>
                      <a:srgbClr val="FFFFFF">
                        <a:alpha val="100000"/>
                      </a:srgbClr>
                    </a:solidFill>
                  </a:tcPr>
                </a:tc>
                <a:tc>
                  <a:txBody>
                    <a:bodyPr/>
                    <a:lstStyle/>
                    <a:p>
                      <a:pPr indent="0" algn="l">
                        <a:lnSpc>
                          <a:spcPct val="100000"/>
                        </a:lnSpc>
                        <a:defRPr/>
                      </a:pPr>
                      <a:r>
                        <a:rPr lang="en-US" sz="1300" b="0" i="0" u="none" strike="noStrike">
                          <a:solidFill>
                            <a:srgbClr val="212529"/>
                          </a:solidFill>
                          <a:latin typeface="Noto Sans SC"/>
                          <a:ea typeface="Noto Sans SC"/>
                          <a:cs typeface="Noto Sans SC"/>
                          <a:sym typeface="Noto Sans SC"/>
                        </a:rPr>
                        <a:t>经验判断，一因素比另一因素稍微重要</a:t>
                      </a:r>
                      <a:endParaRPr lang="en-US" sz="1100"/>
                    </a:p>
                  </a:txBody>
                  <a:tcPr marL="101600" marR="101600" marT="101600" marB="101600" anchor="ctr">
                    <a:lnL>
                      <a:noFill/>
                    </a:lnL>
                    <a:lnR>
                      <a:noFill/>
                    </a:lnR>
                    <a:lnT>
                      <a:noFill/>
                    </a:lnT>
                    <a:lnB>
                      <a:noFill/>
                    </a:lnB>
                    <a:solidFill>
                      <a:srgbClr val="FFFFFF">
                        <a:alpha val="100000"/>
                      </a:srgbClr>
                    </a:solidFill>
                  </a:tcPr>
                </a:tc>
                <a:extLst>
                  <a:ext uri="{0D108BD9-81ED-4DB2-BD59-A6C34878D82A}">
                    <a16:rowId xmlns:a16="http://schemas.microsoft.com/office/drawing/2014/main" val="10002"/>
                  </a:ext>
                </a:extLst>
              </a:tr>
              <a:tr h="381000">
                <a:tc>
                  <a:txBody>
                    <a:bodyPr/>
                    <a:lstStyle/>
                    <a:p>
                      <a:pPr indent="0" algn="ctr">
                        <a:lnSpc>
                          <a:spcPct val="100000"/>
                        </a:lnSpc>
                        <a:defRPr/>
                      </a:pPr>
                      <a:r>
                        <a:rPr lang="en-US" sz="1300" b="0" i="0" u="none" strike="noStrike">
                          <a:solidFill>
                            <a:srgbClr val="212529"/>
                          </a:solidFill>
                          <a:latin typeface="Noto Sans SC"/>
                          <a:ea typeface="Noto Sans SC"/>
                          <a:cs typeface="Noto Sans SC"/>
                          <a:sym typeface="Noto Sans SC"/>
                        </a:rPr>
                        <a:t>5</a:t>
                      </a:r>
                      <a:endParaRPr lang="en-US" sz="1100"/>
                    </a:p>
                  </a:txBody>
                  <a:tcPr marL="101600" marR="101600" marT="101600" marB="101600" anchor="ctr">
                    <a:lnL>
                      <a:noFill/>
                    </a:lnL>
                    <a:lnR>
                      <a:noFill/>
                    </a:lnR>
                    <a:lnT>
                      <a:noFill/>
                    </a:lnT>
                    <a:lnB>
                      <a:noFill/>
                    </a:lnB>
                    <a:solidFill>
                      <a:srgbClr val="F0F8FF">
                        <a:alpha val="100000"/>
                      </a:srgbClr>
                    </a:solidFill>
                  </a:tcPr>
                </a:tc>
                <a:tc>
                  <a:txBody>
                    <a:bodyPr/>
                    <a:lstStyle/>
                    <a:p>
                      <a:pPr indent="0" algn="ctr">
                        <a:lnSpc>
                          <a:spcPct val="100000"/>
                        </a:lnSpc>
                        <a:defRPr/>
                      </a:pPr>
                      <a:r>
                        <a:rPr lang="en-US" sz="1300" b="0" i="0" u="none" strike="noStrike">
                          <a:solidFill>
                            <a:srgbClr val="212529"/>
                          </a:solidFill>
                          <a:latin typeface="Noto Sans SC"/>
                          <a:ea typeface="Noto Sans SC"/>
                          <a:cs typeface="Noto Sans SC"/>
                          <a:sym typeface="Noto Sans SC"/>
                        </a:rPr>
                        <a:t>明显重要</a:t>
                      </a:r>
                      <a:endParaRPr lang="en-US" sz="1100"/>
                    </a:p>
                  </a:txBody>
                  <a:tcPr marL="101600" marR="101600" marT="101600" marB="101600" anchor="ctr">
                    <a:lnL>
                      <a:noFill/>
                    </a:lnL>
                    <a:lnR>
                      <a:noFill/>
                    </a:lnR>
                    <a:lnT>
                      <a:noFill/>
                    </a:lnT>
                    <a:lnB>
                      <a:noFill/>
                    </a:lnB>
                    <a:solidFill>
                      <a:srgbClr val="F0F8FF">
                        <a:alpha val="100000"/>
                      </a:srgbClr>
                    </a:solidFill>
                  </a:tcPr>
                </a:tc>
                <a:tc>
                  <a:txBody>
                    <a:bodyPr/>
                    <a:lstStyle/>
                    <a:p>
                      <a:pPr indent="0" algn="l">
                        <a:lnSpc>
                          <a:spcPct val="100000"/>
                        </a:lnSpc>
                        <a:defRPr/>
                      </a:pPr>
                      <a:r>
                        <a:rPr lang="en-US" sz="1300" b="0" i="0" u="none" strike="noStrike">
                          <a:solidFill>
                            <a:srgbClr val="212529"/>
                          </a:solidFill>
                          <a:latin typeface="Noto Sans SC"/>
                          <a:ea typeface="Noto Sans SC"/>
                          <a:cs typeface="Noto Sans SC"/>
                          <a:sym typeface="Noto Sans SC"/>
                        </a:rPr>
                        <a:t>经验判断，一因素比另一因素明显重要</a:t>
                      </a:r>
                      <a:endParaRPr lang="en-US" sz="1100"/>
                    </a:p>
                  </a:txBody>
                  <a:tcPr marL="101600" marR="101600" marT="101600" marB="101600" anchor="ctr">
                    <a:lnL>
                      <a:noFill/>
                    </a:lnL>
                    <a:lnR>
                      <a:noFill/>
                    </a:lnR>
                    <a:lnT>
                      <a:noFill/>
                    </a:lnT>
                    <a:lnB>
                      <a:noFill/>
                    </a:lnB>
                    <a:solidFill>
                      <a:srgbClr val="F0F8FF">
                        <a:alpha val="100000"/>
                      </a:srgbClr>
                    </a:solidFill>
                  </a:tcPr>
                </a:tc>
                <a:extLst>
                  <a:ext uri="{0D108BD9-81ED-4DB2-BD59-A6C34878D82A}">
                    <a16:rowId xmlns:a16="http://schemas.microsoft.com/office/drawing/2014/main" val="10003"/>
                  </a:ext>
                </a:extLst>
              </a:tr>
              <a:tr h="381000">
                <a:tc>
                  <a:txBody>
                    <a:bodyPr/>
                    <a:lstStyle/>
                    <a:p>
                      <a:pPr indent="0" algn="ctr">
                        <a:lnSpc>
                          <a:spcPct val="100000"/>
                        </a:lnSpc>
                        <a:defRPr/>
                      </a:pPr>
                      <a:r>
                        <a:rPr lang="en-US" sz="1300" b="0" i="0" u="none" strike="noStrike">
                          <a:solidFill>
                            <a:srgbClr val="212529"/>
                          </a:solidFill>
                          <a:latin typeface="Noto Sans SC"/>
                          <a:ea typeface="Noto Sans SC"/>
                          <a:cs typeface="Noto Sans SC"/>
                          <a:sym typeface="Noto Sans SC"/>
                        </a:rPr>
                        <a:t>7</a:t>
                      </a:r>
                      <a:endParaRPr lang="en-US" sz="1100"/>
                    </a:p>
                  </a:txBody>
                  <a:tcPr marL="101600" marR="101600" marT="101600" marB="101600" anchor="ctr">
                    <a:lnL>
                      <a:noFill/>
                    </a:lnL>
                    <a:lnR>
                      <a:noFill/>
                    </a:lnR>
                    <a:lnT>
                      <a:noFill/>
                    </a:lnT>
                    <a:lnB>
                      <a:noFill/>
                    </a:lnB>
                    <a:solidFill>
                      <a:srgbClr val="FFFFFF">
                        <a:alpha val="100000"/>
                      </a:srgbClr>
                    </a:solidFill>
                  </a:tcPr>
                </a:tc>
                <a:tc>
                  <a:txBody>
                    <a:bodyPr/>
                    <a:lstStyle/>
                    <a:p>
                      <a:pPr indent="0" algn="ctr">
                        <a:lnSpc>
                          <a:spcPct val="100000"/>
                        </a:lnSpc>
                        <a:defRPr/>
                      </a:pPr>
                      <a:r>
                        <a:rPr lang="en-US" sz="1300" b="0" i="0" u="none" strike="noStrike">
                          <a:solidFill>
                            <a:srgbClr val="212529"/>
                          </a:solidFill>
                          <a:latin typeface="Noto Sans SC"/>
                          <a:ea typeface="Noto Sans SC"/>
                          <a:cs typeface="Noto Sans SC"/>
                          <a:sym typeface="Noto Sans SC"/>
                        </a:rPr>
                        <a:t>强烈重要</a:t>
                      </a:r>
                      <a:endParaRPr lang="en-US" sz="1100"/>
                    </a:p>
                  </a:txBody>
                  <a:tcPr marL="101600" marR="101600" marT="101600" marB="101600" anchor="ctr">
                    <a:lnL>
                      <a:noFill/>
                    </a:lnL>
                    <a:lnR>
                      <a:noFill/>
                    </a:lnR>
                    <a:lnT>
                      <a:noFill/>
                    </a:lnT>
                    <a:lnB>
                      <a:noFill/>
                    </a:lnB>
                    <a:solidFill>
                      <a:srgbClr val="FFFFFF">
                        <a:alpha val="100000"/>
                      </a:srgbClr>
                    </a:solidFill>
                  </a:tcPr>
                </a:tc>
                <a:tc>
                  <a:txBody>
                    <a:bodyPr/>
                    <a:lstStyle/>
                    <a:p>
                      <a:pPr indent="0" algn="l">
                        <a:lnSpc>
                          <a:spcPct val="100000"/>
                        </a:lnSpc>
                        <a:defRPr/>
                      </a:pPr>
                      <a:r>
                        <a:rPr lang="en-US" sz="1300" b="0" i="0" u="none" strike="noStrike">
                          <a:solidFill>
                            <a:srgbClr val="212529"/>
                          </a:solidFill>
                          <a:latin typeface="Noto Sans SC"/>
                          <a:ea typeface="Noto Sans SC"/>
                          <a:cs typeface="Noto Sans SC"/>
                          <a:sym typeface="Noto Sans SC"/>
                        </a:rPr>
                        <a:t>一因素比另一因素强烈重要，实践中已显现</a:t>
                      </a:r>
                      <a:endParaRPr lang="en-US" sz="1100"/>
                    </a:p>
                  </a:txBody>
                  <a:tcPr marL="101600" marR="101600" marT="101600" marB="101600" anchor="ctr">
                    <a:lnL>
                      <a:noFill/>
                    </a:lnL>
                    <a:lnR>
                      <a:noFill/>
                    </a:lnR>
                    <a:lnT>
                      <a:noFill/>
                    </a:lnT>
                    <a:lnB>
                      <a:noFill/>
                    </a:lnB>
                    <a:solidFill>
                      <a:srgbClr val="FFFFFF">
                        <a:alpha val="100000"/>
                      </a:srgbClr>
                    </a:solidFill>
                  </a:tcPr>
                </a:tc>
                <a:extLst>
                  <a:ext uri="{0D108BD9-81ED-4DB2-BD59-A6C34878D82A}">
                    <a16:rowId xmlns:a16="http://schemas.microsoft.com/office/drawing/2014/main" val="10004"/>
                  </a:ext>
                </a:extLst>
              </a:tr>
              <a:tr h="381000">
                <a:tc>
                  <a:txBody>
                    <a:bodyPr/>
                    <a:lstStyle/>
                    <a:p>
                      <a:pPr indent="0" algn="ctr">
                        <a:lnSpc>
                          <a:spcPct val="100000"/>
                        </a:lnSpc>
                        <a:defRPr/>
                      </a:pPr>
                      <a:r>
                        <a:rPr lang="en-US" sz="1300" b="0" i="0" u="none" strike="noStrike">
                          <a:solidFill>
                            <a:srgbClr val="212529"/>
                          </a:solidFill>
                          <a:latin typeface="Noto Sans SC"/>
                          <a:ea typeface="Noto Sans SC"/>
                          <a:cs typeface="Noto Sans SC"/>
                          <a:sym typeface="Noto Sans SC"/>
                        </a:rPr>
                        <a:t>9</a:t>
                      </a:r>
                      <a:endParaRPr lang="en-US" sz="1100"/>
                    </a:p>
                  </a:txBody>
                  <a:tcPr marL="101600" marR="101600" marT="101600" marB="101600" anchor="ctr">
                    <a:lnL>
                      <a:noFill/>
                    </a:lnL>
                    <a:lnR>
                      <a:noFill/>
                    </a:lnR>
                    <a:lnT>
                      <a:noFill/>
                    </a:lnT>
                    <a:lnB>
                      <a:noFill/>
                    </a:lnB>
                    <a:solidFill>
                      <a:srgbClr val="F0F8FF">
                        <a:alpha val="100000"/>
                      </a:srgbClr>
                    </a:solidFill>
                  </a:tcPr>
                </a:tc>
                <a:tc>
                  <a:txBody>
                    <a:bodyPr/>
                    <a:lstStyle/>
                    <a:p>
                      <a:pPr indent="0" algn="ctr">
                        <a:lnSpc>
                          <a:spcPct val="100000"/>
                        </a:lnSpc>
                        <a:defRPr/>
                      </a:pPr>
                      <a:r>
                        <a:rPr lang="en-US" sz="1300" b="0" i="0" u="none" strike="noStrike">
                          <a:solidFill>
                            <a:srgbClr val="212529"/>
                          </a:solidFill>
                          <a:latin typeface="Noto Sans SC"/>
                          <a:ea typeface="Noto Sans SC"/>
                          <a:cs typeface="Noto Sans SC"/>
                          <a:sym typeface="Noto Sans SC"/>
                        </a:rPr>
                        <a:t>极端重要</a:t>
                      </a:r>
                      <a:endParaRPr lang="en-US" sz="1100"/>
                    </a:p>
                  </a:txBody>
                  <a:tcPr marL="101600" marR="101600" marT="101600" marB="101600" anchor="ctr">
                    <a:lnL>
                      <a:noFill/>
                    </a:lnL>
                    <a:lnR>
                      <a:noFill/>
                    </a:lnR>
                    <a:lnT>
                      <a:noFill/>
                    </a:lnT>
                    <a:lnB>
                      <a:noFill/>
                    </a:lnB>
                    <a:solidFill>
                      <a:srgbClr val="F0F8FF">
                        <a:alpha val="100000"/>
                      </a:srgbClr>
                    </a:solidFill>
                  </a:tcPr>
                </a:tc>
                <a:tc>
                  <a:txBody>
                    <a:bodyPr/>
                    <a:lstStyle/>
                    <a:p>
                      <a:pPr indent="0" algn="l">
                        <a:lnSpc>
                          <a:spcPct val="100000"/>
                        </a:lnSpc>
                        <a:defRPr/>
                      </a:pPr>
                      <a:r>
                        <a:rPr lang="en-US" sz="1300" b="0" i="0" u="none" strike="noStrike">
                          <a:solidFill>
                            <a:srgbClr val="212529"/>
                          </a:solidFill>
                          <a:latin typeface="Noto Sans SC"/>
                          <a:ea typeface="Noto Sans SC"/>
                          <a:cs typeface="Noto Sans SC"/>
                          <a:sym typeface="Noto Sans SC"/>
                        </a:rPr>
                        <a:t>一因素比另一因素极端重要，是最高级别的重要性</a:t>
                      </a:r>
                      <a:endParaRPr lang="en-US" sz="1100"/>
                    </a:p>
                  </a:txBody>
                  <a:tcPr marL="101600" marR="101600" marT="101600" marB="101600" anchor="ctr">
                    <a:lnL>
                      <a:noFill/>
                    </a:lnL>
                    <a:lnR>
                      <a:noFill/>
                    </a:lnR>
                    <a:lnT>
                      <a:noFill/>
                    </a:lnT>
                    <a:lnB>
                      <a:noFill/>
                    </a:lnB>
                    <a:solidFill>
                      <a:srgbClr val="F0F8FF">
                        <a:alpha val="100000"/>
                      </a:srgbClr>
                    </a:solidFill>
                  </a:tcPr>
                </a:tc>
                <a:extLst>
                  <a:ext uri="{0D108BD9-81ED-4DB2-BD59-A6C34878D82A}">
                    <a16:rowId xmlns:a16="http://schemas.microsoft.com/office/drawing/2014/main" val="10005"/>
                  </a:ext>
                </a:extLst>
              </a:tr>
              <a:tr h="381000">
                <a:tc>
                  <a:txBody>
                    <a:bodyPr/>
                    <a:lstStyle/>
                    <a:p>
                      <a:pPr indent="0" algn="ctr">
                        <a:lnSpc>
                          <a:spcPct val="100000"/>
                        </a:lnSpc>
                        <a:defRPr/>
                      </a:pPr>
                      <a:r>
                        <a:rPr lang="en-US" sz="1300" b="0" i="0" u="none" strike="noStrike">
                          <a:solidFill>
                            <a:srgbClr val="212529"/>
                          </a:solidFill>
                          <a:latin typeface="Noto Sans SC"/>
                          <a:ea typeface="Noto Sans SC"/>
                          <a:cs typeface="Noto Sans SC"/>
                          <a:sym typeface="Noto Sans SC"/>
                        </a:rPr>
                        <a:t>2,4,6,8</a:t>
                      </a:r>
                      <a:endParaRPr lang="en-US" sz="1100"/>
                    </a:p>
                  </a:txBody>
                  <a:tcPr marL="101600" marR="101600" marT="101600" marB="101600" anchor="ctr">
                    <a:lnL>
                      <a:noFill/>
                    </a:lnL>
                    <a:lnR>
                      <a:noFill/>
                    </a:lnR>
                    <a:lnT>
                      <a:noFill/>
                    </a:lnT>
                    <a:lnB>
                      <a:noFill/>
                    </a:lnB>
                    <a:solidFill>
                      <a:srgbClr val="FFFFFF">
                        <a:alpha val="100000"/>
                      </a:srgbClr>
                    </a:solidFill>
                  </a:tcPr>
                </a:tc>
                <a:tc>
                  <a:txBody>
                    <a:bodyPr/>
                    <a:lstStyle/>
                    <a:p>
                      <a:pPr indent="0" algn="ctr">
                        <a:lnSpc>
                          <a:spcPct val="100000"/>
                        </a:lnSpc>
                        <a:defRPr/>
                      </a:pPr>
                      <a:r>
                        <a:rPr lang="en-US" sz="1300" b="0" i="0" u="none" strike="noStrike">
                          <a:solidFill>
                            <a:srgbClr val="212529"/>
                          </a:solidFill>
                          <a:latin typeface="Noto Sans SC"/>
                          <a:ea typeface="Noto Sans SC"/>
                          <a:cs typeface="Noto Sans SC"/>
                          <a:sym typeface="Noto Sans SC"/>
                        </a:rPr>
                        <a:t>中间值</a:t>
                      </a:r>
                      <a:endParaRPr lang="en-US" sz="1100"/>
                    </a:p>
                  </a:txBody>
                  <a:tcPr marL="101600" marR="101600" marT="101600" marB="101600" anchor="ctr">
                    <a:lnL>
                      <a:noFill/>
                    </a:lnL>
                    <a:lnR>
                      <a:noFill/>
                    </a:lnR>
                    <a:lnT>
                      <a:noFill/>
                    </a:lnT>
                    <a:lnB>
                      <a:noFill/>
                    </a:lnB>
                    <a:solidFill>
                      <a:srgbClr val="FFFFFF">
                        <a:alpha val="100000"/>
                      </a:srgbClr>
                    </a:solidFill>
                  </a:tcPr>
                </a:tc>
                <a:tc>
                  <a:txBody>
                    <a:bodyPr/>
                    <a:lstStyle/>
                    <a:p>
                      <a:pPr indent="0" algn="l">
                        <a:lnSpc>
                          <a:spcPct val="100000"/>
                        </a:lnSpc>
                        <a:defRPr/>
                      </a:pPr>
                      <a:r>
                        <a:rPr lang="en-US" sz="1300" b="0" i="0" u="none" strike="noStrike">
                          <a:solidFill>
                            <a:srgbClr val="212529"/>
                          </a:solidFill>
                          <a:latin typeface="Noto Sans SC"/>
                          <a:ea typeface="Noto Sans SC"/>
                          <a:cs typeface="Noto Sans SC"/>
                          <a:sym typeface="Noto Sans SC"/>
                        </a:rPr>
                        <a:t>用于表示上述相邻判断之间的折中情况</a:t>
                      </a:r>
                      <a:endParaRPr lang="en-US" sz="1100"/>
                    </a:p>
                  </a:txBody>
                  <a:tcPr marL="101600" marR="101600" marT="101600" marB="101600" anchor="ctr">
                    <a:lnL>
                      <a:noFill/>
                    </a:lnL>
                    <a:lnR>
                      <a:noFill/>
                    </a:lnR>
                    <a:lnT>
                      <a:noFill/>
                    </a:lnT>
                    <a:lnB>
                      <a:noFill/>
                    </a:lnB>
                    <a:solidFill>
                      <a:srgbClr val="FFFFFF">
                        <a:alpha val="100000"/>
                      </a:srgbClr>
                    </a:solidFill>
                  </a:tcPr>
                </a:tc>
                <a:extLst>
                  <a:ext uri="{0D108BD9-81ED-4DB2-BD59-A6C34878D82A}">
                    <a16:rowId xmlns:a16="http://schemas.microsoft.com/office/drawing/2014/main" val="10006"/>
                  </a:ext>
                </a:extLst>
              </a:tr>
            </a:tbl>
          </a:graphicData>
        </a:graphic>
      </p:graphicFrame>
      <p:sp>
        <p:nvSpPr>
          <p:cNvPr id="7" name="AutoShape 7"/>
          <p:cNvSpPr/>
          <p:nvPr/>
        </p:nvSpPr>
        <p:spPr>
          <a:xfrm>
            <a:off x="762000" y="4953000"/>
            <a:ext cx="10668000" cy="762000"/>
          </a:xfrm>
          <a:prstGeom prst="roundRect">
            <a:avLst>
              <a:gd name="adj" fmla="val 16666"/>
            </a:avLst>
          </a:prstGeom>
          <a:solidFill>
            <a:srgbClr val="EFF6FF">
              <a:alpha val="100000"/>
            </a:srgbClr>
          </a:solidFill>
          <a:ln w="12700" cap="flat" cmpd="sng">
            <a:solidFill>
              <a:srgbClr val="0D6EFD">
                <a:alpha val="100000"/>
              </a:srgbClr>
            </a:solidFill>
            <a:prstDash val="solid"/>
            <a:round/>
          </a:ln>
        </p:spPr>
        <p:txBody>
          <a:bodyPr vert="horz" wrap="square" lIns="63500" tIns="63500" rIns="63500" bIns="63500" rtlCol="0" anchor="ctr"/>
          <a:lstStyle/>
          <a:p>
            <a:pPr algn="ctr">
              <a:defRPr/>
            </a:pPr>
            <a:endParaRPr/>
          </a:p>
        </p:txBody>
      </p:sp>
      <p:pic>
        <p:nvPicPr>
          <p:cNvPr id="8" name="Picture 8"/>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5181600"/>
            <a:ext cx="304800" cy="304800"/>
          </a:xfrm>
          <a:prstGeom prst="rect">
            <a:avLst/>
          </a:prstGeom>
        </p:spPr>
      </p:pic>
      <p:sp>
        <p:nvSpPr>
          <p:cNvPr id="9" name="AutoShape 9"/>
          <p:cNvSpPr/>
          <p:nvPr/>
        </p:nvSpPr>
        <p:spPr>
          <a:xfrm>
            <a:off x="1460500" y="5080000"/>
            <a:ext cx="9144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0D6EFD"/>
                </a:solidFill>
                <a:latin typeface="Noto Sans SC"/>
                <a:ea typeface="Noto Sans SC"/>
                <a:cs typeface="Noto Sans SC"/>
                <a:sym typeface="Noto Sans SC"/>
              </a:rPr>
              <a:t>互反性原则：</a:t>
            </a:r>
            <a:r>
              <a:rPr lang="en-US" sz="1400" b="0" i="0" u="none" strike="noStrike">
                <a:solidFill>
                  <a:srgbClr val="212529"/>
                </a:solidFill>
                <a:latin typeface="Noto Sans SC"/>
                <a:ea typeface="Noto Sans SC"/>
                <a:cs typeface="Noto Sans SC"/>
                <a:sym typeface="Noto Sans SC"/>
              </a:rPr>
              <a:t>若因素i对j的标度为a，则j对i的标度为1/a。这保证了判断矩阵的一致性逻辑。</a:t>
            </a:r>
            <a:endParaRPr lang="en-US" sz="11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508000"/>
            <a:ext cx="35179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0D6EFD"/>
                </a:solidFill>
                <a:latin typeface="Noto Sans SC"/>
                <a:ea typeface="Noto Sans SC"/>
                <a:cs typeface="Noto Sans SC"/>
                <a:sym typeface="Noto Sans SC"/>
              </a:rPr>
              <a:t>一致性检验理论</a:t>
            </a:r>
            <a:endParaRPr lang="en-US" sz="1100"/>
          </a:p>
        </p:txBody>
      </p:sp>
      <p:sp>
        <p:nvSpPr>
          <p:cNvPr id="5" name="AutoShape 5"/>
          <p:cNvSpPr/>
          <p:nvPr/>
        </p:nvSpPr>
        <p:spPr>
          <a:xfrm>
            <a:off x="762000" y="1397000"/>
            <a:ext cx="4826000" cy="1143000"/>
          </a:xfrm>
          <a:prstGeom prst="roundRect">
            <a:avLst>
              <a:gd name="adj" fmla="val 11111"/>
            </a:avLst>
          </a:prstGeom>
          <a:solidFill>
            <a:srgbClr val="EFF6FF">
              <a:alpha val="100000"/>
            </a:srgbClr>
          </a:solidFill>
          <a:ln w="12700" cap="flat" cmpd="sng">
            <a:solidFill>
              <a:srgbClr val="BFDBFE">
                <a:alpha val="100000"/>
              </a:srgbClr>
            </a:solid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52500" y="1587500"/>
            <a:ext cx="304800" cy="304800"/>
          </a:xfrm>
          <a:prstGeom prst="rect">
            <a:avLst/>
          </a:prstGeom>
        </p:spPr>
      </p:pic>
      <p:sp>
        <p:nvSpPr>
          <p:cNvPr id="7" name="AutoShape 7"/>
          <p:cNvSpPr/>
          <p:nvPr/>
        </p:nvSpPr>
        <p:spPr>
          <a:xfrm>
            <a:off x="1333500" y="1549400"/>
            <a:ext cx="4191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374151"/>
                </a:solidFill>
                <a:latin typeface="Noto Sans SC"/>
                <a:ea typeface="Noto Sans SC"/>
                <a:cs typeface="Noto Sans SC"/>
                <a:sym typeface="Noto Sans SC"/>
              </a:rPr>
              <a:t>检验目的：</a:t>
            </a:r>
            <a:endParaRPr lang="en-US" sz="1100"/>
          </a:p>
          <a:p>
            <a:pPr indent="0" algn="l">
              <a:lnSpc>
                <a:spcPct val="125000"/>
              </a:lnSpc>
            </a:pPr>
            <a:r>
              <a:rPr lang="en-US" sz="1300" b="0" i="0" u="none" strike="noStrike">
                <a:solidFill>
                  <a:srgbClr val="4B5563"/>
                </a:solidFill>
                <a:latin typeface="Noto Sans SC"/>
                <a:ea typeface="Noto Sans SC"/>
                <a:cs typeface="Noto Sans SC"/>
                <a:sym typeface="Noto Sans SC"/>
              </a:rPr>
              <a:t>由于人的主观判断难免存在矛盾，需对判断矩阵进行一致性检验，确保权重结果可靠。</a:t>
            </a:r>
          </a:p>
        </p:txBody>
      </p:sp>
      <p:sp>
        <p:nvSpPr>
          <p:cNvPr id="8" name="AutoShape 8"/>
          <p:cNvSpPr/>
          <p:nvPr/>
        </p:nvSpPr>
        <p:spPr>
          <a:xfrm>
            <a:off x="762000" y="2794000"/>
            <a:ext cx="4826000" cy="1143000"/>
          </a:xfrm>
          <a:prstGeom prst="roundRect">
            <a:avLst>
              <a:gd name="adj" fmla="val 11111"/>
            </a:avLst>
          </a:prstGeom>
          <a:solidFill>
            <a:srgbClr val="EFF6FF">
              <a:alpha val="100000"/>
            </a:srgbClr>
          </a:solidFill>
          <a:ln w="12700" cap="flat" cmpd="sng">
            <a:solidFill>
              <a:srgbClr val="BFDBFE">
                <a:alpha val="100000"/>
              </a:srgbClr>
            </a:solidFill>
            <a:prstDash val="solid"/>
            <a:round/>
          </a:ln>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52500" y="2984500"/>
            <a:ext cx="304800" cy="304800"/>
          </a:xfrm>
          <a:prstGeom prst="rect">
            <a:avLst/>
          </a:prstGeom>
        </p:spPr>
      </p:pic>
      <p:sp>
        <p:nvSpPr>
          <p:cNvPr id="10" name="AutoShape 10"/>
          <p:cNvSpPr/>
          <p:nvPr/>
        </p:nvSpPr>
        <p:spPr>
          <a:xfrm>
            <a:off x="1333500" y="2946400"/>
            <a:ext cx="4191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374151"/>
                </a:solidFill>
                <a:latin typeface="Noto Sans SC"/>
                <a:ea typeface="Noto Sans SC"/>
                <a:cs typeface="Noto Sans SC"/>
                <a:sym typeface="Noto Sans SC"/>
              </a:rPr>
              <a:t>判定标准：</a:t>
            </a:r>
            <a:endParaRPr lang="en-US" sz="1100"/>
          </a:p>
          <a:p>
            <a:pPr indent="0" algn="l">
              <a:lnSpc>
                <a:spcPct val="125000"/>
              </a:lnSpc>
            </a:pPr>
            <a:r>
              <a:rPr lang="en-US" sz="1300" b="0" i="0" u="none" strike="noStrike">
                <a:solidFill>
                  <a:srgbClr val="4B5563"/>
                </a:solidFill>
                <a:latin typeface="Noto Sans SC"/>
                <a:ea typeface="Noto Sans SC"/>
                <a:cs typeface="Noto Sans SC"/>
                <a:sym typeface="Noto Sans SC"/>
              </a:rPr>
              <a:t>当一致性比率</a:t>
            </a:r>
            <a:r>
              <a:rPr lang="en-US" sz="1300" b="1" i="0" u="none" strike="noStrike">
                <a:solidFill>
                  <a:srgbClr val="0D6EFD"/>
                </a:solidFill>
                <a:latin typeface="Noto Sans SC"/>
                <a:ea typeface="Noto Sans SC"/>
                <a:cs typeface="Noto Sans SC"/>
                <a:sym typeface="Noto Sans SC"/>
              </a:rPr>
              <a:t>CR &lt; 0.1</a:t>
            </a:r>
            <a:r>
              <a:rPr lang="en-US" sz="1300" b="0" i="0" u="none" strike="noStrike">
                <a:solidFill>
                  <a:srgbClr val="4B5563"/>
                </a:solidFill>
                <a:latin typeface="Noto Sans SC"/>
                <a:ea typeface="Noto Sans SC"/>
                <a:cs typeface="Noto Sans SC"/>
                <a:sym typeface="Noto Sans SC"/>
              </a:rPr>
              <a:t>时，认为判断矩阵具有满意的一致性。</a:t>
            </a:r>
          </a:p>
        </p:txBody>
      </p:sp>
      <p:sp>
        <p:nvSpPr>
          <p:cNvPr id="11" name="AutoShape 11"/>
          <p:cNvSpPr/>
          <p:nvPr/>
        </p:nvSpPr>
        <p:spPr>
          <a:xfrm>
            <a:off x="762000" y="4191000"/>
            <a:ext cx="4826000" cy="1143000"/>
          </a:xfrm>
          <a:prstGeom prst="roundRect">
            <a:avLst>
              <a:gd name="adj" fmla="val 11111"/>
            </a:avLst>
          </a:prstGeom>
          <a:solidFill>
            <a:srgbClr val="EFF6FF">
              <a:alpha val="100000"/>
            </a:srgbClr>
          </a:solidFill>
          <a:ln w="12700" cap="flat" cmpd="sng">
            <a:solidFill>
              <a:srgbClr val="BFDBFE">
                <a:alpha val="100000"/>
              </a:srgbClr>
            </a:solidFill>
            <a:prstDash val="solid"/>
            <a:round/>
          </a:ln>
        </p:spPr>
        <p:txBody>
          <a:bodyPr vert="horz" wrap="square" lIns="63500" tIns="63500" rIns="63500" bIns="63500" rtlCol="0" anchor="ctr"/>
          <a:lstStyle/>
          <a:p>
            <a:pPr algn="ctr">
              <a:defRPr/>
            </a:pPr>
            <a:endParaRPr/>
          </a:p>
        </p:txBody>
      </p:sp>
      <p:pic>
        <p:nvPicPr>
          <p:cNvPr id="12" name="Picture 12"/>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52500" y="4381500"/>
            <a:ext cx="304800" cy="304800"/>
          </a:xfrm>
          <a:prstGeom prst="rect">
            <a:avLst/>
          </a:prstGeom>
        </p:spPr>
      </p:pic>
      <p:sp>
        <p:nvSpPr>
          <p:cNvPr id="13" name="AutoShape 13"/>
          <p:cNvSpPr/>
          <p:nvPr/>
        </p:nvSpPr>
        <p:spPr>
          <a:xfrm>
            <a:off x="1333500" y="4343400"/>
            <a:ext cx="4191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374151"/>
                </a:solidFill>
                <a:latin typeface="Noto Sans SC"/>
                <a:ea typeface="Noto Sans SC"/>
                <a:cs typeface="Noto Sans SC"/>
                <a:sym typeface="Noto Sans SC"/>
              </a:rPr>
              <a:t>随机一致性指标 (RI)：</a:t>
            </a:r>
            <a:endParaRPr lang="en-US" sz="1100"/>
          </a:p>
          <a:p>
            <a:pPr indent="0" algn="l">
              <a:lnSpc>
                <a:spcPct val="125000"/>
              </a:lnSpc>
            </a:pPr>
            <a:r>
              <a:rPr lang="en-US" sz="1300" b="0" i="0" u="none" strike="noStrike">
                <a:solidFill>
                  <a:srgbClr val="4B5563"/>
                </a:solidFill>
                <a:latin typeface="Noto Sans SC"/>
                <a:ea typeface="Noto Sans SC"/>
                <a:cs typeface="Noto Sans SC"/>
                <a:sym typeface="Noto Sans SC"/>
              </a:rPr>
              <a:t>根据大量随机样本计算得出的平均值，用于修正CI，消除维度n对一致性判断的影响。</a:t>
            </a:r>
          </a:p>
        </p:txBody>
      </p:sp>
      <p:sp>
        <p:nvSpPr>
          <p:cNvPr id="14" name="AutoShape 14"/>
          <p:cNvSpPr/>
          <p:nvPr/>
        </p:nvSpPr>
        <p:spPr>
          <a:xfrm>
            <a:off x="6096000" y="1397000"/>
            <a:ext cx="5334000" cy="1143000"/>
          </a:xfrm>
          <a:prstGeom prst="roundRect">
            <a:avLst>
              <a:gd name="adj" fmla="val 11111"/>
            </a:avLst>
          </a:prstGeom>
          <a:solidFill>
            <a:srgbClr val="FFFFFF">
              <a:alpha val="100000"/>
            </a:srgbClr>
          </a:solidFill>
          <a:ln w="25400" cap="flat" cmpd="sng">
            <a:noFill/>
            <a:prstDash val="solid"/>
            <a:round/>
          </a:ln>
          <a:effectLst>
            <a:outerShdw blurRad="127000" dist="50800" dir="5400000" algn="tl" rotWithShape="0">
              <a:srgbClr val="000000">
                <a:alpha val="8000"/>
              </a:srgbClr>
            </a:outerShdw>
          </a:effectLst>
        </p:spPr>
        <p:txBody>
          <a:bodyPr vert="horz" wrap="square" lIns="63500" tIns="63500" rIns="63500" bIns="63500" rtlCol="0" anchor="ctr"/>
          <a:lstStyle/>
          <a:p>
            <a:pPr algn="ctr">
              <a:defRPr/>
            </a:pPr>
            <a:endParaRPr/>
          </a:p>
        </p:txBody>
      </p:sp>
      <p:sp>
        <p:nvSpPr>
          <p:cNvPr id="15" name="AutoShape 15"/>
          <p:cNvSpPr/>
          <p:nvPr/>
        </p:nvSpPr>
        <p:spPr>
          <a:xfrm>
            <a:off x="6223000" y="1524000"/>
            <a:ext cx="508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D6EFD"/>
                </a:solidFill>
                <a:latin typeface="Noto Sans SC"/>
                <a:ea typeface="Noto Sans SC"/>
                <a:cs typeface="Noto Sans SC"/>
                <a:sym typeface="Noto Sans SC"/>
              </a:rPr>
              <a:t>一致性指标 (CI)</a:t>
            </a:r>
            <a:endParaRPr lang="en-US" sz="1100"/>
          </a:p>
        </p:txBody>
      </p:sp>
      <p:sp>
        <p:nvSpPr>
          <p:cNvPr id="16" name="AutoShape 16"/>
          <p:cNvSpPr/>
          <p:nvPr/>
        </p:nvSpPr>
        <p:spPr>
          <a:xfrm>
            <a:off x="6223000" y="1905000"/>
            <a:ext cx="5080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374151"/>
                </a:solidFill>
                <a:latin typeface="Noto Sans SC"/>
                <a:ea typeface="Noto Sans SC"/>
                <a:cs typeface="Noto Sans SC"/>
                <a:sym typeface="Noto Sans SC"/>
              </a:rPr>
              <a:t>CI = (λ_max - n) / (n - 1)</a:t>
            </a:r>
            <a:endParaRPr lang="en-US" sz="1100"/>
          </a:p>
        </p:txBody>
      </p:sp>
      <p:sp>
        <p:nvSpPr>
          <p:cNvPr id="17" name="AutoShape 17"/>
          <p:cNvSpPr/>
          <p:nvPr/>
        </p:nvSpPr>
        <p:spPr>
          <a:xfrm>
            <a:off x="6096000" y="2794000"/>
            <a:ext cx="5334000" cy="1143000"/>
          </a:xfrm>
          <a:prstGeom prst="roundRect">
            <a:avLst>
              <a:gd name="adj" fmla="val 11111"/>
            </a:avLst>
          </a:prstGeom>
          <a:solidFill>
            <a:srgbClr val="FFFFFF">
              <a:alpha val="100000"/>
            </a:srgbClr>
          </a:solidFill>
          <a:ln w="25400" cap="flat" cmpd="sng">
            <a:noFill/>
            <a:prstDash val="solid"/>
            <a:round/>
          </a:ln>
          <a:effectLst>
            <a:outerShdw blurRad="127000" dist="50800" dir="5400000" algn="tl" rotWithShape="0">
              <a:srgbClr val="000000">
                <a:alpha val="8000"/>
              </a:srgbClr>
            </a:outerShdw>
          </a:effectLst>
        </p:spPr>
        <p:txBody>
          <a:bodyPr vert="horz" wrap="square" lIns="63500" tIns="63500" rIns="63500" bIns="63500" rtlCol="0" anchor="ctr"/>
          <a:lstStyle/>
          <a:p>
            <a:pPr algn="ctr">
              <a:defRPr/>
            </a:pPr>
            <a:endParaRPr/>
          </a:p>
        </p:txBody>
      </p:sp>
      <p:sp>
        <p:nvSpPr>
          <p:cNvPr id="18" name="AutoShape 18"/>
          <p:cNvSpPr/>
          <p:nvPr/>
        </p:nvSpPr>
        <p:spPr>
          <a:xfrm>
            <a:off x="6223000" y="2921000"/>
            <a:ext cx="508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D6EFD"/>
                </a:solidFill>
                <a:latin typeface="Noto Sans SC"/>
                <a:ea typeface="Noto Sans SC"/>
                <a:cs typeface="Noto Sans SC"/>
                <a:sym typeface="Noto Sans SC"/>
              </a:rPr>
              <a:t>一致性比率 (CR)</a:t>
            </a:r>
            <a:endParaRPr lang="en-US" sz="1100"/>
          </a:p>
        </p:txBody>
      </p:sp>
      <p:sp>
        <p:nvSpPr>
          <p:cNvPr id="19" name="AutoShape 19"/>
          <p:cNvSpPr/>
          <p:nvPr/>
        </p:nvSpPr>
        <p:spPr>
          <a:xfrm>
            <a:off x="6223000" y="3302000"/>
            <a:ext cx="5080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374151"/>
                </a:solidFill>
                <a:latin typeface="Noto Sans SC"/>
                <a:ea typeface="Noto Sans SC"/>
                <a:cs typeface="Noto Sans SC"/>
                <a:sym typeface="Noto Sans SC"/>
              </a:rPr>
              <a:t>CR = CI / RI</a:t>
            </a:r>
            <a:endParaRPr lang="en-US" sz="1100"/>
          </a:p>
        </p:txBody>
      </p:sp>
      <p:sp>
        <p:nvSpPr>
          <p:cNvPr id="20" name="AutoShape 20"/>
          <p:cNvSpPr/>
          <p:nvPr/>
        </p:nvSpPr>
        <p:spPr>
          <a:xfrm>
            <a:off x="6096000" y="4191000"/>
            <a:ext cx="533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D6EFD"/>
                </a:solidFill>
                <a:latin typeface="Noto Sans SC"/>
                <a:ea typeface="Noto Sans SC"/>
                <a:cs typeface="Noto Sans SC"/>
                <a:sym typeface="Noto Sans SC"/>
              </a:rPr>
              <a:t>随机一致性指标 (RI) 参考值</a:t>
            </a:r>
            <a:endParaRPr lang="en-US" sz="1100"/>
          </a:p>
        </p:txBody>
      </p:sp>
      <p:graphicFrame>
        <p:nvGraphicFramePr>
          <p:cNvPr id="21" name="Table 21"/>
          <p:cNvGraphicFramePr>
            <a:graphicFrameLocks noGrp="1"/>
          </p:cNvGraphicFramePr>
          <p:nvPr/>
        </p:nvGraphicFramePr>
        <p:xfrm>
          <a:off x="6096000" y="4572000"/>
          <a:ext cx="5334000" cy="772160"/>
        </p:xfrm>
        <a:graphic>
          <a:graphicData uri="http://schemas.openxmlformats.org/drawingml/2006/table">
            <a:tbl>
              <a:tblPr>
                <a:effectLst/>
              </a:tblPr>
              <a:tblGrid>
                <a:gridCol w="762000">
                  <a:extLst>
                    <a:ext uri="{9D8B030D-6E8A-4147-A177-3AD203B41FA5}">
                      <a16:colId xmlns:a16="http://schemas.microsoft.com/office/drawing/2014/main" val="20000"/>
                    </a:ext>
                  </a:extLst>
                </a:gridCol>
                <a:gridCol w="762000">
                  <a:extLst>
                    <a:ext uri="{9D8B030D-6E8A-4147-A177-3AD203B41FA5}">
                      <a16:colId xmlns:a16="http://schemas.microsoft.com/office/drawing/2014/main" val="20001"/>
                    </a:ext>
                  </a:extLst>
                </a:gridCol>
                <a:gridCol w="762000">
                  <a:extLst>
                    <a:ext uri="{9D8B030D-6E8A-4147-A177-3AD203B41FA5}">
                      <a16:colId xmlns:a16="http://schemas.microsoft.com/office/drawing/2014/main" val="20002"/>
                    </a:ext>
                  </a:extLst>
                </a:gridCol>
                <a:gridCol w="762000">
                  <a:extLst>
                    <a:ext uri="{9D8B030D-6E8A-4147-A177-3AD203B41FA5}">
                      <a16:colId xmlns:a16="http://schemas.microsoft.com/office/drawing/2014/main" val="20003"/>
                    </a:ext>
                  </a:extLst>
                </a:gridCol>
                <a:gridCol w="762000">
                  <a:extLst>
                    <a:ext uri="{9D8B030D-6E8A-4147-A177-3AD203B41FA5}">
                      <a16:colId xmlns:a16="http://schemas.microsoft.com/office/drawing/2014/main" val="20004"/>
                    </a:ext>
                  </a:extLst>
                </a:gridCol>
                <a:gridCol w="762000">
                  <a:extLst>
                    <a:ext uri="{9D8B030D-6E8A-4147-A177-3AD203B41FA5}">
                      <a16:colId xmlns:a16="http://schemas.microsoft.com/office/drawing/2014/main" val="20005"/>
                    </a:ext>
                  </a:extLst>
                </a:gridCol>
                <a:gridCol w="762000">
                  <a:extLst>
                    <a:ext uri="{9D8B030D-6E8A-4147-A177-3AD203B41FA5}">
                      <a16:colId xmlns:a16="http://schemas.microsoft.com/office/drawing/2014/main" val="20006"/>
                    </a:ext>
                  </a:extLst>
                </a:gridCol>
              </a:tblGrid>
              <a:tr h="381000">
                <a:tc>
                  <a:txBody>
                    <a:bodyPr/>
                    <a:lstStyle/>
                    <a:p>
                      <a:pPr indent="0" algn="ctr">
                        <a:lnSpc>
                          <a:spcPct val="100000"/>
                        </a:lnSpc>
                        <a:defRPr/>
                      </a:pPr>
                      <a:r>
                        <a:rPr lang="en-US" sz="1200" b="1" i="0" u="none" strike="noStrike">
                          <a:solidFill>
                            <a:srgbClr val="0D6EFD"/>
                          </a:solidFill>
                          <a:latin typeface="Noto Sans SC"/>
                          <a:ea typeface="Noto Sans SC"/>
                          <a:cs typeface="Noto Sans SC"/>
                          <a:sym typeface="Noto Sans SC"/>
                        </a:rPr>
                        <a:t>n</a:t>
                      </a:r>
                      <a:endParaRPr lang="en-US" sz="1100"/>
                    </a:p>
                  </a:txBody>
                  <a:tcPr marL="101600" marR="101600" marT="101600" marB="101600" anchor="ctr">
                    <a:lnL>
                      <a:noFill/>
                    </a:lnL>
                    <a:lnR>
                      <a:noFill/>
                    </a:lnR>
                    <a:lnT>
                      <a:noFill/>
                    </a:lnT>
                    <a:lnB>
                      <a:noFill/>
                    </a:lnB>
                    <a:solidFill>
                      <a:srgbClr val="EFF6FF">
                        <a:alpha val="100000"/>
                      </a:srgbClr>
                    </a:solidFill>
                  </a:tcPr>
                </a:tc>
                <a:tc>
                  <a:txBody>
                    <a:bodyPr/>
                    <a:lstStyle/>
                    <a:p>
                      <a:pPr indent="0" algn="ctr">
                        <a:lnSpc>
                          <a:spcPct val="100000"/>
                        </a:lnSpc>
                        <a:defRPr/>
                      </a:pPr>
                      <a:r>
                        <a:rPr lang="en-US" sz="1200" b="1" i="0" u="none" strike="noStrike">
                          <a:solidFill>
                            <a:srgbClr val="0D6EFD"/>
                          </a:solidFill>
                          <a:latin typeface="Noto Sans SC"/>
                          <a:ea typeface="Noto Sans SC"/>
                          <a:cs typeface="Noto Sans SC"/>
                          <a:sym typeface="Noto Sans SC"/>
                        </a:rPr>
                        <a:t>3</a:t>
                      </a:r>
                      <a:endParaRPr lang="en-US" sz="1100"/>
                    </a:p>
                  </a:txBody>
                  <a:tcPr marL="101600" marR="101600" marT="101600" marB="101600" anchor="ctr">
                    <a:lnL>
                      <a:noFill/>
                    </a:lnL>
                    <a:lnR>
                      <a:noFill/>
                    </a:lnR>
                    <a:lnT>
                      <a:noFill/>
                    </a:lnT>
                    <a:lnB>
                      <a:noFill/>
                    </a:lnB>
                    <a:solidFill>
                      <a:srgbClr val="EFF6FF">
                        <a:alpha val="100000"/>
                      </a:srgbClr>
                    </a:solidFill>
                  </a:tcPr>
                </a:tc>
                <a:tc>
                  <a:txBody>
                    <a:bodyPr/>
                    <a:lstStyle/>
                    <a:p>
                      <a:pPr indent="0" algn="ctr">
                        <a:lnSpc>
                          <a:spcPct val="100000"/>
                        </a:lnSpc>
                        <a:defRPr/>
                      </a:pPr>
                      <a:r>
                        <a:rPr lang="en-US" sz="1200" b="1" i="0" u="none" strike="noStrike">
                          <a:solidFill>
                            <a:srgbClr val="0D6EFD"/>
                          </a:solidFill>
                          <a:latin typeface="Noto Sans SC"/>
                          <a:ea typeface="Noto Sans SC"/>
                          <a:cs typeface="Noto Sans SC"/>
                          <a:sym typeface="Noto Sans SC"/>
                        </a:rPr>
                        <a:t>4</a:t>
                      </a:r>
                      <a:endParaRPr lang="en-US" sz="1100"/>
                    </a:p>
                  </a:txBody>
                  <a:tcPr marL="101600" marR="101600" marT="101600" marB="101600" anchor="ctr">
                    <a:lnL>
                      <a:noFill/>
                    </a:lnL>
                    <a:lnR>
                      <a:noFill/>
                    </a:lnR>
                    <a:lnT>
                      <a:noFill/>
                    </a:lnT>
                    <a:lnB>
                      <a:noFill/>
                    </a:lnB>
                    <a:solidFill>
                      <a:srgbClr val="EFF6FF">
                        <a:alpha val="100000"/>
                      </a:srgbClr>
                    </a:solidFill>
                  </a:tcPr>
                </a:tc>
                <a:tc>
                  <a:txBody>
                    <a:bodyPr/>
                    <a:lstStyle/>
                    <a:p>
                      <a:pPr indent="0" algn="ctr">
                        <a:lnSpc>
                          <a:spcPct val="100000"/>
                        </a:lnSpc>
                        <a:defRPr/>
                      </a:pPr>
                      <a:r>
                        <a:rPr lang="en-US" sz="1200" b="1" i="0" u="none" strike="noStrike">
                          <a:solidFill>
                            <a:srgbClr val="0D6EFD"/>
                          </a:solidFill>
                          <a:latin typeface="Noto Sans SC"/>
                          <a:ea typeface="Noto Sans SC"/>
                          <a:cs typeface="Noto Sans SC"/>
                          <a:sym typeface="Noto Sans SC"/>
                        </a:rPr>
                        <a:t>5</a:t>
                      </a:r>
                      <a:endParaRPr lang="en-US" sz="1100"/>
                    </a:p>
                  </a:txBody>
                  <a:tcPr marL="101600" marR="101600" marT="101600" marB="101600" anchor="ctr">
                    <a:lnL>
                      <a:noFill/>
                    </a:lnL>
                    <a:lnR>
                      <a:noFill/>
                    </a:lnR>
                    <a:lnT>
                      <a:noFill/>
                    </a:lnT>
                    <a:lnB>
                      <a:noFill/>
                    </a:lnB>
                    <a:solidFill>
                      <a:srgbClr val="EFF6FF">
                        <a:alpha val="100000"/>
                      </a:srgbClr>
                    </a:solidFill>
                  </a:tcPr>
                </a:tc>
                <a:tc>
                  <a:txBody>
                    <a:bodyPr/>
                    <a:lstStyle/>
                    <a:p>
                      <a:pPr indent="0" algn="ctr">
                        <a:lnSpc>
                          <a:spcPct val="100000"/>
                        </a:lnSpc>
                        <a:defRPr/>
                      </a:pPr>
                      <a:r>
                        <a:rPr lang="en-US" sz="1200" b="1" i="0" u="none" strike="noStrike">
                          <a:solidFill>
                            <a:srgbClr val="0D6EFD"/>
                          </a:solidFill>
                          <a:latin typeface="Noto Sans SC"/>
                          <a:ea typeface="Noto Sans SC"/>
                          <a:cs typeface="Noto Sans SC"/>
                          <a:sym typeface="Noto Sans SC"/>
                        </a:rPr>
                        <a:t>6</a:t>
                      </a:r>
                      <a:endParaRPr lang="en-US" sz="1100"/>
                    </a:p>
                  </a:txBody>
                  <a:tcPr marL="101600" marR="101600" marT="101600" marB="101600" anchor="ctr">
                    <a:lnL>
                      <a:noFill/>
                    </a:lnL>
                    <a:lnR>
                      <a:noFill/>
                    </a:lnR>
                    <a:lnT>
                      <a:noFill/>
                    </a:lnT>
                    <a:lnB>
                      <a:noFill/>
                    </a:lnB>
                    <a:solidFill>
                      <a:srgbClr val="EFF6FF">
                        <a:alpha val="100000"/>
                      </a:srgbClr>
                    </a:solidFill>
                  </a:tcPr>
                </a:tc>
                <a:tc>
                  <a:txBody>
                    <a:bodyPr/>
                    <a:lstStyle/>
                    <a:p>
                      <a:pPr indent="0" algn="ctr">
                        <a:lnSpc>
                          <a:spcPct val="100000"/>
                        </a:lnSpc>
                        <a:defRPr/>
                      </a:pPr>
                      <a:r>
                        <a:rPr lang="en-US" sz="1200" b="1" i="0" u="none" strike="noStrike">
                          <a:solidFill>
                            <a:srgbClr val="0D6EFD"/>
                          </a:solidFill>
                          <a:latin typeface="Noto Sans SC"/>
                          <a:ea typeface="Noto Sans SC"/>
                          <a:cs typeface="Noto Sans SC"/>
                          <a:sym typeface="Noto Sans SC"/>
                        </a:rPr>
                        <a:t>7</a:t>
                      </a:r>
                      <a:endParaRPr lang="en-US" sz="1100"/>
                    </a:p>
                  </a:txBody>
                  <a:tcPr marL="101600" marR="101600" marT="101600" marB="101600" anchor="ctr">
                    <a:lnL>
                      <a:noFill/>
                    </a:lnL>
                    <a:lnR>
                      <a:noFill/>
                    </a:lnR>
                    <a:lnT>
                      <a:noFill/>
                    </a:lnT>
                    <a:lnB>
                      <a:noFill/>
                    </a:lnB>
                    <a:solidFill>
                      <a:srgbClr val="EFF6FF">
                        <a:alpha val="100000"/>
                      </a:srgbClr>
                    </a:solidFill>
                  </a:tcPr>
                </a:tc>
                <a:tc>
                  <a:txBody>
                    <a:bodyPr/>
                    <a:lstStyle/>
                    <a:p>
                      <a:pPr indent="0" algn="ctr">
                        <a:lnSpc>
                          <a:spcPct val="100000"/>
                        </a:lnSpc>
                        <a:defRPr/>
                      </a:pPr>
                      <a:r>
                        <a:rPr lang="en-US" sz="1200" b="1" i="0" u="none" strike="noStrike">
                          <a:solidFill>
                            <a:srgbClr val="0D6EFD"/>
                          </a:solidFill>
                          <a:latin typeface="Noto Sans SC"/>
                          <a:ea typeface="Noto Sans SC"/>
                          <a:cs typeface="Noto Sans SC"/>
                          <a:sym typeface="Noto Sans SC"/>
                        </a:rPr>
                        <a:t>8</a:t>
                      </a:r>
                      <a:endParaRPr lang="en-US" sz="1100"/>
                    </a:p>
                  </a:txBody>
                  <a:tcPr marL="101600" marR="101600" marT="101600" marB="101600" anchor="ctr">
                    <a:lnL>
                      <a:noFill/>
                    </a:lnL>
                    <a:lnR>
                      <a:noFill/>
                    </a:lnR>
                    <a:lnT>
                      <a:noFill/>
                    </a:lnT>
                    <a:lnB>
                      <a:noFill/>
                    </a:lnB>
                    <a:solidFill>
                      <a:srgbClr val="EFF6FF">
                        <a:alpha val="100000"/>
                      </a:srgbClr>
                    </a:solidFill>
                  </a:tcPr>
                </a:tc>
                <a:extLst>
                  <a:ext uri="{0D108BD9-81ED-4DB2-BD59-A6C34878D82A}">
                    <a16:rowId xmlns:a16="http://schemas.microsoft.com/office/drawing/2014/main" val="10000"/>
                  </a:ext>
                </a:extLst>
              </a:tr>
              <a:tr h="381000">
                <a:tc>
                  <a:txBody>
                    <a:bodyPr/>
                    <a:lstStyle/>
                    <a:p>
                      <a:pPr indent="0" algn="ctr">
                        <a:lnSpc>
                          <a:spcPct val="100000"/>
                        </a:lnSpc>
                        <a:defRPr/>
                      </a:pPr>
                      <a:r>
                        <a:rPr lang="en-US" sz="1200" b="1" i="0" u="none" strike="noStrike">
                          <a:solidFill>
                            <a:srgbClr val="374151"/>
                          </a:solidFill>
                          <a:latin typeface="Noto Sans SC"/>
                          <a:ea typeface="Noto Sans SC"/>
                          <a:cs typeface="Noto Sans SC"/>
                          <a:sym typeface="Noto Sans SC"/>
                        </a:rPr>
                        <a:t>RI</a:t>
                      </a:r>
                      <a:endParaRPr lang="en-US" sz="1100"/>
                    </a:p>
                  </a:txBody>
                  <a:tcPr marL="101600" marR="101600" marT="101600" marB="101600" anchor="ctr">
                    <a:lnL>
                      <a:noFill/>
                    </a:lnL>
                    <a:lnR>
                      <a:noFill/>
                    </a:lnR>
                    <a:lnT>
                      <a:noFill/>
                    </a:lnT>
                    <a:lnB>
                      <a:noFill/>
                    </a:lnB>
                    <a:solidFill>
                      <a:srgbClr val="FFFFFF">
                        <a:alpha val="100000"/>
                      </a:srgbClr>
                    </a:solidFill>
                  </a:tcPr>
                </a:tc>
                <a:tc>
                  <a:txBody>
                    <a:bodyPr/>
                    <a:lstStyle/>
                    <a:p>
                      <a:pPr indent="0" algn="ctr">
                        <a:lnSpc>
                          <a:spcPct val="100000"/>
                        </a:lnSpc>
                        <a:defRPr/>
                      </a:pPr>
                      <a:r>
                        <a:rPr lang="en-US" sz="1200" b="0" i="0" u="none" strike="noStrike">
                          <a:solidFill>
                            <a:srgbClr val="374151"/>
                          </a:solidFill>
                          <a:latin typeface="Noto Sans SC"/>
                          <a:ea typeface="Noto Sans SC"/>
                          <a:cs typeface="Noto Sans SC"/>
                          <a:sym typeface="Noto Sans SC"/>
                        </a:rPr>
                        <a:t>0.58</a:t>
                      </a:r>
                      <a:endParaRPr lang="en-US" sz="1100"/>
                    </a:p>
                  </a:txBody>
                  <a:tcPr marL="101600" marR="101600" marT="101600" marB="101600" anchor="ctr">
                    <a:lnL>
                      <a:noFill/>
                    </a:lnL>
                    <a:lnR>
                      <a:noFill/>
                    </a:lnR>
                    <a:lnT>
                      <a:noFill/>
                    </a:lnT>
                    <a:lnB>
                      <a:noFill/>
                    </a:lnB>
                    <a:solidFill>
                      <a:srgbClr val="FFFFFF">
                        <a:alpha val="100000"/>
                      </a:srgbClr>
                    </a:solidFill>
                  </a:tcPr>
                </a:tc>
                <a:tc>
                  <a:txBody>
                    <a:bodyPr/>
                    <a:lstStyle/>
                    <a:p>
                      <a:pPr indent="0" algn="ctr">
                        <a:lnSpc>
                          <a:spcPct val="100000"/>
                        </a:lnSpc>
                        <a:defRPr/>
                      </a:pPr>
                      <a:r>
                        <a:rPr lang="en-US" sz="1200" b="0" i="0" u="none" strike="noStrike">
                          <a:solidFill>
                            <a:srgbClr val="374151"/>
                          </a:solidFill>
                          <a:latin typeface="Noto Sans SC"/>
                          <a:ea typeface="Noto Sans SC"/>
                          <a:cs typeface="Noto Sans SC"/>
                          <a:sym typeface="Noto Sans SC"/>
                        </a:rPr>
                        <a:t>0.90</a:t>
                      </a:r>
                      <a:endParaRPr lang="en-US" sz="1100"/>
                    </a:p>
                  </a:txBody>
                  <a:tcPr marL="101600" marR="101600" marT="101600" marB="101600" anchor="ctr">
                    <a:lnL>
                      <a:noFill/>
                    </a:lnL>
                    <a:lnR>
                      <a:noFill/>
                    </a:lnR>
                    <a:lnT>
                      <a:noFill/>
                    </a:lnT>
                    <a:lnB>
                      <a:noFill/>
                    </a:lnB>
                    <a:solidFill>
                      <a:srgbClr val="FFFFFF">
                        <a:alpha val="100000"/>
                      </a:srgbClr>
                    </a:solidFill>
                  </a:tcPr>
                </a:tc>
                <a:tc>
                  <a:txBody>
                    <a:bodyPr/>
                    <a:lstStyle/>
                    <a:p>
                      <a:pPr indent="0" algn="ctr">
                        <a:lnSpc>
                          <a:spcPct val="100000"/>
                        </a:lnSpc>
                        <a:defRPr/>
                      </a:pPr>
                      <a:r>
                        <a:rPr lang="en-US" sz="1200" b="0" i="0" u="none" strike="noStrike">
                          <a:solidFill>
                            <a:srgbClr val="374151"/>
                          </a:solidFill>
                          <a:latin typeface="Noto Sans SC"/>
                          <a:ea typeface="Noto Sans SC"/>
                          <a:cs typeface="Noto Sans SC"/>
                          <a:sym typeface="Noto Sans SC"/>
                        </a:rPr>
                        <a:t>1.12</a:t>
                      </a:r>
                      <a:endParaRPr lang="en-US" sz="1100"/>
                    </a:p>
                  </a:txBody>
                  <a:tcPr marL="101600" marR="101600" marT="101600" marB="101600" anchor="ctr">
                    <a:lnL>
                      <a:noFill/>
                    </a:lnL>
                    <a:lnR>
                      <a:noFill/>
                    </a:lnR>
                    <a:lnT>
                      <a:noFill/>
                    </a:lnT>
                    <a:lnB>
                      <a:noFill/>
                    </a:lnB>
                    <a:solidFill>
                      <a:srgbClr val="FFFFFF">
                        <a:alpha val="100000"/>
                      </a:srgbClr>
                    </a:solidFill>
                  </a:tcPr>
                </a:tc>
                <a:tc>
                  <a:txBody>
                    <a:bodyPr/>
                    <a:lstStyle/>
                    <a:p>
                      <a:pPr indent="0" algn="ctr">
                        <a:lnSpc>
                          <a:spcPct val="100000"/>
                        </a:lnSpc>
                        <a:defRPr/>
                      </a:pPr>
                      <a:r>
                        <a:rPr lang="en-US" sz="1200" b="0" i="0" u="none" strike="noStrike">
                          <a:solidFill>
                            <a:srgbClr val="374151"/>
                          </a:solidFill>
                          <a:latin typeface="Noto Sans SC"/>
                          <a:ea typeface="Noto Sans SC"/>
                          <a:cs typeface="Noto Sans SC"/>
                          <a:sym typeface="Noto Sans SC"/>
                        </a:rPr>
                        <a:t>1.24</a:t>
                      </a:r>
                      <a:endParaRPr lang="en-US" sz="1100"/>
                    </a:p>
                  </a:txBody>
                  <a:tcPr marL="101600" marR="101600" marT="101600" marB="101600" anchor="ctr">
                    <a:lnL>
                      <a:noFill/>
                    </a:lnL>
                    <a:lnR>
                      <a:noFill/>
                    </a:lnR>
                    <a:lnT>
                      <a:noFill/>
                    </a:lnT>
                    <a:lnB>
                      <a:noFill/>
                    </a:lnB>
                    <a:solidFill>
                      <a:srgbClr val="FFFFFF">
                        <a:alpha val="100000"/>
                      </a:srgbClr>
                    </a:solidFill>
                  </a:tcPr>
                </a:tc>
                <a:tc>
                  <a:txBody>
                    <a:bodyPr/>
                    <a:lstStyle/>
                    <a:p>
                      <a:pPr indent="0" algn="ctr">
                        <a:lnSpc>
                          <a:spcPct val="100000"/>
                        </a:lnSpc>
                        <a:defRPr/>
                      </a:pPr>
                      <a:r>
                        <a:rPr lang="en-US" sz="1200" b="0" i="0" u="none" strike="noStrike">
                          <a:solidFill>
                            <a:srgbClr val="374151"/>
                          </a:solidFill>
                          <a:latin typeface="Noto Sans SC"/>
                          <a:ea typeface="Noto Sans SC"/>
                          <a:cs typeface="Noto Sans SC"/>
                          <a:sym typeface="Noto Sans SC"/>
                        </a:rPr>
                        <a:t>1.32</a:t>
                      </a:r>
                      <a:endParaRPr lang="en-US" sz="1100"/>
                    </a:p>
                  </a:txBody>
                  <a:tcPr marL="101600" marR="101600" marT="101600" marB="101600" anchor="ctr">
                    <a:lnL>
                      <a:noFill/>
                    </a:lnL>
                    <a:lnR>
                      <a:noFill/>
                    </a:lnR>
                    <a:lnT>
                      <a:noFill/>
                    </a:lnT>
                    <a:lnB>
                      <a:noFill/>
                    </a:lnB>
                    <a:solidFill>
                      <a:srgbClr val="FFFFFF">
                        <a:alpha val="100000"/>
                      </a:srgbClr>
                    </a:solidFill>
                  </a:tcPr>
                </a:tc>
                <a:tc>
                  <a:txBody>
                    <a:bodyPr/>
                    <a:lstStyle/>
                    <a:p>
                      <a:pPr indent="0" algn="ctr">
                        <a:lnSpc>
                          <a:spcPct val="100000"/>
                        </a:lnSpc>
                        <a:defRPr/>
                      </a:pPr>
                      <a:r>
                        <a:rPr lang="en-US" sz="1200" b="0" i="0" u="none" strike="noStrike">
                          <a:solidFill>
                            <a:srgbClr val="374151"/>
                          </a:solidFill>
                          <a:latin typeface="Noto Sans SC"/>
                          <a:ea typeface="Noto Sans SC"/>
                          <a:cs typeface="Noto Sans SC"/>
                          <a:sym typeface="Noto Sans SC"/>
                        </a:rPr>
                        <a:t>1.41</a:t>
                      </a:r>
                      <a:endParaRPr lang="en-US" sz="1100"/>
                    </a:p>
                  </a:txBody>
                  <a:tcPr marL="101600" marR="101600" marT="101600" marB="101600" anchor="ctr">
                    <a:lnL>
                      <a:noFill/>
                    </a:lnL>
                    <a:lnR>
                      <a:noFill/>
                    </a:lnR>
                    <a:lnT>
                      <a:noFill/>
                    </a:lnT>
                    <a:lnB>
                      <a:noFill/>
                    </a:lnB>
                    <a:solidFill>
                      <a:srgbClr val="FFFFFF">
                        <a:alpha val="100000"/>
                      </a:srgbClr>
                    </a:solidFill>
                  </a:tcPr>
                </a:tc>
                <a:extLst>
                  <a:ext uri="{0D108BD9-81ED-4DB2-BD59-A6C34878D82A}">
                    <a16:rowId xmlns:a16="http://schemas.microsoft.com/office/drawing/2014/main" val="10001"/>
                  </a:ext>
                </a:extLst>
              </a:tr>
            </a:tbl>
          </a:graphicData>
        </a:graphic>
      </p:graphicFrame>
      <p:sp>
        <p:nvSpPr>
          <p:cNvPr id="22" name="AutoShape 22"/>
          <p:cNvSpPr/>
          <p:nvPr/>
        </p:nvSpPr>
        <p:spPr>
          <a:xfrm>
            <a:off x="0" y="6807200"/>
            <a:ext cx="12192000" cy="50800"/>
          </a:xfrm>
          <a:prstGeom prst="roundRect">
            <a:avLst>
              <a:gd name="adj" fmla="val 0"/>
            </a:avLst>
          </a:prstGeom>
          <a:solidFill>
            <a:srgbClr val="0D6EFD">
              <a:alpha val="100000"/>
            </a:srgbClr>
          </a:solidFill>
          <a:ln w="25400" cap="flat" cmpd="sng">
            <a:noFill/>
            <a:prstDash val="solid"/>
            <a:round/>
          </a:ln>
        </p:spPr>
        <p:txBody>
          <a:bodyPr vert="horz" wrap="square" lIns="63500" tIns="63500" rIns="63500" bIns="63500" rtlCol="0" anchor="ctr"/>
          <a:lstStyle/>
          <a:p>
            <a:pPr algn="ctr">
              <a:defRPr/>
            </a:pP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508000"/>
            <a:ext cx="106680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0D6EFD"/>
                </a:solidFill>
                <a:latin typeface="Noto Sans SC"/>
                <a:ea typeface="Noto Sans SC"/>
                <a:cs typeface="Noto Sans SC"/>
                <a:sym typeface="Noto Sans SC"/>
              </a:rPr>
              <a:t>相关研究现状：OKR决策支持工具研究</a:t>
            </a:r>
            <a:endParaRPr lang="en-US" sz="1100"/>
          </a:p>
        </p:txBody>
      </p:sp>
      <p:graphicFrame>
        <p:nvGraphicFramePr>
          <p:cNvPr id="5" name="Table 5"/>
          <p:cNvGraphicFramePr>
            <a:graphicFrameLocks noGrp="1"/>
          </p:cNvGraphicFramePr>
          <p:nvPr/>
        </p:nvGraphicFramePr>
        <p:xfrm>
          <a:off x="762000" y="1397000"/>
          <a:ext cx="10668000" cy="2413000"/>
        </p:xfrm>
        <a:graphic>
          <a:graphicData uri="http://schemas.openxmlformats.org/drawingml/2006/table">
            <a:tbl>
              <a:tblPr>
                <a:effectLst/>
              </a:tblPr>
              <a:tblGrid>
                <a:gridCol w="2286000">
                  <a:extLst>
                    <a:ext uri="{9D8B030D-6E8A-4147-A177-3AD203B41FA5}">
                      <a16:colId xmlns:a16="http://schemas.microsoft.com/office/drawing/2014/main" val="20000"/>
                    </a:ext>
                  </a:extLst>
                </a:gridCol>
                <a:gridCol w="3810000">
                  <a:extLst>
                    <a:ext uri="{9D8B030D-6E8A-4147-A177-3AD203B41FA5}">
                      <a16:colId xmlns:a16="http://schemas.microsoft.com/office/drawing/2014/main" val="20001"/>
                    </a:ext>
                  </a:extLst>
                </a:gridCol>
                <a:gridCol w="4572000">
                  <a:extLst>
                    <a:ext uri="{9D8B030D-6E8A-4147-A177-3AD203B41FA5}">
                      <a16:colId xmlns:a16="http://schemas.microsoft.com/office/drawing/2014/main" val="20002"/>
                    </a:ext>
                  </a:extLst>
                </a:gridCol>
              </a:tblGrid>
              <a:tr h="508000">
                <a:tc>
                  <a:txBody>
                    <a:bodyPr/>
                    <a:lstStyle/>
                    <a:p>
                      <a:pPr indent="0" algn="ctr">
                        <a:lnSpc>
                          <a:spcPct val="100000"/>
                        </a:lnSpc>
                        <a:defRPr/>
                      </a:pPr>
                      <a:r>
                        <a:rPr lang="en-US" sz="1600" b="1" i="0" u="none" strike="noStrike">
                          <a:solidFill>
                            <a:srgbClr val="FFFFFF"/>
                          </a:solidFill>
                          <a:latin typeface="Noto Sans SC"/>
                          <a:ea typeface="Noto Sans SC"/>
                          <a:cs typeface="Noto Sans SC"/>
                          <a:sym typeface="Noto Sans SC"/>
                        </a:rPr>
                        <a:t>研究方向</a:t>
                      </a:r>
                      <a:endParaRPr lang="en-US" sz="1100"/>
                    </a:p>
                  </a:txBody>
                  <a:tcPr marL="101600" marR="101600" marT="101600" marB="101600" anchor="ctr">
                    <a:lnL>
                      <a:noFill/>
                    </a:lnL>
                    <a:lnR>
                      <a:noFill/>
                    </a:lnR>
                    <a:lnT>
                      <a:noFill/>
                    </a:lnT>
                    <a:lnB>
                      <a:noFill/>
                    </a:lnB>
                    <a:solidFill>
                      <a:srgbClr val="0D6EFD">
                        <a:alpha val="100000"/>
                      </a:srgbClr>
                    </a:solidFill>
                  </a:tcPr>
                </a:tc>
                <a:tc>
                  <a:txBody>
                    <a:bodyPr/>
                    <a:lstStyle/>
                    <a:p>
                      <a:pPr indent="0" algn="ctr">
                        <a:lnSpc>
                          <a:spcPct val="100000"/>
                        </a:lnSpc>
                        <a:defRPr/>
                      </a:pPr>
                      <a:r>
                        <a:rPr lang="en-US" sz="1600" b="1" i="0" u="none" strike="noStrike">
                          <a:solidFill>
                            <a:srgbClr val="FFFFFF"/>
                          </a:solidFill>
                          <a:latin typeface="Noto Sans SC"/>
                          <a:ea typeface="Noto Sans SC"/>
                          <a:cs typeface="Noto Sans SC"/>
                          <a:sym typeface="Noto Sans SC"/>
                        </a:rPr>
                        <a:t>代表性成果</a:t>
                      </a:r>
                      <a:endParaRPr lang="en-US" sz="1100"/>
                    </a:p>
                  </a:txBody>
                  <a:tcPr marL="101600" marR="101600" marT="101600" marB="101600" anchor="ctr">
                    <a:lnL>
                      <a:noFill/>
                    </a:lnL>
                    <a:lnR>
                      <a:noFill/>
                    </a:lnR>
                    <a:lnT>
                      <a:noFill/>
                    </a:lnT>
                    <a:lnB>
                      <a:noFill/>
                    </a:lnB>
                    <a:solidFill>
                      <a:srgbClr val="0D6EFD">
                        <a:alpha val="100000"/>
                      </a:srgbClr>
                    </a:solidFill>
                  </a:tcPr>
                </a:tc>
                <a:tc>
                  <a:txBody>
                    <a:bodyPr/>
                    <a:lstStyle/>
                    <a:p>
                      <a:pPr indent="0" algn="ctr">
                        <a:lnSpc>
                          <a:spcPct val="100000"/>
                        </a:lnSpc>
                        <a:defRPr/>
                      </a:pPr>
                      <a:r>
                        <a:rPr lang="en-US" sz="1600" b="1" i="0" u="none" strike="noStrike">
                          <a:solidFill>
                            <a:srgbClr val="FFFFFF"/>
                          </a:solidFill>
                          <a:latin typeface="Noto Sans SC"/>
                          <a:ea typeface="Noto Sans SC"/>
                          <a:cs typeface="Noto Sans SC"/>
                          <a:sym typeface="Noto Sans SC"/>
                        </a:rPr>
                        <a:t>局限性分析</a:t>
                      </a:r>
                      <a:endParaRPr lang="en-US" sz="1100"/>
                    </a:p>
                  </a:txBody>
                  <a:tcPr marL="101600" marR="101600" marT="101600" marB="101600" anchor="ctr">
                    <a:lnL>
                      <a:noFill/>
                    </a:lnL>
                    <a:lnR>
                      <a:noFill/>
                    </a:lnR>
                    <a:lnT>
                      <a:noFill/>
                    </a:lnT>
                    <a:lnB>
                      <a:noFill/>
                    </a:lnB>
                    <a:solidFill>
                      <a:srgbClr val="0D6EFD">
                        <a:alpha val="100000"/>
                      </a:srgbClr>
                    </a:solidFill>
                  </a:tcPr>
                </a:tc>
                <a:extLst>
                  <a:ext uri="{0D108BD9-81ED-4DB2-BD59-A6C34878D82A}">
                    <a16:rowId xmlns:a16="http://schemas.microsoft.com/office/drawing/2014/main" val="10000"/>
                  </a:ext>
                </a:extLst>
              </a:tr>
              <a:tr h="635000">
                <a:tc>
                  <a:txBody>
                    <a:bodyPr/>
                    <a:lstStyle/>
                    <a:p>
                      <a:pPr indent="0" algn="ctr">
                        <a:lnSpc>
                          <a:spcPct val="100000"/>
                        </a:lnSpc>
                        <a:defRPr/>
                      </a:pPr>
                      <a:r>
                        <a:rPr lang="en-US" sz="1400" b="1" i="0" u="none" strike="noStrike">
                          <a:solidFill>
                            <a:srgbClr val="1F2329"/>
                          </a:solidFill>
                          <a:latin typeface="Noto Sans SC"/>
                          <a:ea typeface="Noto Sans SC"/>
                          <a:cs typeface="Noto Sans SC"/>
                          <a:sym typeface="Noto Sans SC"/>
                        </a:rPr>
                        <a:t>OKR框架设计</a:t>
                      </a:r>
                      <a:endParaRPr lang="en-US" sz="1100"/>
                    </a:p>
                  </a:txBody>
                  <a:tcPr marL="101600" marR="101600" marT="101600" marB="101600" anchor="ctr">
                    <a:lnL>
                      <a:noFill/>
                    </a:lnL>
                    <a:lnR>
                      <a:noFill/>
                    </a:lnR>
                    <a:lnT>
                      <a:noFill/>
                    </a:lnT>
                    <a:lnB w="12700" cap="flat" cmpd="sng" algn="ctr">
                      <a:solidFill>
                        <a:srgbClr val="E5E7EB"/>
                      </a:solidFill>
                      <a:prstDash val="solid"/>
                      <a:round/>
                      <a:headEnd type="none" w="med" len="med"/>
                      <a:tailEnd type="none" w="med" len="med"/>
                    </a:lnB>
                    <a:solidFill>
                      <a:srgbClr val="EFF6FF">
                        <a:alpha val="100000"/>
                      </a:srgbClr>
                    </a:solidFill>
                  </a:tcPr>
                </a:tc>
                <a:tc>
                  <a:txBody>
                    <a:bodyPr/>
                    <a:lstStyle/>
                    <a:p>
                      <a:pPr indent="0" algn="ctr">
                        <a:lnSpc>
                          <a:spcPct val="100000"/>
                        </a:lnSpc>
                        <a:defRPr/>
                      </a:pPr>
                      <a:r>
                        <a:rPr lang="en-US" sz="1400" b="0" i="0" u="none" strike="noStrike">
                          <a:solidFill>
                            <a:srgbClr val="374151"/>
                          </a:solidFill>
                          <a:latin typeface="Noto Sans SC"/>
                          <a:ea typeface="Noto Sans SC"/>
                          <a:cs typeface="Noto Sans SC"/>
                          <a:sym typeface="Noto Sans SC"/>
                        </a:rPr>
                        <a:t>What Matters系统化方法论</a:t>
                      </a:r>
                      <a:endParaRPr lang="en-US" sz="1100"/>
                    </a:p>
                  </a:txBody>
                  <a:tcPr marL="101600" marR="101600" marT="101600" marB="101600" anchor="ctr">
                    <a:lnL>
                      <a:noFill/>
                    </a:lnL>
                    <a:lnR>
                      <a:noFill/>
                    </a:lnR>
                    <a:lnT>
                      <a:noFill/>
                    </a:lnT>
                    <a:lnB w="12700" cap="flat" cmpd="sng" algn="ctr">
                      <a:solidFill>
                        <a:srgbClr val="E5E7EB"/>
                      </a:solidFill>
                      <a:prstDash val="solid"/>
                      <a:round/>
                      <a:headEnd type="none" w="med" len="med"/>
                      <a:tailEnd type="none" w="med" len="med"/>
                    </a:lnB>
                    <a:solidFill>
                      <a:srgbClr val="EFF6FF">
                        <a:alpha val="100000"/>
                      </a:srgbClr>
                    </a:solidFill>
                  </a:tcPr>
                </a:tc>
                <a:tc>
                  <a:txBody>
                    <a:bodyPr/>
                    <a:lstStyle/>
                    <a:p>
                      <a:pPr indent="0" algn="l">
                        <a:lnSpc>
                          <a:spcPct val="100000"/>
                        </a:lnSpc>
                        <a:defRPr/>
                      </a:pPr>
                      <a:r>
                        <a:rPr lang="en-US" sz="1400" b="0" i="0" u="none" strike="noStrike">
                          <a:solidFill>
                            <a:srgbClr val="6B7280"/>
                          </a:solidFill>
                          <a:latin typeface="Noto Sans SC"/>
                          <a:ea typeface="Noto Sans SC"/>
                          <a:cs typeface="Noto Sans SC"/>
                          <a:sym typeface="Noto Sans SC"/>
                        </a:rPr>
                        <a:t>偏重战略层面，缺少具体的执行决策支持工具</a:t>
                      </a:r>
                      <a:endParaRPr lang="en-US" sz="1100"/>
                    </a:p>
                  </a:txBody>
                  <a:tcPr marL="127000" marR="101600" marT="101600" marB="101600" anchor="ctr">
                    <a:lnL>
                      <a:noFill/>
                    </a:lnL>
                    <a:lnR>
                      <a:noFill/>
                    </a:lnR>
                    <a:lnT>
                      <a:noFill/>
                    </a:lnT>
                    <a:lnB w="12700" cap="flat" cmpd="sng" algn="ctr">
                      <a:solidFill>
                        <a:srgbClr val="E5E7EB"/>
                      </a:solidFill>
                      <a:prstDash val="solid"/>
                      <a:round/>
                      <a:headEnd type="none" w="med" len="med"/>
                      <a:tailEnd type="none" w="med" len="med"/>
                    </a:lnB>
                    <a:solidFill>
                      <a:srgbClr val="EFF6FF">
                        <a:alpha val="100000"/>
                      </a:srgbClr>
                    </a:solidFill>
                  </a:tcPr>
                </a:tc>
                <a:extLst>
                  <a:ext uri="{0D108BD9-81ED-4DB2-BD59-A6C34878D82A}">
                    <a16:rowId xmlns:a16="http://schemas.microsoft.com/office/drawing/2014/main" val="10001"/>
                  </a:ext>
                </a:extLst>
              </a:tr>
              <a:tr h="635000">
                <a:tc>
                  <a:txBody>
                    <a:bodyPr/>
                    <a:lstStyle/>
                    <a:p>
                      <a:pPr indent="0" algn="ctr">
                        <a:lnSpc>
                          <a:spcPct val="100000"/>
                        </a:lnSpc>
                        <a:defRPr/>
                      </a:pPr>
                      <a:r>
                        <a:rPr lang="en-US" sz="1400" b="1" i="0" u="none" strike="noStrike">
                          <a:solidFill>
                            <a:srgbClr val="1F2329"/>
                          </a:solidFill>
                          <a:latin typeface="Noto Sans SC"/>
                          <a:ea typeface="Noto Sans SC"/>
                          <a:cs typeface="Noto Sans SC"/>
                          <a:sym typeface="Noto Sans SC"/>
                        </a:rPr>
                        <a:t>项目优先级排序</a:t>
                      </a:r>
                      <a:endParaRPr lang="en-US" sz="1100"/>
                    </a:p>
                  </a:txBody>
                  <a:tcPr marL="101600" marR="101600" marT="101600" marB="101600" anchor="ctr">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alpha val="100000"/>
                      </a:srgbClr>
                    </a:solidFill>
                  </a:tcPr>
                </a:tc>
                <a:tc>
                  <a:txBody>
                    <a:bodyPr/>
                    <a:lstStyle/>
                    <a:p>
                      <a:pPr indent="0" algn="ctr">
                        <a:lnSpc>
                          <a:spcPct val="100000"/>
                        </a:lnSpc>
                        <a:defRPr/>
                      </a:pPr>
                      <a:r>
                        <a:rPr lang="en-US" sz="1400" b="0" i="0" u="none" strike="noStrike">
                          <a:solidFill>
                            <a:srgbClr val="374151"/>
                          </a:solidFill>
                          <a:latin typeface="Noto Sans SC"/>
                          <a:ea typeface="Noto Sans SC"/>
                          <a:cs typeface="Noto Sans SC"/>
                          <a:sym typeface="Noto Sans SC"/>
                        </a:rPr>
                        <a:t>ICE评分模型、RICE模型</a:t>
                      </a:r>
                      <a:endParaRPr lang="en-US" sz="1100"/>
                    </a:p>
                  </a:txBody>
                  <a:tcPr marL="101600" marR="101600" marT="101600" marB="101600" anchor="ctr">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alpha val="100000"/>
                      </a:srgbClr>
                    </a:solidFill>
                  </a:tcPr>
                </a:tc>
                <a:tc>
                  <a:txBody>
                    <a:bodyPr/>
                    <a:lstStyle/>
                    <a:p>
                      <a:pPr indent="0" algn="l">
                        <a:lnSpc>
                          <a:spcPct val="100000"/>
                        </a:lnSpc>
                        <a:defRPr/>
                      </a:pPr>
                      <a:r>
                        <a:rPr lang="en-US" sz="1400" b="0" i="0" u="none" strike="noStrike">
                          <a:solidFill>
                            <a:srgbClr val="6B7280"/>
                          </a:solidFill>
                          <a:latin typeface="Noto Sans SC"/>
                          <a:ea typeface="Noto Sans SC"/>
                          <a:cs typeface="Noto Sans SC"/>
                          <a:sym typeface="Noto Sans SC"/>
                        </a:rPr>
                        <a:t>权重设置过于主观，缺乏坚实的理论支撑</a:t>
                      </a:r>
                      <a:endParaRPr lang="en-US" sz="1100"/>
                    </a:p>
                  </a:txBody>
                  <a:tcPr marL="127000" marR="101600" marT="101600" marB="101600" anchor="ctr">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alpha val="100000"/>
                      </a:srgbClr>
                    </a:solidFill>
                  </a:tcPr>
                </a:tc>
                <a:extLst>
                  <a:ext uri="{0D108BD9-81ED-4DB2-BD59-A6C34878D82A}">
                    <a16:rowId xmlns:a16="http://schemas.microsoft.com/office/drawing/2014/main" val="10002"/>
                  </a:ext>
                </a:extLst>
              </a:tr>
              <a:tr h="635000">
                <a:tc>
                  <a:txBody>
                    <a:bodyPr/>
                    <a:lstStyle/>
                    <a:p>
                      <a:pPr indent="0" algn="ctr">
                        <a:lnSpc>
                          <a:spcPct val="100000"/>
                        </a:lnSpc>
                        <a:defRPr/>
                      </a:pPr>
                      <a:r>
                        <a:rPr lang="en-US" sz="1400" b="1" i="0" u="none" strike="noStrike">
                          <a:solidFill>
                            <a:srgbClr val="1F2329"/>
                          </a:solidFill>
                          <a:latin typeface="Noto Sans SC"/>
                          <a:ea typeface="Noto Sans SC"/>
                          <a:cs typeface="Noto Sans SC"/>
                          <a:sym typeface="Noto Sans SC"/>
                        </a:rPr>
                        <a:t>多准则决策可视化</a:t>
                      </a:r>
                      <a:endParaRPr lang="en-US" sz="1100"/>
                    </a:p>
                  </a:txBody>
                  <a:tcPr marL="101600" marR="101600" marT="101600" marB="101600" anchor="ctr">
                    <a:lnL>
                      <a:noFill/>
                    </a:lnL>
                    <a:lnR>
                      <a:noFill/>
                    </a:lnR>
                    <a:lnT w="12700" cap="flat" cmpd="sng" algn="ctr">
                      <a:solidFill>
                        <a:srgbClr val="E5E7EB"/>
                      </a:solidFill>
                      <a:prstDash val="solid"/>
                      <a:round/>
                      <a:headEnd type="none" w="med" len="med"/>
                      <a:tailEnd type="none" w="med" len="med"/>
                    </a:lnT>
                    <a:lnB>
                      <a:noFill/>
                    </a:lnB>
                    <a:solidFill>
                      <a:srgbClr val="EFF6FF">
                        <a:alpha val="100000"/>
                      </a:srgbClr>
                    </a:solidFill>
                  </a:tcPr>
                </a:tc>
                <a:tc>
                  <a:txBody>
                    <a:bodyPr/>
                    <a:lstStyle/>
                    <a:p>
                      <a:pPr indent="0" algn="ctr">
                        <a:lnSpc>
                          <a:spcPct val="100000"/>
                        </a:lnSpc>
                        <a:defRPr/>
                      </a:pPr>
                      <a:r>
                        <a:rPr lang="en-US" sz="1400" b="0" i="0" u="none" strike="noStrike">
                          <a:solidFill>
                            <a:srgbClr val="374151"/>
                          </a:solidFill>
                          <a:latin typeface="Noto Sans SC"/>
                          <a:ea typeface="Noto Sans SC"/>
                          <a:cs typeface="Noto Sans SC"/>
                          <a:sym typeface="Noto Sans SC"/>
                        </a:rPr>
                        <a:t>传统AHP软件（如Expert Choice）</a:t>
                      </a:r>
                      <a:endParaRPr lang="en-US" sz="1100"/>
                    </a:p>
                  </a:txBody>
                  <a:tcPr marL="101600" marR="101600" marT="101600" marB="101600" anchor="ctr">
                    <a:lnL>
                      <a:noFill/>
                    </a:lnL>
                    <a:lnR>
                      <a:noFill/>
                    </a:lnR>
                    <a:lnT w="12700" cap="flat" cmpd="sng" algn="ctr">
                      <a:solidFill>
                        <a:srgbClr val="E5E7EB"/>
                      </a:solidFill>
                      <a:prstDash val="solid"/>
                      <a:round/>
                      <a:headEnd type="none" w="med" len="med"/>
                      <a:tailEnd type="none" w="med" len="med"/>
                    </a:lnT>
                    <a:lnB>
                      <a:noFill/>
                    </a:lnB>
                    <a:solidFill>
                      <a:srgbClr val="EFF6FF">
                        <a:alpha val="100000"/>
                      </a:srgbClr>
                    </a:solidFill>
                  </a:tcPr>
                </a:tc>
                <a:tc>
                  <a:txBody>
                    <a:bodyPr/>
                    <a:lstStyle/>
                    <a:p>
                      <a:pPr indent="0" algn="l">
                        <a:lnSpc>
                          <a:spcPct val="100000"/>
                        </a:lnSpc>
                        <a:defRPr/>
                      </a:pPr>
                      <a:r>
                        <a:rPr lang="en-US" sz="1400" b="0" i="0" u="none" strike="noStrike">
                          <a:solidFill>
                            <a:srgbClr val="6B7280"/>
                          </a:solidFill>
                          <a:latin typeface="Noto Sans SC"/>
                          <a:ea typeface="Noto Sans SC"/>
                          <a:cs typeface="Noto Sans SC"/>
                          <a:sym typeface="Noto Sans SC"/>
                        </a:rPr>
                        <a:t>界面复杂，学习成本高，难以在中小团队中推广</a:t>
                      </a:r>
                      <a:endParaRPr lang="en-US" sz="1100"/>
                    </a:p>
                  </a:txBody>
                  <a:tcPr marL="127000" marR="101600" marT="101600" marB="101600" anchor="ctr">
                    <a:lnL>
                      <a:noFill/>
                    </a:lnL>
                    <a:lnR>
                      <a:noFill/>
                    </a:lnR>
                    <a:lnT w="12700" cap="flat" cmpd="sng" algn="ctr">
                      <a:solidFill>
                        <a:srgbClr val="E5E7EB"/>
                      </a:solidFill>
                      <a:prstDash val="solid"/>
                      <a:round/>
                      <a:headEnd type="none" w="med" len="med"/>
                      <a:tailEnd type="none" w="med" len="med"/>
                    </a:lnT>
                    <a:lnB>
                      <a:noFill/>
                    </a:lnB>
                    <a:solidFill>
                      <a:srgbClr val="EFF6FF">
                        <a:alpha val="100000"/>
                      </a:srgbClr>
                    </a:solidFill>
                  </a:tcPr>
                </a:tc>
                <a:extLst>
                  <a:ext uri="{0D108BD9-81ED-4DB2-BD59-A6C34878D82A}">
                    <a16:rowId xmlns:a16="http://schemas.microsoft.com/office/drawing/2014/main" val="10003"/>
                  </a:ext>
                </a:extLst>
              </a:tr>
            </a:tbl>
          </a:graphicData>
        </a:graphic>
      </p:graphicFrame>
      <p:sp>
        <p:nvSpPr>
          <p:cNvPr id="6" name="AutoShape 6"/>
          <p:cNvSpPr/>
          <p:nvPr/>
        </p:nvSpPr>
        <p:spPr>
          <a:xfrm>
            <a:off x="762000" y="4191000"/>
            <a:ext cx="1066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D6EFD"/>
                </a:solidFill>
                <a:latin typeface="Noto Sans SC"/>
                <a:ea typeface="Noto Sans SC"/>
                <a:cs typeface="Noto Sans SC"/>
                <a:sym typeface="Noto Sans SC"/>
              </a:rPr>
              <a:t>研究空白与切入点</a:t>
            </a:r>
            <a:endParaRPr lang="en-US" sz="1100"/>
          </a:p>
        </p:txBody>
      </p:sp>
      <p:sp>
        <p:nvSpPr>
          <p:cNvPr id="7" name="AutoShape 7"/>
          <p:cNvSpPr/>
          <p:nvPr/>
        </p:nvSpPr>
        <p:spPr>
          <a:xfrm>
            <a:off x="762000" y="4699000"/>
            <a:ext cx="3429000" cy="1270000"/>
          </a:xfrm>
          <a:prstGeom prst="roundRect">
            <a:avLst>
              <a:gd name="adj" fmla="val 10000"/>
            </a:avLst>
          </a:prstGeom>
          <a:solidFill>
            <a:srgbClr val="FFFFFF">
              <a:alpha val="100000"/>
            </a:srgbClr>
          </a:solidFill>
          <a:ln w="12700" cap="flat" cmpd="sng">
            <a:solidFill>
              <a:srgbClr val="E5E7EB">
                <a:alpha val="100000"/>
              </a:srgbClr>
            </a:solidFill>
            <a:prstDash val="solid"/>
            <a:round/>
          </a:ln>
          <a:effectLst>
            <a:outerShdw blurRad="127000" dist="50800" dir="5400000" algn="tl" rotWithShape="0">
              <a:srgbClr val="0D6EFD">
                <a:alpha val="15000"/>
              </a:srgbClr>
            </a:outerShdw>
          </a:effectLst>
        </p:spPr>
        <p:txBody>
          <a:bodyPr vert="horz" wrap="square" lIns="63500" tIns="63500" rIns="63500" bIns="63500" rtlCol="0" anchor="ctr"/>
          <a:lstStyle/>
          <a:p>
            <a:pPr algn="ctr">
              <a:defRPr/>
            </a:pPr>
            <a:endParaRPr/>
          </a:p>
        </p:txBody>
      </p:sp>
      <p:pic>
        <p:nvPicPr>
          <p:cNvPr id="8" name="Picture 8"/>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52500" y="4889500"/>
            <a:ext cx="406400" cy="406400"/>
          </a:xfrm>
          <a:prstGeom prst="rect">
            <a:avLst/>
          </a:prstGeom>
        </p:spPr>
      </p:pic>
      <p:sp>
        <p:nvSpPr>
          <p:cNvPr id="9" name="AutoShape 9"/>
          <p:cNvSpPr/>
          <p:nvPr/>
        </p:nvSpPr>
        <p:spPr>
          <a:xfrm>
            <a:off x="1460500" y="4851400"/>
            <a:ext cx="2667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329"/>
                </a:solidFill>
                <a:latin typeface="Noto Sans SC"/>
                <a:ea typeface="Noto Sans SC"/>
                <a:cs typeface="Noto Sans SC"/>
                <a:sym typeface="Noto Sans SC"/>
              </a:rPr>
              <a:t>轻量化工具缺失</a:t>
            </a:r>
            <a:endParaRPr lang="en-US" sz="1100"/>
          </a:p>
        </p:txBody>
      </p:sp>
      <p:sp>
        <p:nvSpPr>
          <p:cNvPr id="10" name="AutoShape 10"/>
          <p:cNvSpPr/>
          <p:nvPr/>
        </p:nvSpPr>
        <p:spPr>
          <a:xfrm>
            <a:off x="1460500" y="5207000"/>
            <a:ext cx="2667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6B7280"/>
                </a:solidFill>
                <a:latin typeface="Noto Sans SC"/>
                <a:ea typeface="Noto Sans SC"/>
                <a:cs typeface="Noto Sans SC"/>
                <a:sym typeface="Noto Sans SC"/>
              </a:rPr>
              <a:t>缺乏专门面向OKR场景的轻量化、易用的决策工具支持。</a:t>
            </a:r>
            <a:endParaRPr lang="en-US" sz="1100"/>
          </a:p>
        </p:txBody>
      </p:sp>
      <p:sp>
        <p:nvSpPr>
          <p:cNvPr id="11" name="AutoShape 11"/>
          <p:cNvSpPr/>
          <p:nvPr/>
        </p:nvSpPr>
        <p:spPr>
          <a:xfrm>
            <a:off x="4381500" y="4699000"/>
            <a:ext cx="3429000" cy="1270000"/>
          </a:xfrm>
          <a:prstGeom prst="roundRect">
            <a:avLst>
              <a:gd name="adj" fmla="val 10000"/>
            </a:avLst>
          </a:prstGeom>
          <a:solidFill>
            <a:srgbClr val="FFFFFF">
              <a:alpha val="100000"/>
            </a:srgbClr>
          </a:solidFill>
          <a:ln w="12700" cap="flat" cmpd="sng">
            <a:solidFill>
              <a:srgbClr val="E5E7EB">
                <a:alpha val="100000"/>
              </a:srgbClr>
            </a:solidFill>
            <a:prstDash val="solid"/>
            <a:round/>
          </a:ln>
          <a:effectLst>
            <a:outerShdw blurRad="127000" dist="50800" dir="5400000" algn="tl" rotWithShape="0">
              <a:srgbClr val="0D6EFD">
                <a:alpha val="15000"/>
              </a:srgbClr>
            </a:outerShdw>
          </a:effectLst>
        </p:spPr>
        <p:txBody>
          <a:bodyPr vert="horz" wrap="square" lIns="63500" tIns="63500" rIns="63500" bIns="63500" rtlCol="0" anchor="ctr"/>
          <a:lstStyle/>
          <a:p>
            <a:pPr algn="ctr">
              <a:defRPr/>
            </a:pPr>
            <a:endParaRPr/>
          </a:p>
        </p:txBody>
      </p:sp>
      <p:pic>
        <p:nvPicPr>
          <p:cNvPr id="12" name="Picture 12"/>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572000" y="4889500"/>
            <a:ext cx="406400" cy="406400"/>
          </a:xfrm>
          <a:prstGeom prst="rect">
            <a:avLst/>
          </a:prstGeom>
        </p:spPr>
      </p:pic>
      <p:sp>
        <p:nvSpPr>
          <p:cNvPr id="13" name="AutoShape 13"/>
          <p:cNvSpPr/>
          <p:nvPr/>
        </p:nvSpPr>
        <p:spPr>
          <a:xfrm>
            <a:off x="5080000" y="4851400"/>
            <a:ext cx="2667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329"/>
                </a:solidFill>
                <a:latin typeface="Noto Sans SC"/>
                <a:ea typeface="Noto Sans SC"/>
                <a:cs typeface="Noto Sans SC"/>
                <a:sym typeface="Noto Sans SC"/>
              </a:rPr>
              <a:t>交互设计门槛高</a:t>
            </a:r>
            <a:endParaRPr lang="en-US" sz="1100"/>
          </a:p>
        </p:txBody>
      </p:sp>
      <p:sp>
        <p:nvSpPr>
          <p:cNvPr id="14" name="AutoShape 14"/>
          <p:cNvSpPr/>
          <p:nvPr/>
        </p:nvSpPr>
        <p:spPr>
          <a:xfrm>
            <a:off x="5080000" y="5207000"/>
            <a:ext cx="2667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6B7280"/>
                </a:solidFill>
                <a:latin typeface="Noto Sans SC"/>
                <a:ea typeface="Noto Sans SC"/>
                <a:cs typeface="Noto Sans SC"/>
                <a:sym typeface="Noto Sans SC"/>
              </a:rPr>
              <a:t>缺少能有效降低AHP方法使用门槛的创新交互设计方案。</a:t>
            </a:r>
            <a:endParaRPr lang="en-US" sz="1100"/>
          </a:p>
        </p:txBody>
      </p:sp>
      <p:sp>
        <p:nvSpPr>
          <p:cNvPr id="15" name="AutoShape 15"/>
          <p:cNvSpPr/>
          <p:nvPr/>
        </p:nvSpPr>
        <p:spPr>
          <a:xfrm>
            <a:off x="8001000" y="4699000"/>
            <a:ext cx="3429000" cy="1270000"/>
          </a:xfrm>
          <a:prstGeom prst="roundRect">
            <a:avLst>
              <a:gd name="adj" fmla="val 10000"/>
            </a:avLst>
          </a:prstGeom>
          <a:solidFill>
            <a:srgbClr val="FFFFFF">
              <a:alpha val="100000"/>
            </a:srgbClr>
          </a:solidFill>
          <a:ln w="12700" cap="flat" cmpd="sng">
            <a:solidFill>
              <a:srgbClr val="E5E7EB">
                <a:alpha val="100000"/>
              </a:srgbClr>
            </a:solidFill>
            <a:prstDash val="solid"/>
            <a:round/>
          </a:ln>
          <a:effectLst>
            <a:outerShdw blurRad="127000" dist="50800" dir="5400000" algn="tl" rotWithShape="0">
              <a:srgbClr val="0D6EFD">
                <a:alpha val="15000"/>
              </a:srgbClr>
            </a:outerShdw>
          </a:effectLst>
        </p:spPr>
        <p:txBody>
          <a:bodyPr vert="horz" wrap="square" lIns="63500" tIns="63500" rIns="63500" bIns="63500" rtlCol="0" anchor="ctr"/>
          <a:lstStyle/>
          <a:p>
            <a:pPr algn="ctr">
              <a:defRPr/>
            </a:pPr>
            <a:endParaRPr/>
          </a:p>
        </p:txBody>
      </p:sp>
      <p:pic>
        <p:nvPicPr>
          <p:cNvPr id="16" name="Picture 16"/>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191500" y="4889500"/>
            <a:ext cx="406400" cy="406400"/>
          </a:xfrm>
          <a:prstGeom prst="rect">
            <a:avLst/>
          </a:prstGeom>
        </p:spPr>
      </p:pic>
      <p:sp>
        <p:nvSpPr>
          <p:cNvPr id="17" name="AutoShape 17"/>
          <p:cNvSpPr/>
          <p:nvPr/>
        </p:nvSpPr>
        <p:spPr>
          <a:xfrm>
            <a:off x="8699500" y="4851400"/>
            <a:ext cx="2667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329"/>
                </a:solidFill>
                <a:latin typeface="Noto Sans SC"/>
                <a:ea typeface="Noto Sans SC"/>
                <a:cs typeface="Noto Sans SC"/>
                <a:sym typeface="Noto Sans SC"/>
              </a:rPr>
              <a:t>适配中小团队</a:t>
            </a:r>
            <a:endParaRPr lang="en-US" sz="1100"/>
          </a:p>
        </p:txBody>
      </p:sp>
      <p:sp>
        <p:nvSpPr>
          <p:cNvPr id="18" name="AutoShape 18"/>
          <p:cNvSpPr/>
          <p:nvPr/>
        </p:nvSpPr>
        <p:spPr>
          <a:xfrm>
            <a:off x="8699500" y="5207000"/>
            <a:ext cx="2667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6B7280"/>
                </a:solidFill>
                <a:latin typeface="Noto Sans SC"/>
                <a:ea typeface="Noto Sans SC"/>
                <a:cs typeface="Noto Sans SC"/>
                <a:sym typeface="Noto Sans SC"/>
              </a:rPr>
              <a:t>缺乏纯前端、零依赖且低成本适配中小团队需求的解决方案。</a:t>
            </a:r>
            <a:endParaRPr lang="en-US" sz="11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FFFFFF">
              <a:alpha val="9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508000"/>
            <a:ext cx="30480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0D6EFD"/>
                </a:solidFill>
                <a:latin typeface="Noto Sans SC"/>
                <a:ea typeface="Noto Sans SC"/>
                <a:cs typeface="Noto Sans SC"/>
                <a:sym typeface="Noto Sans SC"/>
              </a:rPr>
              <a:t>系统架构设计</a:t>
            </a:r>
            <a:endParaRPr lang="en-US" sz="1100"/>
          </a:p>
        </p:txBody>
      </p:sp>
      <p:pic>
        <p:nvPicPr>
          <p:cNvPr id="5" name="Picture 5"/>
          <p:cNvPicPr>
            <a:picLocks noChangeAspect="1"/>
          </p:cNvPicPr>
          <p:nvPr/>
        </p:nvPicPr>
        <p:blipFill>
          <a:blip r:embed="rId4"/>
          <a:srcRect/>
          <a:stretch>
            <a:fillRect/>
          </a:stretch>
        </p:blipFill>
        <p:spPr>
          <a:xfrm>
            <a:off x="762000" y="1651000"/>
            <a:ext cx="4064000" cy="2286000"/>
          </a:xfrm>
          <a:prstGeom prst="rect">
            <a:avLst/>
          </a:prstGeom>
          <a:noFill/>
          <a:ln w="12700" cap="flat" cmpd="sng">
            <a:solidFill>
              <a:srgbClr val="E5E7EB">
                <a:alpha val="100000"/>
              </a:srgbClr>
            </a:solidFill>
            <a:prstDash val="solid"/>
            <a:round/>
          </a:ln>
          <a:effectLst>
            <a:outerShdw blurRad="127000" dist="50800" dir="5400000" algn="tl" rotWithShape="0">
              <a:srgbClr val="000000">
                <a:alpha val="10000"/>
              </a:srgbClr>
            </a:outerShdw>
          </a:effectLst>
        </p:spPr>
      </p:pic>
      <p:sp>
        <p:nvSpPr>
          <p:cNvPr id="6" name="AutoShape 6"/>
          <p:cNvSpPr/>
          <p:nvPr/>
        </p:nvSpPr>
        <p:spPr>
          <a:xfrm>
            <a:off x="762000" y="4064000"/>
            <a:ext cx="4064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6C757D"/>
                </a:solidFill>
                <a:latin typeface="Noto Sans SC"/>
                <a:ea typeface="Noto Sans SC"/>
                <a:cs typeface="Noto Sans SC"/>
                <a:sym typeface="Noto Sans SC"/>
              </a:rPr>
              <a:t>图：系统三层架构示意图</a:t>
            </a:r>
            <a:endParaRPr lang="en-US" sz="1100"/>
          </a:p>
        </p:txBody>
      </p:sp>
      <p:sp>
        <p:nvSpPr>
          <p:cNvPr id="7" name="AutoShape 7"/>
          <p:cNvSpPr/>
          <p:nvPr/>
        </p:nvSpPr>
        <p:spPr>
          <a:xfrm>
            <a:off x="5334000" y="1397000"/>
            <a:ext cx="6096000" cy="889000"/>
          </a:xfrm>
          <a:prstGeom prst="roundRect">
            <a:avLst>
              <a:gd name="adj" fmla="val 14285"/>
            </a:avLst>
          </a:prstGeom>
          <a:solidFill>
            <a:srgbClr val="EFF6FF">
              <a:alpha val="100000"/>
            </a:srgbClr>
          </a:solidFill>
          <a:ln w="12700" cap="flat" cmpd="sng">
            <a:solidFill>
              <a:srgbClr val="0D6EFD">
                <a:alpha val="20000"/>
              </a:srgbClr>
            </a:solidFill>
            <a:prstDash val="solid"/>
            <a:round/>
          </a:ln>
        </p:spPr>
        <p:txBody>
          <a:bodyPr vert="horz" wrap="square" lIns="63500" tIns="63500" rIns="63500" bIns="63500" rtlCol="0" anchor="ctr"/>
          <a:lstStyle/>
          <a:p>
            <a:pPr algn="ctr">
              <a:defRPr/>
            </a:pPr>
            <a:endParaRPr/>
          </a:p>
        </p:txBody>
      </p:sp>
      <p:pic>
        <p:nvPicPr>
          <p:cNvPr id="8" name="Picture 8"/>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524500" y="1638300"/>
            <a:ext cx="406400" cy="406400"/>
          </a:xfrm>
          <a:prstGeom prst="rect">
            <a:avLst/>
          </a:prstGeom>
        </p:spPr>
      </p:pic>
      <p:sp>
        <p:nvSpPr>
          <p:cNvPr id="9" name="AutoShape 9"/>
          <p:cNvSpPr/>
          <p:nvPr/>
        </p:nvSpPr>
        <p:spPr>
          <a:xfrm>
            <a:off x="6032500" y="1460500"/>
            <a:ext cx="5334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D6EFD"/>
                </a:solidFill>
                <a:latin typeface="Noto Sans SC"/>
                <a:ea typeface="Noto Sans SC"/>
                <a:cs typeface="Noto Sans SC"/>
                <a:sym typeface="Noto Sans SC"/>
              </a:rPr>
              <a:t>表现层 (UI Layer)</a:t>
            </a:r>
            <a:endParaRPr lang="en-US" sz="1100"/>
          </a:p>
          <a:p>
            <a:pPr indent="0" algn="l">
              <a:lnSpc>
                <a:spcPct val="125000"/>
              </a:lnSpc>
            </a:pPr>
            <a:r>
              <a:rPr lang="en-US" sz="1200" b="0" i="0" u="none" strike="noStrike">
                <a:solidFill>
                  <a:srgbClr val="6C757D"/>
                </a:solidFill>
                <a:latin typeface="Noto Sans SC"/>
                <a:ea typeface="Noto Sans SC"/>
                <a:cs typeface="Noto Sans SC"/>
                <a:sym typeface="Noto Sans SC"/>
              </a:rPr>
              <a:t>负责用户交互，包含因子配置区和OKR管理区，提供直观操作界面。</a:t>
            </a:r>
          </a:p>
        </p:txBody>
      </p:sp>
      <p:sp>
        <p:nvSpPr>
          <p:cNvPr id="10" name="AutoShape 10"/>
          <p:cNvSpPr/>
          <p:nvPr/>
        </p:nvSpPr>
        <p:spPr>
          <a:xfrm>
            <a:off x="5334000" y="2413000"/>
            <a:ext cx="6096000" cy="889000"/>
          </a:xfrm>
          <a:prstGeom prst="roundRect">
            <a:avLst>
              <a:gd name="adj" fmla="val 14285"/>
            </a:avLst>
          </a:prstGeom>
          <a:solidFill>
            <a:srgbClr val="EFF6FF">
              <a:alpha val="100000"/>
            </a:srgbClr>
          </a:solidFill>
          <a:ln w="12700" cap="flat" cmpd="sng">
            <a:solidFill>
              <a:srgbClr val="0D6EFD">
                <a:alpha val="20000"/>
              </a:srgbClr>
            </a:solidFill>
            <a:prstDash val="solid"/>
            <a:round/>
          </a:ln>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524500" y="2654300"/>
            <a:ext cx="406400" cy="406400"/>
          </a:xfrm>
          <a:prstGeom prst="rect">
            <a:avLst/>
          </a:prstGeom>
        </p:spPr>
      </p:pic>
      <p:sp>
        <p:nvSpPr>
          <p:cNvPr id="12" name="AutoShape 12"/>
          <p:cNvSpPr/>
          <p:nvPr/>
        </p:nvSpPr>
        <p:spPr>
          <a:xfrm>
            <a:off x="6032500" y="2476500"/>
            <a:ext cx="5334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D6EFD"/>
                </a:solidFill>
                <a:latin typeface="Noto Sans SC"/>
                <a:ea typeface="Noto Sans SC"/>
                <a:cs typeface="Noto Sans SC"/>
                <a:sym typeface="Noto Sans SC"/>
              </a:rPr>
              <a:t>业务逻辑层 (Logic Layer)</a:t>
            </a:r>
            <a:endParaRPr lang="en-US" sz="1100"/>
          </a:p>
          <a:p>
            <a:pPr indent="0" algn="l">
              <a:lnSpc>
                <a:spcPct val="125000"/>
              </a:lnSpc>
            </a:pPr>
            <a:r>
              <a:rPr lang="en-US" sz="1200" b="0" i="0" u="none" strike="noStrike">
                <a:solidFill>
                  <a:srgbClr val="6C757D"/>
                </a:solidFill>
                <a:latin typeface="Noto Sans SC"/>
                <a:ea typeface="Noto Sans SC"/>
                <a:cs typeface="Noto Sans SC"/>
                <a:sym typeface="Noto Sans SC"/>
              </a:rPr>
              <a:t>系统核心，集成AHP计算引擎和方案评分引擎，处理核心算法逻辑。</a:t>
            </a:r>
          </a:p>
        </p:txBody>
      </p:sp>
      <p:sp>
        <p:nvSpPr>
          <p:cNvPr id="13" name="AutoShape 13"/>
          <p:cNvSpPr/>
          <p:nvPr/>
        </p:nvSpPr>
        <p:spPr>
          <a:xfrm>
            <a:off x="5334000" y="3429000"/>
            <a:ext cx="6096000" cy="889000"/>
          </a:xfrm>
          <a:prstGeom prst="roundRect">
            <a:avLst>
              <a:gd name="adj" fmla="val 14285"/>
            </a:avLst>
          </a:prstGeom>
          <a:solidFill>
            <a:srgbClr val="EFF6FF">
              <a:alpha val="100000"/>
            </a:srgbClr>
          </a:solidFill>
          <a:ln w="12700" cap="flat" cmpd="sng">
            <a:solidFill>
              <a:srgbClr val="0D6EFD">
                <a:alpha val="20000"/>
              </a:srgbClr>
            </a:solidFill>
            <a:prstDash val="solid"/>
            <a:round/>
          </a:ln>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5524500" y="3670300"/>
            <a:ext cx="406400" cy="406400"/>
          </a:xfrm>
          <a:prstGeom prst="rect">
            <a:avLst/>
          </a:prstGeom>
        </p:spPr>
      </p:pic>
      <p:sp>
        <p:nvSpPr>
          <p:cNvPr id="15" name="AutoShape 15"/>
          <p:cNvSpPr/>
          <p:nvPr/>
        </p:nvSpPr>
        <p:spPr>
          <a:xfrm>
            <a:off x="6032500" y="3492500"/>
            <a:ext cx="5334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D6EFD"/>
                </a:solidFill>
                <a:latin typeface="Noto Sans SC"/>
                <a:ea typeface="Noto Sans SC"/>
                <a:cs typeface="Noto Sans SC"/>
                <a:sym typeface="Noto Sans SC"/>
              </a:rPr>
              <a:t>数据层 (Data Layer)</a:t>
            </a:r>
            <a:endParaRPr lang="en-US" sz="1100"/>
          </a:p>
          <a:p>
            <a:pPr indent="0" algn="l">
              <a:lnSpc>
                <a:spcPct val="125000"/>
              </a:lnSpc>
            </a:pPr>
            <a:r>
              <a:rPr lang="en-US" sz="1200" b="0" i="0" u="none" strike="noStrike">
                <a:solidFill>
                  <a:srgbClr val="6C757D"/>
                </a:solidFill>
                <a:latin typeface="Noto Sans SC"/>
                <a:ea typeface="Noto Sans SC"/>
                <a:cs typeface="Noto Sans SC"/>
                <a:sym typeface="Noto Sans SC"/>
              </a:rPr>
              <a:t>采用纯前端本地数据模型(JS Objects)，负责数据存储与管理，无需后端。</a:t>
            </a:r>
          </a:p>
        </p:txBody>
      </p:sp>
      <p:sp>
        <p:nvSpPr>
          <p:cNvPr id="16" name="AutoShape 16"/>
          <p:cNvSpPr/>
          <p:nvPr/>
        </p:nvSpPr>
        <p:spPr>
          <a:xfrm>
            <a:off x="5334000" y="4572000"/>
            <a:ext cx="609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74151"/>
                </a:solidFill>
                <a:latin typeface="Noto Sans SC"/>
                <a:ea typeface="Noto Sans SC"/>
                <a:cs typeface="Noto Sans SC"/>
                <a:sym typeface="Noto Sans SC"/>
              </a:rPr>
              <a:t>技术选型原则</a:t>
            </a:r>
            <a:endParaRPr lang="en-US" sz="1100"/>
          </a:p>
        </p:txBody>
      </p:sp>
      <p:sp>
        <p:nvSpPr>
          <p:cNvPr id="17" name="AutoShape 17"/>
          <p:cNvSpPr/>
          <p:nvPr/>
        </p:nvSpPr>
        <p:spPr>
          <a:xfrm>
            <a:off x="5334000" y="5080000"/>
            <a:ext cx="1397000" cy="1016000"/>
          </a:xfrm>
          <a:prstGeom prst="roundRect">
            <a:avLst>
              <a:gd name="adj" fmla="val 12500"/>
            </a:avLst>
          </a:prstGeom>
          <a:solidFill>
            <a:srgbClr val="FFFFFF">
              <a:alpha val="100000"/>
            </a:srgbClr>
          </a:solidFill>
          <a:ln w="12700" cap="flat" cmpd="sng">
            <a:solidFill>
              <a:srgbClr val="E5E7EB">
                <a:alpha val="100000"/>
              </a:srgbClr>
            </a:solidFill>
            <a:prstDash val="solid"/>
            <a:round/>
          </a:ln>
          <a:effectLst>
            <a:outerShdw blurRad="50800" dist="25400" dir="2700000" algn="tl" rotWithShape="0">
              <a:srgbClr val="000000">
                <a:alpha val="5000"/>
              </a:srgbClr>
            </a:outerShdw>
          </a:effectLst>
        </p:spPr>
        <p:txBody>
          <a:bodyPr vert="horz" wrap="square" lIns="63500" tIns="63500" rIns="63500" bIns="63500" rtlCol="0" anchor="ctr"/>
          <a:lstStyle/>
          <a:p>
            <a:pPr algn="ctr">
              <a:defRPr/>
            </a:pPr>
            <a:endParaRPr/>
          </a:p>
        </p:txBody>
      </p:sp>
      <p:pic>
        <p:nvPicPr>
          <p:cNvPr id="18" name="Picture 18"/>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5880100" y="5207000"/>
            <a:ext cx="304800" cy="304800"/>
          </a:xfrm>
          <a:prstGeom prst="rect">
            <a:avLst/>
          </a:prstGeom>
        </p:spPr>
      </p:pic>
      <p:sp>
        <p:nvSpPr>
          <p:cNvPr id="19" name="AutoShape 19"/>
          <p:cNvSpPr/>
          <p:nvPr/>
        </p:nvSpPr>
        <p:spPr>
          <a:xfrm>
            <a:off x="5334000" y="5588000"/>
            <a:ext cx="1397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300" b="1" i="0" u="none" strike="noStrike">
                <a:solidFill>
                  <a:srgbClr val="374151"/>
                </a:solidFill>
                <a:latin typeface="Noto Sans SC"/>
                <a:ea typeface="Noto Sans SC"/>
                <a:cs typeface="Noto Sans SC"/>
                <a:sym typeface="Noto Sans SC"/>
              </a:rPr>
              <a:t>零依赖</a:t>
            </a:r>
            <a:endParaRPr lang="en-US" sz="1100"/>
          </a:p>
        </p:txBody>
      </p:sp>
      <p:sp>
        <p:nvSpPr>
          <p:cNvPr id="20" name="AutoShape 20"/>
          <p:cNvSpPr/>
          <p:nvPr/>
        </p:nvSpPr>
        <p:spPr>
          <a:xfrm>
            <a:off x="6858000" y="5080000"/>
            <a:ext cx="1397000" cy="1016000"/>
          </a:xfrm>
          <a:prstGeom prst="roundRect">
            <a:avLst>
              <a:gd name="adj" fmla="val 12500"/>
            </a:avLst>
          </a:prstGeom>
          <a:solidFill>
            <a:srgbClr val="FFFFFF">
              <a:alpha val="100000"/>
            </a:srgbClr>
          </a:solidFill>
          <a:ln w="12700" cap="flat" cmpd="sng">
            <a:solidFill>
              <a:srgbClr val="E5E7EB">
                <a:alpha val="100000"/>
              </a:srgbClr>
            </a:solidFill>
            <a:prstDash val="solid"/>
            <a:round/>
          </a:ln>
          <a:effectLst>
            <a:outerShdw blurRad="50800" dist="25400" dir="2700000" algn="tl" rotWithShape="0">
              <a:srgbClr val="000000">
                <a:alpha val="5000"/>
              </a:srgbClr>
            </a:outerShdw>
          </a:effectLst>
        </p:spPr>
        <p:txBody>
          <a:bodyPr vert="horz" wrap="square" lIns="63500" tIns="63500" rIns="63500" bIns="63500" rtlCol="0" anchor="ctr"/>
          <a:lstStyle/>
          <a:p>
            <a:pPr algn="ctr">
              <a:defRPr/>
            </a:pPr>
            <a:endParaRPr/>
          </a:p>
        </p:txBody>
      </p:sp>
      <p:pic>
        <p:nvPicPr>
          <p:cNvPr id="21" name="Picture 21"/>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7404100" y="5207000"/>
            <a:ext cx="304800" cy="304800"/>
          </a:xfrm>
          <a:prstGeom prst="rect">
            <a:avLst/>
          </a:prstGeom>
        </p:spPr>
      </p:pic>
      <p:sp>
        <p:nvSpPr>
          <p:cNvPr id="22" name="AutoShape 22"/>
          <p:cNvSpPr/>
          <p:nvPr/>
        </p:nvSpPr>
        <p:spPr>
          <a:xfrm>
            <a:off x="6858000" y="5588000"/>
            <a:ext cx="1397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300" b="1" i="0" u="none" strike="noStrike">
                <a:solidFill>
                  <a:srgbClr val="374151"/>
                </a:solidFill>
                <a:latin typeface="Noto Sans SC"/>
                <a:ea typeface="Noto Sans SC"/>
                <a:cs typeface="Noto Sans SC"/>
                <a:sym typeface="Noto Sans SC"/>
              </a:rPr>
              <a:t>纯前端</a:t>
            </a:r>
            <a:endParaRPr lang="en-US" sz="1100"/>
          </a:p>
        </p:txBody>
      </p:sp>
      <p:sp>
        <p:nvSpPr>
          <p:cNvPr id="23" name="AutoShape 23"/>
          <p:cNvSpPr/>
          <p:nvPr/>
        </p:nvSpPr>
        <p:spPr>
          <a:xfrm>
            <a:off x="8382000" y="5080000"/>
            <a:ext cx="1397000" cy="1016000"/>
          </a:xfrm>
          <a:prstGeom prst="roundRect">
            <a:avLst>
              <a:gd name="adj" fmla="val 12500"/>
            </a:avLst>
          </a:prstGeom>
          <a:solidFill>
            <a:srgbClr val="FFFFFF">
              <a:alpha val="100000"/>
            </a:srgbClr>
          </a:solidFill>
          <a:ln w="12700" cap="flat" cmpd="sng">
            <a:solidFill>
              <a:srgbClr val="E5E7EB">
                <a:alpha val="100000"/>
              </a:srgbClr>
            </a:solidFill>
            <a:prstDash val="solid"/>
            <a:round/>
          </a:ln>
          <a:effectLst>
            <a:outerShdw blurRad="50800" dist="25400" dir="2700000" algn="tl" rotWithShape="0">
              <a:srgbClr val="000000">
                <a:alpha val="5000"/>
              </a:srgbClr>
            </a:outerShdw>
          </a:effectLst>
        </p:spPr>
        <p:txBody>
          <a:bodyPr vert="horz" wrap="square" lIns="63500" tIns="63500" rIns="63500" bIns="63500" rtlCol="0" anchor="ctr"/>
          <a:lstStyle/>
          <a:p>
            <a:pPr algn="ctr">
              <a:defRPr/>
            </a:pPr>
            <a:endParaRPr/>
          </a:p>
        </p:txBody>
      </p:sp>
      <p:pic>
        <p:nvPicPr>
          <p:cNvPr id="24" name="Picture 24"/>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8928100" y="5207000"/>
            <a:ext cx="304800" cy="304800"/>
          </a:xfrm>
          <a:prstGeom prst="rect">
            <a:avLst/>
          </a:prstGeom>
        </p:spPr>
      </p:pic>
      <p:sp>
        <p:nvSpPr>
          <p:cNvPr id="25" name="AutoShape 25"/>
          <p:cNvSpPr/>
          <p:nvPr/>
        </p:nvSpPr>
        <p:spPr>
          <a:xfrm>
            <a:off x="8382000" y="5588000"/>
            <a:ext cx="1397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300" b="1" i="0" u="none" strike="noStrike">
                <a:solidFill>
                  <a:srgbClr val="374151"/>
                </a:solidFill>
                <a:latin typeface="Noto Sans SC"/>
                <a:ea typeface="Noto Sans SC"/>
                <a:cs typeface="Noto Sans SC"/>
                <a:sym typeface="Noto Sans SC"/>
              </a:rPr>
              <a:t>即开即用</a:t>
            </a:r>
            <a:endParaRPr lang="en-US" sz="1100"/>
          </a:p>
        </p:txBody>
      </p:sp>
      <p:sp>
        <p:nvSpPr>
          <p:cNvPr id="26" name="AutoShape 26"/>
          <p:cNvSpPr/>
          <p:nvPr/>
        </p:nvSpPr>
        <p:spPr>
          <a:xfrm>
            <a:off x="9906000" y="5080000"/>
            <a:ext cx="1397000" cy="1016000"/>
          </a:xfrm>
          <a:prstGeom prst="roundRect">
            <a:avLst>
              <a:gd name="adj" fmla="val 12500"/>
            </a:avLst>
          </a:prstGeom>
          <a:solidFill>
            <a:srgbClr val="FFFFFF">
              <a:alpha val="100000"/>
            </a:srgbClr>
          </a:solidFill>
          <a:ln w="12700" cap="flat" cmpd="sng">
            <a:solidFill>
              <a:srgbClr val="E5E7EB">
                <a:alpha val="100000"/>
              </a:srgbClr>
            </a:solidFill>
            <a:prstDash val="solid"/>
            <a:round/>
          </a:ln>
          <a:effectLst>
            <a:outerShdw blurRad="50800" dist="25400" dir="2700000" algn="tl" rotWithShape="0">
              <a:srgbClr val="000000">
                <a:alpha val="5000"/>
              </a:srgbClr>
            </a:outerShdw>
          </a:effectLst>
        </p:spPr>
        <p:txBody>
          <a:bodyPr vert="horz" wrap="square" lIns="63500" tIns="63500" rIns="63500" bIns="63500" rtlCol="0" anchor="ctr"/>
          <a:lstStyle/>
          <a:p>
            <a:pPr algn="ctr">
              <a:defRPr/>
            </a:pPr>
            <a:endParaRPr/>
          </a:p>
        </p:txBody>
      </p:sp>
      <p:pic>
        <p:nvPicPr>
          <p:cNvPr id="27" name="Picture 27"/>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10452100" y="5207000"/>
            <a:ext cx="304800" cy="304800"/>
          </a:xfrm>
          <a:prstGeom prst="rect">
            <a:avLst/>
          </a:prstGeom>
        </p:spPr>
      </p:pic>
      <p:sp>
        <p:nvSpPr>
          <p:cNvPr id="28" name="AutoShape 28"/>
          <p:cNvSpPr/>
          <p:nvPr/>
        </p:nvSpPr>
        <p:spPr>
          <a:xfrm>
            <a:off x="9906000" y="5588000"/>
            <a:ext cx="1397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300" b="1" i="0" u="none" strike="noStrike">
                <a:solidFill>
                  <a:srgbClr val="374151"/>
                </a:solidFill>
                <a:latin typeface="Noto Sans SC"/>
                <a:ea typeface="Noto Sans SC"/>
                <a:cs typeface="Noto Sans SC"/>
                <a:sym typeface="Noto Sans SC"/>
              </a:rPr>
              <a:t>响应式</a:t>
            </a:r>
            <a:endParaRPr lang="en-US" sz="11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FFFFFF">
              <a:alpha val="9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508000"/>
            <a:ext cx="25146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0D6EFD"/>
                </a:solidFill>
                <a:latin typeface="Noto Sans SC"/>
                <a:ea typeface="Noto Sans SC"/>
                <a:cs typeface="Noto Sans SC"/>
                <a:sym typeface="Noto Sans SC"/>
              </a:rPr>
              <a:t>核心数据模型</a:t>
            </a:r>
            <a:endParaRPr lang="en-US" sz="1100"/>
          </a:p>
        </p:txBody>
      </p:sp>
      <p:sp>
        <p:nvSpPr>
          <p:cNvPr id="5" name="AutoShape 5"/>
          <p:cNvSpPr/>
          <p:nvPr/>
        </p:nvSpPr>
        <p:spPr>
          <a:xfrm>
            <a:off x="762000" y="1524000"/>
            <a:ext cx="4572000" cy="2794000"/>
          </a:xfrm>
          <a:prstGeom prst="roundRect">
            <a:avLst>
              <a:gd name="adj" fmla="val 4545"/>
            </a:avLst>
          </a:prstGeom>
          <a:solidFill>
            <a:srgbClr val="FFFFFF">
              <a:alpha val="100000"/>
            </a:srgbClr>
          </a:solidFill>
          <a:ln w="12700" cap="flat" cmpd="sng">
            <a:solidFill>
              <a:srgbClr val="E5E7EB">
                <a:alpha val="100000"/>
              </a:srgbClr>
            </a:solidFill>
            <a:prstDash val="solid"/>
            <a:round/>
          </a:ln>
          <a:effectLst>
            <a:outerShdw blurRad="127000" dist="50800" dir="5400000" algn="tl" rotWithShape="0">
              <a:srgbClr val="000000">
                <a:alpha val="10000"/>
              </a:srgbClr>
            </a:outerShdw>
          </a:effectLst>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4"/>
          <a:srcRect t="17083" b="17083"/>
          <a:stretch>
            <a:fillRect/>
          </a:stretch>
        </p:blipFill>
        <p:spPr>
          <a:xfrm>
            <a:off x="889000" y="1651000"/>
            <a:ext cx="4318000" cy="2006600"/>
          </a:xfrm>
          <a:prstGeom prst="rect">
            <a:avLst/>
          </a:prstGeom>
          <a:noFill/>
          <a:ln w="25400" cap="flat" cmpd="sng">
            <a:noFill/>
            <a:prstDash val="solid"/>
            <a:round/>
          </a:ln>
        </p:spPr>
      </p:pic>
      <p:sp>
        <p:nvSpPr>
          <p:cNvPr id="7" name="AutoShape 7"/>
          <p:cNvSpPr/>
          <p:nvPr/>
        </p:nvSpPr>
        <p:spPr>
          <a:xfrm>
            <a:off x="889000" y="3810000"/>
            <a:ext cx="431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6C757D"/>
                </a:solidFill>
                <a:latin typeface="Noto Sans SC"/>
                <a:ea typeface="Noto Sans SC"/>
                <a:cs typeface="Noto Sans SC"/>
                <a:sym typeface="Noto Sans SC"/>
              </a:rPr>
              <a:t>图：OKR系统核心实体关系 (ER Diagram)</a:t>
            </a:r>
            <a:endParaRPr lang="en-US" sz="1100"/>
          </a:p>
        </p:txBody>
      </p:sp>
      <p:sp>
        <p:nvSpPr>
          <p:cNvPr id="8" name="AutoShape 8"/>
          <p:cNvSpPr/>
          <p:nvPr/>
        </p:nvSpPr>
        <p:spPr>
          <a:xfrm>
            <a:off x="762000" y="4572000"/>
            <a:ext cx="4572000" cy="1397000"/>
          </a:xfrm>
          <a:prstGeom prst="roundRect">
            <a:avLst>
              <a:gd name="adj" fmla="val 9090"/>
            </a:avLst>
          </a:prstGeom>
          <a:solidFill>
            <a:srgbClr val="0D6EFD">
              <a:alpha val="5000"/>
            </a:srgbClr>
          </a:solidFill>
          <a:ln w="12700" cap="flat" cmpd="sng">
            <a:solidFill>
              <a:srgbClr val="0D6EFD">
                <a:alpha val="20000"/>
              </a:srgbClr>
            </a:solid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889000" y="4699000"/>
            <a:ext cx="4318000" cy="1143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0D6EFD"/>
                </a:solidFill>
                <a:latin typeface="Noto Sans SC"/>
                <a:ea typeface="Noto Sans SC"/>
                <a:cs typeface="Noto Sans SC"/>
                <a:sym typeface="Noto Sans SC"/>
              </a:rPr>
              <a:t>实体关系逻辑：</a:t>
            </a:r>
            <a:endParaRPr lang="en-US" sz="1100"/>
          </a:p>
          <a:p>
            <a:pPr indent="0" algn="l">
              <a:lnSpc>
                <a:spcPct val="125000"/>
              </a:lnSpc>
            </a:pPr>
            <a:r>
              <a:rPr lang="en-US" sz="1200" b="0" i="0" u="none" strike="noStrike">
                <a:solidFill>
                  <a:srgbClr val="495057"/>
                </a:solidFill>
                <a:latin typeface="Noto Sans SC"/>
                <a:ea typeface="Noto Sans SC"/>
                <a:cs typeface="Noto Sans SC"/>
                <a:sym typeface="Noto Sans SC"/>
              </a:rPr>
              <a:t>• 一个 OKR 包含多个 KR (关键结果)</a:t>
            </a:r>
          </a:p>
          <a:p>
            <a:pPr indent="0" algn="l">
              <a:lnSpc>
                <a:spcPct val="125000"/>
              </a:lnSpc>
            </a:pPr>
            <a:r>
              <a:rPr lang="en-US" sz="1200" b="0" i="0" u="none" strike="noStrike">
                <a:solidFill>
                  <a:srgbClr val="495057"/>
                </a:solidFill>
                <a:latin typeface="Noto Sans SC"/>
                <a:ea typeface="Noto Sans SC"/>
                <a:cs typeface="Noto Sans SC"/>
                <a:sym typeface="Noto Sans SC"/>
              </a:rPr>
              <a:t>• 每个 KR 关联多个 Plan (实施方案)</a:t>
            </a:r>
          </a:p>
          <a:p>
            <a:pPr indent="0" algn="l">
              <a:lnSpc>
                <a:spcPct val="125000"/>
              </a:lnSpc>
            </a:pPr>
            <a:r>
              <a:rPr lang="en-US" sz="1200" b="0" i="0" u="none" strike="noStrike">
                <a:solidFill>
                  <a:srgbClr val="495057"/>
                </a:solidFill>
                <a:latin typeface="Noto Sans SC"/>
                <a:ea typeface="Noto Sans SC"/>
                <a:cs typeface="Noto Sans SC"/>
                <a:sym typeface="Noto Sans SC"/>
              </a:rPr>
              <a:t>• Plan 通过 FactorScore 关联 Factor (评价因子)</a:t>
            </a:r>
          </a:p>
        </p:txBody>
      </p:sp>
      <p:sp>
        <p:nvSpPr>
          <p:cNvPr id="10" name="AutoShape 10"/>
          <p:cNvSpPr/>
          <p:nvPr/>
        </p:nvSpPr>
        <p:spPr>
          <a:xfrm>
            <a:off x="5842000" y="1524000"/>
            <a:ext cx="508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D6EFD"/>
                </a:solidFill>
                <a:latin typeface="Noto Sans SC"/>
                <a:ea typeface="Noto Sans SC"/>
                <a:cs typeface="Noto Sans SC"/>
                <a:sym typeface="Noto Sans SC"/>
              </a:rPr>
              <a:t>核心数据结构定义</a:t>
            </a:r>
            <a:endParaRPr lang="en-US" sz="1100"/>
          </a:p>
        </p:txBody>
      </p:sp>
      <p:graphicFrame>
        <p:nvGraphicFramePr>
          <p:cNvPr id="11" name="Table 11"/>
          <p:cNvGraphicFramePr>
            <a:graphicFrameLocks noGrp="1"/>
          </p:cNvGraphicFramePr>
          <p:nvPr/>
        </p:nvGraphicFramePr>
        <p:xfrm>
          <a:off x="5842000" y="2032000"/>
          <a:ext cx="5588000" cy="3683000"/>
        </p:xfrm>
        <a:graphic>
          <a:graphicData uri="http://schemas.openxmlformats.org/drawingml/2006/table">
            <a:tbl>
              <a:tblPr>
                <a:effectLst/>
              </a:tblPr>
              <a:tblGrid>
                <a:gridCol w="1270000">
                  <a:extLst>
                    <a:ext uri="{9D8B030D-6E8A-4147-A177-3AD203B41FA5}">
                      <a16:colId xmlns:a16="http://schemas.microsoft.com/office/drawing/2014/main" val="20000"/>
                    </a:ext>
                  </a:extLst>
                </a:gridCol>
                <a:gridCol w="4318000">
                  <a:extLst>
                    <a:ext uri="{9D8B030D-6E8A-4147-A177-3AD203B41FA5}">
                      <a16:colId xmlns:a16="http://schemas.microsoft.com/office/drawing/2014/main" val="20001"/>
                    </a:ext>
                  </a:extLst>
                </a:gridCol>
              </a:tblGrid>
              <a:tr h="508000">
                <a:tc>
                  <a:txBody>
                    <a:bodyPr/>
                    <a:lstStyle/>
                    <a:p>
                      <a:pPr indent="0" algn="ctr">
                        <a:lnSpc>
                          <a:spcPct val="100000"/>
                        </a:lnSpc>
                        <a:defRPr/>
                      </a:pPr>
                      <a:r>
                        <a:rPr lang="en-US" sz="1400" b="1" i="0" u="none" strike="noStrike">
                          <a:solidFill>
                            <a:srgbClr val="FFFFFF"/>
                          </a:solidFill>
                          <a:latin typeface="Noto Sans SC"/>
                          <a:ea typeface="Noto Sans SC"/>
                          <a:cs typeface="Noto Sans SC"/>
                          <a:sym typeface="Noto Sans SC"/>
                        </a:rPr>
                        <a:t>实体名称</a:t>
                      </a:r>
                      <a:endParaRPr lang="en-US" sz="1100"/>
                    </a:p>
                  </a:txBody>
                  <a:tcPr marL="101600" marR="101600" marT="101600" marB="101600" anchor="ctr">
                    <a:lnL>
                      <a:noFill/>
                    </a:lnL>
                    <a:lnR>
                      <a:noFill/>
                    </a:lnR>
                    <a:lnT>
                      <a:noFill/>
                    </a:lnT>
                    <a:lnB>
                      <a:noFill/>
                    </a:lnB>
                    <a:solidFill>
                      <a:srgbClr val="0D6EFD">
                        <a:alpha val="100000"/>
                      </a:srgbClr>
                    </a:solidFill>
                  </a:tcPr>
                </a:tc>
                <a:tc>
                  <a:txBody>
                    <a:bodyPr/>
                    <a:lstStyle/>
                    <a:p>
                      <a:pPr marL="127000" indent="0" algn="l">
                        <a:lnSpc>
                          <a:spcPct val="100000"/>
                        </a:lnSpc>
                        <a:defRPr/>
                      </a:pPr>
                      <a:r>
                        <a:rPr lang="en-US" sz="1400" b="1" i="0" u="none" strike="noStrike">
                          <a:solidFill>
                            <a:srgbClr val="FFFFFF"/>
                          </a:solidFill>
                          <a:latin typeface="Noto Sans SC"/>
                          <a:ea typeface="Noto Sans SC"/>
                          <a:cs typeface="Noto Sans SC"/>
                          <a:sym typeface="Noto Sans SC"/>
                        </a:rPr>
                        <a:t>属性与描述</a:t>
                      </a:r>
                      <a:endParaRPr lang="en-US" sz="1100"/>
                    </a:p>
                  </a:txBody>
                  <a:tcPr marL="101600" marR="101600" marT="101600" marB="101600" anchor="ctr">
                    <a:lnL>
                      <a:noFill/>
                    </a:lnL>
                    <a:lnR>
                      <a:noFill/>
                    </a:lnR>
                    <a:lnT>
                      <a:noFill/>
                    </a:lnT>
                    <a:lnB>
                      <a:noFill/>
                    </a:lnB>
                    <a:solidFill>
                      <a:srgbClr val="0D6EFD">
                        <a:alpha val="100000"/>
                      </a:srgbClr>
                    </a:solidFill>
                  </a:tcPr>
                </a:tc>
                <a:extLst>
                  <a:ext uri="{0D108BD9-81ED-4DB2-BD59-A6C34878D82A}">
                    <a16:rowId xmlns:a16="http://schemas.microsoft.com/office/drawing/2014/main" val="10000"/>
                  </a:ext>
                </a:extLst>
              </a:tr>
              <a:tr h="635000">
                <a:tc>
                  <a:txBody>
                    <a:bodyPr/>
                    <a:lstStyle/>
                    <a:p>
                      <a:pPr indent="0" algn="ctr">
                        <a:lnSpc>
                          <a:spcPct val="100000"/>
                        </a:lnSpc>
                        <a:defRPr/>
                      </a:pPr>
                      <a:r>
                        <a:rPr lang="en-US" sz="1400" b="1" i="0" u="none" strike="noStrike">
                          <a:solidFill>
                            <a:srgbClr val="212529"/>
                          </a:solidFill>
                          <a:latin typeface="Noto Sans SC"/>
                          <a:ea typeface="Noto Sans SC"/>
                          <a:cs typeface="Noto Sans SC"/>
                          <a:sym typeface="Noto Sans SC"/>
                        </a:rPr>
                        <a:t>OKR</a:t>
                      </a:r>
                      <a:endParaRPr lang="en-US" sz="1100"/>
                    </a:p>
                  </a:txBody>
                  <a:tcPr marL="101600" marR="101600" marT="101600" marB="101600" anchor="ctr">
                    <a:lnL>
                      <a:noFill/>
                    </a:lnL>
                    <a:lnR>
                      <a:noFill/>
                    </a:lnR>
                    <a:lnT>
                      <a:noFill/>
                    </a:lnT>
                    <a:lnB>
                      <a:noFill/>
                    </a:lnB>
                    <a:solidFill>
                      <a:srgbClr val="F8F9FA">
                        <a:alpha val="100000"/>
                      </a:srgbClr>
                    </a:solidFill>
                  </a:tcPr>
                </a:tc>
                <a:tc>
                  <a:txBody>
                    <a:bodyPr/>
                    <a:lstStyle/>
                    <a:p>
                      <a:pPr marL="127000" indent="0" algn="l">
                        <a:lnSpc>
                          <a:spcPct val="100000"/>
                        </a:lnSpc>
                        <a:defRPr/>
                      </a:pPr>
                      <a:r>
                        <a:rPr lang="en-US" sz="1300" b="0" i="0" u="none" strike="noStrike">
                          <a:solidFill>
                            <a:srgbClr val="495057"/>
                          </a:solidFill>
                          <a:latin typeface="Noto Sans SC"/>
                          <a:ea typeface="Noto Sans SC"/>
                          <a:cs typeface="Noto Sans SC"/>
                          <a:sym typeface="Noto Sans SC"/>
                        </a:rPr>
                        <a:t>目标及其关键结果的集合，包含目标名称、周期、负责人等属性。</a:t>
                      </a:r>
                      <a:endParaRPr lang="en-US" sz="1100"/>
                    </a:p>
                  </a:txBody>
                  <a:tcPr marL="101600" marR="101600" marT="101600" marB="101600" anchor="ctr">
                    <a:lnL>
                      <a:noFill/>
                    </a:lnL>
                    <a:lnR>
                      <a:noFill/>
                    </a:lnR>
                    <a:lnT>
                      <a:noFill/>
                    </a:lnT>
                    <a:lnB>
                      <a:noFill/>
                    </a:lnB>
                    <a:solidFill>
                      <a:srgbClr val="F8F9FA">
                        <a:alpha val="100000"/>
                      </a:srgbClr>
                    </a:solidFill>
                  </a:tcPr>
                </a:tc>
                <a:extLst>
                  <a:ext uri="{0D108BD9-81ED-4DB2-BD59-A6C34878D82A}">
                    <a16:rowId xmlns:a16="http://schemas.microsoft.com/office/drawing/2014/main" val="10001"/>
                  </a:ext>
                </a:extLst>
              </a:tr>
              <a:tr h="635000">
                <a:tc>
                  <a:txBody>
                    <a:bodyPr/>
                    <a:lstStyle/>
                    <a:p>
                      <a:pPr indent="0" algn="ctr">
                        <a:lnSpc>
                          <a:spcPct val="100000"/>
                        </a:lnSpc>
                        <a:defRPr/>
                      </a:pPr>
                      <a:r>
                        <a:rPr lang="en-US" sz="1400" b="1" i="0" u="none" strike="noStrike">
                          <a:solidFill>
                            <a:srgbClr val="212529"/>
                          </a:solidFill>
                          <a:latin typeface="Noto Sans SC"/>
                          <a:ea typeface="Noto Sans SC"/>
                          <a:cs typeface="Noto Sans SC"/>
                          <a:sym typeface="Noto Sans SC"/>
                        </a:rPr>
                        <a:t>KR</a:t>
                      </a:r>
                      <a:endParaRPr lang="en-US" sz="1100"/>
                    </a:p>
                  </a:txBody>
                  <a:tcPr marL="101600" marR="101600" marT="101600" marB="101600" anchor="ctr">
                    <a:lnL>
                      <a:noFill/>
                    </a:lnL>
                    <a:lnR>
                      <a:noFill/>
                    </a:lnR>
                    <a:lnT>
                      <a:noFill/>
                    </a:lnT>
                    <a:lnB>
                      <a:noFill/>
                    </a:lnB>
                    <a:solidFill>
                      <a:srgbClr val="FFFFFF">
                        <a:alpha val="100000"/>
                      </a:srgbClr>
                    </a:solidFill>
                  </a:tcPr>
                </a:tc>
                <a:tc>
                  <a:txBody>
                    <a:bodyPr/>
                    <a:lstStyle/>
                    <a:p>
                      <a:pPr marL="127000" indent="0" algn="l">
                        <a:lnSpc>
                          <a:spcPct val="100000"/>
                        </a:lnSpc>
                        <a:defRPr/>
                      </a:pPr>
                      <a:r>
                        <a:rPr lang="en-US" sz="1300" b="0" i="0" u="none" strike="noStrike">
                          <a:solidFill>
                            <a:srgbClr val="495057"/>
                          </a:solidFill>
                          <a:latin typeface="Noto Sans SC"/>
                          <a:ea typeface="Noto Sans SC"/>
                          <a:cs typeface="Noto Sans SC"/>
                          <a:sym typeface="Noto Sans SC"/>
                        </a:rPr>
                        <a:t>关键结果，OKR的子目标，定义量化指标，关联具体的执行方案。</a:t>
                      </a:r>
                      <a:endParaRPr lang="en-US" sz="1100"/>
                    </a:p>
                  </a:txBody>
                  <a:tcPr marL="101600" marR="101600" marT="101600" marB="101600" anchor="ctr">
                    <a:lnL>
                      <a:noFill/>
                    </a:lnL>
                    <a:lnR>
                      <a:noFill/>
                    </a:lnR>
                    <a:lnT>
                      <a:noFill/>
                    </a:lnT>
                    <a:lnB>
                      <a:noFill/>
                    </a:lnB>
                    <a:solidFill>
                      <a:srgbClr val="FFFFFF">
                        <a:alpha val="100000"/>
                      </a:srgbClr>
                    </a:solidFill>
                  </a:tcPr>
                </a:tc>
                <a:extLst>
                  <a:ext uri="{0D108BD9-81ED-4DB2-BD59-A6C34878D82A}">
                    <a16:rowId xmlns:a16="http://schemas.microsoft.com/office/drawing/2014/main" val="10002"/>
                  </a:ext>
                </a:extLst>
              </a:tr>
              <a:tr h="635000">
                <a:tc>
                  <a:txBody>
                    <a:bodyPr/>
                    <a:lstStyle/>
                    <a:p>
                      <a:pPr indent="0" algn="ctr">
                        <a:lnSpc>
                          <a:spcPct val="100000"/>
                        </a:lnSpc>
                        <a:defRPr/>
                      </a:pPr>
                      <a:r>
                        <a:rPr lang="en-US" sz="1400" b="1" i="0" u="none" strike="noStrike">
                          <a:solidFill>
                            <a:srgbClr val="212529"/>
                          </a:solidFill>
                          <a:latin typeface="Noto Sans SC"/>
                          <a:ea typeface="Noto Sans SC"/>
                          <a:cs typeface="Noto Sans SC"/>
                          <a:sym typeface="Noto Sans SC"/>
                        </a:rPr>
                        <a:t>Plan</a:t>
                      </a:r>
                      <a:endParaRPr lang="en-US" sz="1100"/>
                    </a:p>
                  </a:txBody>
                  <a:tcPr marL="101600" marR="101600" marT="101600" marB="101600" anchor="ctr">
                    <a:lnL>
                      <a:noFill/>
                    </a:lnL>
                    <a:lnR>
                      <a:noFill/>
                    </a:lnR>
                    <a:lnT>
                      <a:noFill/>
                    </a:lnT>
                    <a:lnB>
                      <a:noFill/>
                    </a:lnB>
                    <a:solidFill>
                      <a:srgbClr val="F8F9FA">
                        <a:alpha val="100000"/>
                      </a:srgbClr>
                    </a:solidFill>
                  </a:tcPr>
                </a:tc>
                <a:tc>
                  <a:txBody>
                    <a:bodyPr/>
                    <a:lstStyle/>
                    <a:p>
                      <a:pPr marL="127000" indent="0" algn="l">
                        <a:lnSpc>
                          <a:spcPct val="100000"/>
                        </a:lnSpc>
                        <a:defRPr/>
                      </a:pPr>
                      <a:r>
                        <a:rPr lang="en-US" sz="1300" b="0" i="0" u="none" strike="noStrike">
                          <a:solidFill>
                            <a:srgbClr val="495057"/>
                          </a:solidFill>
                          <a:latin typeface="Noto Sans SC"/>
                          <a:ea typeface="Noto Sans SC"/>
                          <a:cs typeface="Noto Sans SC"/>
                          <a:sym typeface="Noto Sans SC"/>
                        </a:rPr>
                        <a:t>实现KR的具体行动方案，包含方案描述、资源需求及预期效果。</a:t>
                      </a:r>
                      <a:endParaRPr lang="en-US" sz="1100"/>
                    </a:p>
                  </a:txBody>
                  <a:tcPr marL="101600" marR="101600" marT="101600" marB="101600" anchor="ctr">
                    <a:lnL>
                      <a:noFill/>
                    </a:lnL>
                    <a:lnR>
                      <a:noFill/>
                    </a:lnR>
                    <a:lnT>
                      <a:noFill/>
                    </a:lnT>
                    <a:lnB>
                      <a:noFill/>
                    </a:lnB>
                    <a:solidFill>
                      <a:srgbClr val="F8F9FA">
                        <a:alpha val="100000"/>
                      </a:srgbClr>
                    </a:solidFill>
                  </a:tcPr>
                </a:tc>
                <a:extLst>
                  <a:ext uri="{0D108BD9-81ED-4DB2-BD59-A6C34878D82A}">
                    <a16:rowId xmlns:a16="http://schemas.microsoft.com/office/drawing/2014/main" val="10003"/>
                  </a:ext>
                </a:extLst>
              </a:tr>
              <a:tr h="635000">
                <a:tc>
                  <a:txBody>
                    <a:bodyPr/>
                    <a:lstStyle/>
                    <a:p>
                      <a:pPr indent="0" algn="ctr">
                        <a:lnSpc>
                          <a:spcPct val="100000"/>
                        </a:lnSpc>
                        <a:defRPr/>
                      </a:pPr>
                      <a:r>
                        <a:rPr lang="en-US" sz="1400" b="1" i="0" u="none" strike="noStrike">
                          <a:solidFill>
                            <a:srgbClr val="212529"/>
                          </a:solidFill>
                          <a:latin typeface="Noto Sans SC"/>
                          <a:ea typeface="Noto Sans SC"/>
                          <a:cs typeface="Noto Sans SC"/>
                          <a:sym typeface="Noto Sans SC"/>
                        </a:rPr>
                        <a:t>Factor</a:t>
                      </a:r>
                      <a:endParaRPr lang="en-US" sz="1100"/>
                    </a:p>
                  </a:txBody>
                  <a:tcPr marL="101600" marR="101600" marT="101600" marB="101600" anchor="ctr">
                    <a:lnL>
                      <a:noFill/>
                    </a:lnL>
                    <a:lnR>
                      <a:noFill/>
                    </a:lnR>
                    <a:lnT>
                      <a:noFill/>
                    </a:lnT>
                    <a:lnB>
                      <a:noFill/>
                    </a:lnB>
                    <a:solidFill>
                      <a:srgbClr val="FFFFFF">
                        <a:alpha val="100000"/>
                      </a:srgbClr>
                    </a:solidFill>
                  </a:tcPr>
                </a:tc>
                <a:tc>
                  <a:txBody>
                    <a:bodyPr/>
                    <a:lstStyle/>
                    <a:p>
                      <a:pPr marL="127000" indent="0" algn="l">
                        <a:lnSpc>
                          <a:spcPct val="100000"/>
                        </a:lnSpc>
                        <a:defRPr/>
                      </a:pPr>
                      <a:r>
                        <a:rPr lang="en-US" sz="1300" b="0" i="0" u="none" strike="noStrike">
                          <a:solidFill>
                            <a:srgbClr val="495057"/>
                          </a:solidFill>
                          <a:latin typeface="Noto Sans SC"/>
                          <a:ea typeface="Noto Sans SC"/>
                          <a:cs typeface="Noto Sans SC"/>
                          <a:sym typeface="Noto Sans SC"/>
                        </a:rPr>
                        <a:t>方案评价因子，如成本、风险、难度等，用于方案的综合评估。</a:t>
                      </a:r>
                      <a:endParaRPr lang="en-US" sz="1100"/>
                    </a:p>
                  </a:txBody>
                  <a:tcPr marL="101600" marR="101600" marT="101600" marB="101600" anchor="ctr">
                    <a:lnL>
                      <a:noFill/>
                    </a:lnL>
                    <a:lnR>
                      <a:noFill/>
                    </a:lnR>
                    <a:lnT>
                      <a:noFill/>
                    </a:lnT>
                    <a:lnB>
                      <a:noFill/>
                    </a:lnB>
                    <a:solidFill>
                      <a:srgbClr val="FFFFFF">
                        <a:alpha val="100000"/>
                      </a:srgbClr>
                    </a:solidFill>
                  </a:tcPr>
                </a:tc>
                <a:extLst>
                  <a:ext uri="{0D108BD9-81ED-4DB2-BD59-A6C34878D82A}">
                    <a16:rowId xmlns:a16="http://schemas.microsoft.com/office/drawing/2014/main" val="10004"/>
                  </a:ext>
                </a:extLst>
              </a:tr>
              <a:tr h="635000">
                <a:tc>
                  <a:txBody>
                    <a:bodyPr/>
                    <a:lstStyle/>
                    <a:p>
                      <a:pPr indent="0" algn="ctr">
                        <a:lnSpc>
                          <a:spcPct val="100000"/>
                        </a:lnSpc>
                        <a:defRPr/>
                      </a:pPr>
                      <a:r>
                        <a:rPr lang="en-US" sz="1400" b="1" i="0" u="none" strike="noStrike">
                          <a:solidFill>
                            <a:srgbClr val="212529"/>
                          </a:solidFill>
                          <a:latin typeface="Noto Sans SC"/>
                          <a:ea typeface="Noto Sans SC"/>
                          <a:cs typeface="Noto Sans SC"/>
                          <a:sym typeface="Noto Sans SC"/>
                        </a:rPr>
                        <a:t>FactorScore</a:t>
                      </a:r>
                      <a:endParaRPr lang="en-US" sz="1100"/>
                    </a:p>
                  </a:txBody>
                  <a:tcPr marL="101600" marR="101600" marT="101600" marB="101600" anchor="ctr">
                    <a:lnL>
                      <a:noFill/>
                    </a:lnL>
                    <a:lnR>
                      <a:noFill/>
                    </a:lnR>
                    <a:lnT>
                      <a:noFill/>
                    </a:lnT>
                    <a:lnB>
                      <a:noFill/>
                    </a:lnB>
                    <a:solidFill>
                      <a:srgbClr val="F8F9FA">
                        <a:alpha val="100000"/>
                      </a:srgbClr>
                    </a:solidFill>
                  </a:tcPr>
                </a:tc>
                <a:tc>
                  <a:txBody>
                    <a:bodyPr/>
                    <a:lstStyle/>
                    <a:p>
                      <a:pPr marL="127000" indent="0" algn="l">
                        <a:lnSpc>
                          <a:spcPct val="100000"/>
                        </a:lnSpc>
                        <a:defRPr/>
                      </a:pPr>
                      <a:r>
                        <a:rPr lang="en-US" sz="1300" b="0" i="0" u="none" strike="noStrike">
                          <a:solidFill>
                            <a:srgbClr val="495057"/>
                          </a:solidFill>
                          <a:latin typeface="Noto Sans SC"/>
                          <a:ea typeface="Noto Sans SC"/>
                          <a:cs typeface="Noto Sans SC"/>
                          <a:sym typeface="Noto Sans SC"/>
                        </a:rPr>
                        <a:t>方案在特定因子上的得分，记录具体的量化评分，支持决策计算。</a:t>
                      </a:r>
                      <a:endParaRPr lang="en-US" sz="1100"/>
                    </a:p>
                  </a:txBody>
                  <a:tcPr marL="101600" marR="101600" marT="101600" marB="101600" anchor="ctr">
                    <a:lnL>
                      <a:noFill/>
                    </a:lnL>
                    <a:lnR>
                      <a:noFill/>
                    </a:lnR>
                    <a:lnT>
                      <a:noFill/>
                    </a:lnT>
                    <a:lnB>
                      <a:noFill/>
                    </a:lnB>
                    <a:solidFill>
                      <a:srgbClr val="F8F9FA">
                        <a:alpha val="100000"/>
                      </a:srgbClr>
                    </a:solidFill>
                  </a:tcPr>
                </a:tc>
                <a:extLst>
                  <a:ext uri="{0D108BD9-81ED-4DB2-BD59-A6C34878D82A}">
                    <a16:rowId xmlns:a16="http://schemas.microsoft.com/office/drawing/2014/main" val="10005"/>
                  </a:ext>
                </a:extLst>
              </a:tr>
            </a:tbl>
          </a:graphicData>
        </a:graphic>
      </p:graphicFrame>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1176000" y="5969000"/>
            <a:ext cx="406400" cy="4064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508000"/>
            <a:ext cx="106680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0D6EFD"/>
                </a:solidFill>
                <a:latin typeface="Noto Sans SC"/>
                <a:ea typeface="Noto Sans SC"/>
                <a:cs typeface="Noto Sans SC"/>
                <a:sym typeface="Noto Sans SC"/>
              </a:rPr>
              <a:t>AHP权重计算算法：几何平均法实现</a:t>
            </a:r>
            <a:endParaRPr lang="en-US" sz="1100"/>
          </a:p>
        </p:txBody>
      </p:sp>
      <p:sp>
        <p:nvSpPr>
          <p:cNvPr id="5" name="AutoShape 5"/>
          <p:cNvSpPr/>
          <p:nvPr/>
        </p:nvSpPr>
        <p:spPr>
          <a:xfrm>
            <a:off x="762000" y="1524000"/>
            <a:ext cx="3302000" cy="2286000"/>
          </a:xfrm>
          <a:prstGeom prst="roundRect">
            <a:avLst>
              <a:gd name="adj" fmla="val 5555"/>
            </a:avLst>
          </a:prstGeom>
          <a:solidFill>
            <a:srgbClr val="FFFFFF">
              <a:alpha val="100000"/>
            </a:srgbClr>
          </a:solidFill>
          <a:ln w="12700" cap="flat" cmpd="sng">
            <a:solidFill>
              <a:srgbClr val="0D6EFD">
                <a:alpha val="20000"/>
              </a:srgbClr>
            </a:solidFill>
            <a:prstDash val="solid"/>
            <a:round/>
          </a:ln>
          <a:effectLst>
            <a:outerShdw blurRad="127000" dist="50800" dir="5400000" algn="tl" rotWithShape="0">
              <a:srgbClr val="0D6EFD">
                <a:alpha val="10000"/>
              </a:srgbClr>
            </a:outerShdw>
          </a:effectLst>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1778000"/>
            <a:ext cx="406400" cy="406400"/>
          </a:xfrm>
          <a:prstGeom prst="rect">
            <a:avLst/>
          </a:prstGeom>
        </p:spPr>
      </p:pic>
      <p:sp>
        <p:nvSpPr>
          <p:cNvPr id="7" name="AutoShape 7"/>
          <p:cNvSpPr/>
          <p:nvPr/>
        </p:nvSpPr>
        <p:spPr>
          <a:xfrm>
            <a:off x="1524000" y="1778000"/>
            <a:ext cx="241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D6EFD"/>
                </a:solidFill>
                <a:latin typeface="Noto Sans SC"/>
                <a:ea typeface="Noto Sans SC"/>
                <a:cs typeface="Noto Sans SC"/>
                <a:sym typeface="Noto Sans SC"/>
              </a:rPr>
              <a:t>Step 1: 构建判断矩阵</a:t>
            </a:r>
            <a:endParaRPr lang="en-US" sz="1100"/>
          </a:p>
        </p:txBody>
      </p:sp>
      <p:sp>
        <p:nvSpPr>
          <p:cNvPr id="8" name="AutoShape 8"/>
          <p:cNvSpPr/>
          <p:nvPr/>
        </p:nvSpPr>
        <p:spPr>
          <a:xfrm>
            <a:off x="1016000" y="2286000"/>
            <a:ext cx="2794000" cy="1270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400" b="0" i="0" u="none" strike="noStrike">
                <a:solidFill>
                  <a:srgbClr val="6C757D"/>
                </a:solidFill>
                <a:latin typeface="Noto Sans SC"/>
                <a:ea typeface="Noto Sans SC"/>
                <a:cs typeface="Noto Sans SC"/>
                <a:sym typeface="Noto Sans SC"/>
              </a:rPr>
              <a:t>根据用户两两比较结果，构建n×n的判断矩阵A，其中a_ij表示因子i相对于因子j的重要性标度。</a:t>
            </a:r>
            <a:endParaRPr lang="en-US" sz="1100"/>
          </a:p>
        </p:txBody>
      </p:sp>
      <p:sp>
        <p:nvSpPr>
          <p:cNvPr id="9" name="AutoShape 9"/>
          <p:cNvSpPr/>
          <p:nvPr/>
        </p:nvSpPr>
        <p:spPr>
          <a:xfrm>
            <a:off x="4445000" y="1524000"/>
            <a:ext cx="3302000" cy="2286000"/>
          </a:xfrm>
          <a:prstGeom prst="roundRect">
            <a:avLst>
              <a:gd name="adj" fmla="val 5555"/>
            </a:avLst>
          </a:prstGeom>
          <a:solidFill>
            <a:srgbClr val="FFFFFF">
              <a:alpha val="100000"/>
            </a:srgbClr>
          </a:solidFill>
          <a:ln w="12700" cap="flat" cmpd="sng">
            <a:solidFill>
              <a:srgbClr val="0D6EFD">
                <a:alpha val="20000"/>
              </a:srgbClr>
            </a:solidFill>
            <a:prstDash val="solid"/>
            <a:round/>
          </a:ln>
          <a:effectLst>
            <a:outerShdw blurRad="127000" dist="50800" dir="5400000" algn="tl" rotWithShape="0">
              <a:srgbClr val="0D6EFD">
                <a:alpha val="10000"/>
              </a:srgbClr>
            </a:outerShdw>
          </a:effectLst>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699000" y="1778000"/>
            <a:ext cx="406400" cy="406400"/>
          </a:xfrm>
          <a:prstGeom prst="rect">
            <a:avLst/>
          </a:prstGeom>
        </p:spPr>
      </p:pic>
      <p:sp>
        <p:nvSpPr>
          <p:cNvPr id="11" name="AutoShape 11"/>
          <p:cNvSpPr/>
          <p:nvPr/>
        </p:nvSpPr>
        <p:spPr>
          <a:xfrm>
            <a:off x="5207000" y="1778000"/>
            <a:ext cx="241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D6EFD"/>
                </a:solidFill>
                <a:latin typeface="Noto Sans SC"/>
                <a:ea typeface="Noto Sans SC"/>
                <a:cs typeface="Noto Sans SC"/>
                <a:sym typeface="Noto Sans SC"/>
              </a:rPr>
              <a:t>Step 2: 计算几何平均值</a:t>
            </a:r>
            <a:endParaRPr lang="en-US" sz="1100"/>
          </a:p>
        </p:txBody>
      </p:sp>
      <p:sp>
        <p:nvSpPr>
          <p:cNvPr id="12" name="AutoShape 12"/>
          <p:cNvSpPr/>
          <p:nvPr/>
        </p:nvSpPr>
        <p:spPr>
          <a:xfrm>
            <a:off x="4699000" y="2286000"/>
            <a:ext cx="2794000" cy="1270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400" b="0" i="0" u="none" strike="noStrike">
                <a:solidFill>
                  <a:srgbClr val="6C757D"/>
                </a:solidFill>
                <a:latin typeface="Noto Sans SC"/>
                <a:ea typeface="Noto Sans SC"/>
                <a:cs typeface="Noto Sans SC"/>
                <a:sym typeface="Noto Sans SC"/>
              </a:rPr>
              <a:t>对判断矩阵的每一行计算几何平均值：</a:t>
            </a:r>
            <a:endParaRPr lang="en-US" sz="1100"/>
          </a:p>
          <a:p>
            <a:pPr indent="0" algn="l">
              <a:lnSpc>
                <a:spcPct val="108333"/>
              </a:lnSpc>
            </a:pPr>
            <a:r>
              <a:rPr lang="en-US" sz="1400" b="1" i="0" u="none" strike="noStrike">
                <a:solidFill>
                  <a:srgbClr val="0D6EFD"/>
                </a:solidFill>
                <a:latin typeface="Noto Sans SC"/>
                <a:ea typeface="Noto Sans SC"/>
                <a:cs typeface="Noto Sans SC"/>
                <a:sym typeface="Noto Sans SC"/>
              </a:rPr>
              <a:t>w_i = (∏a_ij)^(1/n)</a:t>
            </a:r>
          </a:p>
        </p:txBody>
      </p:sp>
      <p:sp>
        <p:nvSpPr>
          <p:cNvPr id="13" name="AutoShape 13"/>
          <p:cNvSpPr/>
          <p:nvPr/>
        </p:nvSpPr>
        <p:spPr>
          <a:xfrm>
            <a:off x="8128000" y="1524000"/>
            <a:ext cx="3302000" cy="2286000"/>
          </a:xfrm>
          <a:prstGeom prst="roundRect">
            <a:avLst>
              <a:gd name="adj" fmla="val 5555"/>
            </a:avLst>
          </a:prstGeom>
          <a:solidFill>
            <a:srgbClr val="FFFFFF">
              <a:alpha val="100000"/>
            </a:srgbClr>
          </a:solidFill>
          <a:ln w="12700" cap="flat" cmpd="sng">
            <a:solidFill>
              <a:srgbClr val="0D6EFD">
                <a:alpha val="20000"/>
              </a:srgbClr>
            </a:solidFill>
            <a:prstDash val="solid"/>
            <a:round/>
          </a:ln>
          <a:effectLst>
            <a:outerShdw blurRad="127000" dist="50800" dir="5400000" algn="tl" rotWithShape="0">
              <a:srgbClr val="0D6EFD">
                <a:alpha val="10000"/>
              </a:srgbClr>
            </a:outerShdw>
          </a:effectLst>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382000" y="1778000"/>
            <a:ext cx="406400" cy="406400"/>
          </a:xfrm>
          <a:prstGeom prst="rect">
            <a:avLst/>
          </a:prstGeom>
        </p:spPr>
      </p:pic>
      <p:sp>
        <p:nvSpPr>
          <p:cNvPr id="15" name="AutoShape 15"/>
          <p:cNvSpPr/>
          <p:nvPr/>
        </p:nvSpPr>
        <p:spPr>
          <a:xfrm>
            <a:off x="8890000" y="1778000"/>
            <a:ext cx="241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D6EFD"/>
                </a:solidFill>
                <a:latin typeface="Noto Sans SC"/>
                <a:ea typeface="Noto Sans SC"/>
                <a:cs typeface="Noto Sans SC"/>
                <a:sym typeface="Noto Sans SC"/>
              </a:rPr>
              <a:t>Step 3: 归一化处理</a:t>
            </a:r>
            <a:endParaRPr lang="en-US" sz="1100"/>
          </a:p>
        </p:txBody>
      </p:sp>
      <p:sp>
        <p:nvSpPr>
          <p:cNvPr id="16" name="AutoShape 16"/>
          <p:cNvSpPr/>
          <p:nvPr/>
        </p:nvSpPr>
        <p:spPr>
          <a:xfrm>
            <a:off x="8382000" y="2286000"/>
            <a:ext cx="2794000" cy="1270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400" b="0" i="0" u="none" strike="noStrike">
                <a:solidFill>
                  <a:srgbClr val="6C757D"/>
                </a:solidFill>
                <a:latin typeface="Noto Sans SC"/>
                <a:ea typeface="Noto Sans SC"/>
                <a:cs typeface="Noto Sans SC"/>
                <a:sym typeface="Noto Sans SC"/>
              </a:rPr>
              <a:t>将几何平均值归一化，得到最终权重向量：</a:t>
            </a:r>
            <a:endParaRPr lang="en-US" sz="1100"/>
          </a:p>
          <a:p>
            <a:pPr indent="0" algn="l">
              <a:lnSpc>
                <a:spcPct val="108333"/>
              </a:lnSpc>
            </a:pPr>
            <a:r>
              <a:rPr lang="en-US" sz="1400" b="1" i="0" u="none" strike="noStrike">
                <a:solidFill>
                  <a:srgbClr val="0D6EFD"/>
                </a:solidFill>
                <a:latin typeface="Noto Sans SC"/>
                <a:ea typeface="Noto Sans SC"/>
                <a:cs typeface="Noto Sans SC"/>
                <a:sym typeface="Noto Sans SC"/>
              </a:rPr>
              <a:t>W_i = w_i / ∑w_k</a:t>
            </a:r>
          </a:p>
        </p:txBody>
      </p:sp>
      <p:sp>
        <p:nvSpPr>
          <p:cNvPr id="17" name="AutoShape 17"/>
          <p:cNvSpPr/>
          <p:nvPr/>
        </p:nvSpPr>
        <p:spPr>
          <a:xfrm>
            <a:off x="762000" y="4191000"/>
            <a:ext cx="10668000" cy="1016000"/>
          </a:xfrm>
          <a:prstGeom prst="roundRect">
            <a:avLst>
              <a:gd name="adj" fmla="val 12500"/>
            </a:avLst>
          </a:prstGeom>
          <a:solidFill>
            <a:srgbClr val="0D6EFD">
              <a:alpha val="8000"/>
            </a:srgbClr>
          </a:solidFill>
          <a:ln w="12700" cap="flat" cmpd="sng">
            <a:solidFill>
              <a:srgbClr val="0D6EFD">
                <a:alpha val="30000"/>
              </a:srgbClr>
            </a:solidFill>
            <a:prstDash val="solid"/>
            <a:round/>
          </a:ln>
        </p:spPr>
        <p:txBody>
          <a:bodyPr vert="horz" wrap="square" lIns="63500" tIns="63500" rIns="63500" bIns="63500" rtlCol="0" anchor="ctr"/>
          <a:lstStyle/>
          <a:p>
            <a:pPr algn="ctr">
              <a:defRPr/>
            </a:pPr>
            <a:endParaRPr/>
          </a:p>
        </p:txBody>
      </p:sp>
      <p:pic>
        <p:nvPicPr>
          <p:cNvPr id="18" name="Picture 18"/>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016000" y="4445000"/>
            <a:ext cx="508000" cy="508000"/>
          </a:xfrm>
          <a:prstGeom prst="rect">
            <a:avLst/>
          </a:prstGeom>
        </p:spPr>
      </p:pic>
      <p:sp>
        <p:nvSpPr>
          <p:cNvPr id="19" name="AutoShape 19"/>
          <p:cNvSpPr/>
          <p:nvPr/>
        </p:nvSpPr>
        <p:spPr>
          <a:xfrm>
            <a:off x="1778000" y="4445000"/>
            <a:ext cx="889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74151"/>
                </a:solidFill>
                <a:latin typeface="Noto Sans SC"/>
                <a:ea typeface="Noto Sans SC"/>
                <a:cs typeface="Noto Sans SC"/>
                <a:sym typeface="Noto Sans SC"/>
              </a:rPr>
              <a:t>算法复杂度分析：</a:t>
            </a:r>
            <a:r>
              <a:rPr lang="en-US" sz="1800" b="1" i="0" u="none" strike="noStrike">
                <a:solidFill>
                  <a:srgbClr val="0D6EFD"/>
                </a:solidFill>
                <a:latin typeface="Noto Sans SC"/>
                <a:ea typeface="Noto Sans SC"/>
                <a:cs typeface="Noto Sans SC"/>
                <a:sym typeface="Noto Sans SC"/>
              </a:rPr>
              <a:t>O(n²)</a:t>
            </a:r>
            <a:r>
              <a:rPr lang="en-US" sz="1600" b="0" i="0" u="none" strike="noStrike">
                <a:solidFill>
                  <a:srgbClr val="6C757D"/>
                </a:solidFill>
                <a:latin typeface="Noto Sans SC"/>
                <a:ea typeface="Noto Sans SC"/>
                <a:cs typeface="Noto Sans SC"/>
                <a:sym typeface="Noto Sans SC"/>
              </a:rPr>
              <a:t>，其中n为影响因子的数量，计算效率高，适合处理中等规模的决策问题。</a:t>
            </a:r>
            <a:endParaRPr lang="en-US" sz="1100"/>
          </a:p>
        </p:txBody>
      </p:sp>
      <p:sp>
        <p:nvSpPr>
          <p:cNvPr id="20" name="AutoShape 20"/>
          <p:cNvSpPr/>
          <p:nvPr/>
        </p:nvSpPr>
        <p:spPr>
          <a:xfrm>
            <a:off x="0" y="6781800"/>
            <a:ext cx="12192000" cy="76200"/>
          </a:xfrm>
          <a:prstGeom prst="roundRect">
            <a:avLst>
              <a:gd name="adj" fmla="val 0"/>
            </a:avLst>
          </a:prstGeom>
          <a:solidFill>
            <a:srgbClr val="0D6EFD">
              <a:alpha val="100000"/>
            </a:srgbClr>
          </a:solidFill>
          <a:ln w="25400" cap="flat" cmpd="sng">
            <a:noFill/>
            <a:prstDash val="solid"/>
            <a:round/>
          </a:ln>
        </p:spPr>
        <p:txBody>
          <a:bodyPr vert="horz" wrap="square" lIns="63500" tIns="63500" rIns="63500" bIns="63500" rtlCol="0" anchor="ctr"/>
          <a:lstStyle/>
          <a:p>
            <a:pPr algn="ctr">
              <a:defRPr/>
            </a:pP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8F9FA">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762000" y="508000"/>
            <a:ext cx="106680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0D6EFD"/>
                </a:solidFill>
                <a:latin typeface="Noto Sans SC"/>
                <a:ea typeface="Noto Sans SC"/>
                <a:cs typeface="Noto Sans SC"/>
                <a:sym typeface="Noto Sans SC"/>
              </a:rPr>
              <a:t>方案评分计算模型：加权求和模型</a:t>
            </a:r>
            <a:endParaRPr lang="en-US" sz="1100"/>
          </a:p>
        </p:txBody>
      </p:sp>
      <p:sp>
        <p:nvSpPr>
          <p:cNvPr id="4" name="AutoShape 4"/>
          <p:cNvSpPr/>
          <p:nvPr/>
        </p:nvSpPr>
        <p:spPr>
          <a:xfrm>
            <a:off x="762000" y="1397000"/>
            <a:ext cx="3429000" cy="2286000"/>
          </a:xfrm>
          <a:prstGeom prst="roundRect">
            <a:avLst>
              <a:gd name="adj" fmla="val 5555"/>
            </a:avLst>
          </a:prstGeom>
          <a:solidFill>
            <a:srgbClr val="FFFFFF">
              <a:alpha val="100000"/>
            </a:srgbClr>
          </a:solidFill>
          <a:ln w="25400" cap="flat" cmpd="sng">
            <a:noFill/>
            <a:prstDash val="solid"/>
            <a:round/>
          </a:ln>
          <a:effectLst>
            <a:outerShdw blurRad="127000" dist="50800" dir="5400000" algn="tl" rotWithShape="0">
              <a:srgbClr val="000000">
                <a:alpha val="8000"/>
              </a:srgbClr>
            </a:outerShdw>
          </a:effectLst>
        </p:spPr>
        <p:txBody>
          <a:bodyPr vert="horz" wrap="square" lIns="63500" tIns="63500" rIns="63500" bIns="63500" rtlCol="0" anchor="ctr"/>
          <a:lstStyle/>
          <a:p>
            <a:pPr algn="ctr">
              <a:defRPr/>
            </a:pPr>
            <a:endParaRPr/>
          </a:p>
        </p:txBody>
      </p:sp>
      <p:sp>
        <p:nvSpPr>
          <p:cNvPr id="5" name="AutoShape 5"/>
          <p:cNvSpPr/>
          <p:nvPr/>
        </p:nvSpPr>
        <p:spPr>
          <a:xfrm>
            <a:off x="762000" y="1397000"/>
            <a:ext cx="76200" cy="2286000"/>
          </a:xfrm>
          <a:prstGeom prst="roundRect">
            <a:avLst>
              <a:gd name="adj" fmla="val 166666"/>
            </a:avLst>
          </a:prstGeom>
          <a:solidFill>
            <a:srgbClr val="0D6EFD">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1587500"/>
            <a:ext cx="406400" cy="406400"/>
          </a:xfrm>
          <a:prstGeom prst="rect">
            <a:avLst/>
          </a:prstGeom>
        </p:spPr>
      </p:pic>
      <p:sp>
        <p:nvSpPr>
          <p:cNvPr id="7" name="AutoShape 7"/>
          <p:cNvSpPr/>
          <p:nvPr/>
        </p:nvSpPr>
        <p:spPr>
          <a:xfrm>
            <a:off x="1524000" y="1549400"/>
            <a:ext cx="254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33333"/>
                </a:solidFill>
                <a:latin typeface="Noto Sans SC"/>
                <a:ea typeface="Noto Sans SC"/>
                <a:cs typeface="Noto Sans SC"/>
                <a:sym typeface="Noto Sans SC"/>
              </a:rPr>
              <a:t>正向因子得分</a:t>
            </a:r>
            <a:endParaRPr lang="en-US" sz="1100"/>
          </a:p>
        </p:txBody>
      </p:sp>
      <p:sp>
        <p:nvSpPr>
          <p:cNvPr id="8" name="AutoShape 8"/>
          <p:cNvSpPr/>
          <p:nvPr/>
        </p:nvSpPr>
        <p:spPr>
          <a:xfrm>
            <a:off x="1016000" y="2032000"/>
            <a:ext cx="3048000" cy="1397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400" b="0" i="0" u="none" strike="noStrike">
                <a:solidFill>
                  <a:srgbClr val="6C757D"/>
                </a:solidFill>
                <a:latin typeface="Noto Sans SC"/>
                <a:ea typeface="Noto Sans SC"/>
                <a:cs typeface="Noto Sans SC"/>
                <a:sym typeface="Noto Sans SC"/>
              </a:rPr>
              <a:t>定义：得分越高越好的因子（如业务价值）</a:t>
            </a:r>
            <a:endParaRPr lang="en-US" sz="1100"/>
          </a:p>
          <a:p>
            <a:pPr indent="0" algn="l">
              <a:lnSpc>
                <a:spcPct val="108333"/>
              </a:lnSpc>
            </a:pPr>
            <a:r>
              <a:rPr lang="en-US" sz="1400" b="0" i="0" u="none" strike="noStrike">
                <a:solidFill>
                  <a:srgbClr val="6C757D"/>
                </a:solidFill>
                <a:latin typeface="Noto Sans SC"/>
                <a:ea typeface="Noto Sans SC"/>
                <a:cs typeface="Noto Sans SC"/>
                <a:sym typeface="Noto Sans SC"/>
              </a:rPr>
              <a:t>公式：</a:t>
            </a:r>
            <a:r>
              <a:rPr lang="en-US" sz="1600" b="1" i="0" u="none" strike="noStrike">
                <a:solidFill>
                  <a:srgbClr val="0D6EFD"/>
                </a:solidFill>
                <a:latin typeface="Noto Sans SC"/>
                <a:ea typeface="Noto Sans SC"/>
                <a:cs typeface="Noto Sans SC"/>
                <a:sym typeface="Noto Sans SC"/>
              </a:rPr>
              <a:t>S_i^+ = v_i × W_i</a:t>
            </a:r>
          </a:p>
          <a:p>
            <a:pPr indent="0" algn="l">
              <a:lnSpc>
                <a:spcPct val="108333"/>
              </a:lnSpc>
            </a:pPr>
            <a:r>
              <a:rPr lang="en-US" sz="1200" b="0" i="0" u="none" strike="noStrike">
                <a:solidFill>
                  <a:srgbClr val="969696"/>
                </a:solidFill>
                <a:latin typeface="Noto Sans SC"/>
                <a:ea typeface="Noto Sans SC"/>
                <a:cs typeface="Noto Sans SC"/>
                <a:sym typeface="Noto Sans SC"/>
              </a:rPr>
              <a:t>v_i: 评分(1-10) | W_i: 权重</a:t>
            </a:r>
          </a:p>
        </p:txBody>
      </p:sp>
      <p:sp>
        <p:nvSpPr>
          <p:cNvPr id="9" name="AutoShape 9"/>
          <p:cNvSpPr/>
          <p:nvPr/>
        </p:nvSpPr>
        <p:spPr>
          <a:xfrm>
            <a:off x="4381500" y="1397000"/>
            <a:ext cx="3429000" cy="2286000"/>
          </a:xfrm>
          <a:prstGeom prst="roundRect">
            <a:avLst>
              <a:gd name="adj" fmla="val 5555"/>
            </a:avLst>
          </a:prstGeom>
          <a:solidFill>
            <a:srgbClr val="FFFFFF">
              <a:alpha val="100000"/>
            </a:srgbClr>
          </a:solidFill>
          <a:ln w="25400" cap="flat" cmpd="sng">
            <a:noFill/>
            <a:prstDash val="solid"/>
            <a:round/>
          </a:ln>
          <a:effectLst>
            <a:outerShdw blurRad="127000" dist="50800" dir="5400000" algn="tl" rotWithShape="0">
              <a:srgbClr val="000000">
                <a:alpha val="8000"/>
              </a:srgbClr>
            </a:outerShdw>
          </a:effectLst>
        </p:spPr>
        <p:txBody>
          <a:bodyPr vert="horz" wrap="square" lIns="63500" tIns="63500" rIns="63500" bIns="63500" rtlCol="0" anchor="ctr"/>
          <a:lstStyle/>
          <a:p>
            <a:pPr algn="ctr">
              <a:defRPr/>
            </a:pPr>
            <a:endParaRPr/>
          </a:p>
        </p:txBody>
      </p:sp>
      <p:sp>
        <p:nvSpPr>
          <p:cNvPr id="10" name="AutoShape 10"/>
          <p:cNvSpPr/>
          <p:nvPr/>
        </p:nvSpPr>
        <p:spPr>
          <a:xfrm>
            <a:off x="4381500" y="1397000"/>
            <a:ext cx="76200" cy="2286000"/>
          </a:xfrm>
          <a:prstGeom prst="roundRect">
            <a:avLst>
              <a:gd name="adj" fmla="val 166666"/>
            </a:avLst>
          </a:prstGeom>
          <a:solidFill>
            <a:srgbClr val="6C757D">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635500" y="1587500"/>
            <a:ext cx="406400" cy="406400"/>
          </a:xfrm>
          <a:prstGeom prst="rect">
            <a:avLst/>
          </a:prstGeom>
        </p:spPr>
      </p:pic>
      <p:sp>
        <p:nvSpPr>
          <p:cNvPr id="12" name="AutoShape 12"/>
          <p:cNvSpPr/>
          <p:nvPr/>
        </p:nvSpPr>
        <p:spPr>
          <a:xfrm>
            <a:off x="5143500" y="1549400"/>
            <a:ext cx="254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33333"/>
                </a:solidFill>
                <a:latin typeface="Noto Sans SC"/>
                <a:ea typeface="Noto Sans SC"/>
                <a:cs typeface="Noto Sans SC"/>
                <a:sym typeface="Noto Sans SC"/>
              </a:rPr>
              <a:t>反向因子得分</a:t>
            </a:r>
            <a:endParaRPr lang="en-US" sz="1100"/>
          </a:p>
        </p:txBody>
      </p:sp>
      <p:sp>
        <p:nvSpPr>
          <p:cNvPr id="13" name="AutoShape 13"/>
          <p:cNvSpPr/>
          <p:nvPr/>
        </p:nvSpPr>
        <p:spPr>
          <a:xfrm>
            <a:off x="4635500" y="2032000"/>
            <a:ext cx="3048000" cy="1397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400" b="0" i="0" u="none" strike="noStrike">
                <a:solidFill>
                  <a:srgbClr val="6C757D"/>
                </a:solidFill>
                <a:latin typeface="Noto Sans SC"/>
                <a:ea typeface="Noto Sans SC"/>
                <a:cs typeface="Noto Sans SC"/>
                <a:sym typeface="Noto Sans SC"/>
              </a:rPr>
              <a:t>定义：得分越低越好的因子（如开发成本）</a:t>
            </a:r>
            <a:endParaRPr lang="en-US" sz="1100"/>
          </a:p>
          <a:p>
            <a:pPr indent="0" algn="l">
              <a:lnSpc>
                <a:spcPct val="108333"/>
              </a:lnSpc>
            </a:pPr>
            <a:r>
              <a:rPr lang="en-US" sz="1400" b="0" i="0" u="none" strike="noStrike">
                <a:solidFill>
                  <a:srgbClr val="6C757D"/>
                </a:solidFill>
                <a:latin typeface="Noto Sans SC"/>
                <a:ea typeface="Noto Sans SC"/>
                <a:cs typeface="Noto Sans SC"/>
                <a:sym typeface="Noto Sans SC"/>
              </a:rPr>
              <a:t>公式：</a:t>
            </a:r>
            <a:r>
              <a:rPr lang="en-US" sz="1600" b="1" i="0" u="none" strike="noStrike">
                <a:solidFill>
                  <a:srgbClr val="6C757D"/>
                </a:solidFill>
                <a:latin typeface="Noto Sans SC"/>
                <a:ea typeface="Noto Sans SC"/>
                <a:cs typeface="Noto Sans SC"/>
                <a:sym typeface="Noto Sans SC"/>
              </a:rPr>
              <a:t>S_i^- = (10 - v_i) × W_i</a:t>
            </a:r>
          </a:p>
          <a:p>
            <a:pPr indent="0" algn="l">
              <a:lnSpc>
                <a:spcPct val="108333"/>
              </a:lnSpc>
            </a:pPr>
            <a:r>
              <a:rPr lang="en-US" sz="1200" b="0" i="0" u="none" strike="noStrike">
                <a:solidFill>
                  <a:srgbClr val="969696"/>
                </a:solidFill>
                <a:latin typeface="Noto Sans SC"/>
                <a:ea typeface="Noto Sans SC"/>
                <a:cs typeface="Noto Sans SC"/>
                <a:sym typeface="Noto Sans SC"/>
              </a:rPr>
              <a:t>将低分转化为高优得分</a:t>
            </a:r>
          </a:p>
        </p:txBody>
      </p:sp>
      <p:sp>
        <p:nvSpPr>
          <p:cNvPr id="14" name="AutoShape 14"/>
          <p:cNvSpPr/>
          <p:nvPr/>
        </p:nvSpPr>
        <p:spPr>
          <a:xfrm>
            <a:off x="8001000" y="1397000"/>
            <a:ext cx="3429000" cy="2286000"/>
          </a:xfrm>
          <a:prstGeom prst="roundRect">
            <a:avLst>
              <a:gd name="adj" fmla="val 5555"/>
            </a:avLst>
          </a:prstGeom>
          <a:solidFill>
            <a:srgbClr val="FFFFFF">
              <a:alpha val="100000"/>
            </a:srgbClr>
          </a:solidFill>
          <a:ln w="25400" cap="flat" cmpd="sng">
            <a:noFill/>
            <a:prstDash val="solid"/>
            <a:round/>
          </a:ln>
          <a:effectLst>
            <a:outerShdw blurRad="127000" dist="50800" dir="5400000" algn="tl" rotWithShape="0">
              <a:srgbClr val="000000">
                <a:alpha val="8000"/>
              </a:srgbClr>
            </a:outerShdw>
          </a:effectLst>
        </p:spPr>
        <p:txBody>
          <a:bodyPr vert="horz" wrap="square" lIns="63500" tIns="63500" rIns="63500" bIns="63500" rtlCol="0" anchor="ctr"/>
          <a:lstStyle/>
          <a:p>
            <a:pPr algn="ctr">
              <a:defRPr/>
            </a:pPr>
            <a:endParaRPr/>
          </a:p>
        </p:txBody>
      </p:sp>
      <p:sp>
        <p:nvSpPr>
          <p:cNvPr id="15" name="AutoShape 15"/>
          <p:cNvSpPr/>
          <p:nvPr/>
        </p:nvSpPr>
        <p:spPr>
          <a:xfrm>
            <a:off x="8001000" y="1397000"/>
            <a:ext cx="76200" cy="2286000"/>
          </a:xfrm>
          <a:prstGeom prst="roundRect">
            <a:avLst>
              <a:gd name="adj" fmla="val 166666"/>
            </a:avLst>
          </a:prstGeom>
          <a:solidFill>
            <a:srgbClr val="0D6EFD">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6" name="Picture 16"/>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255000" y="1587500"/>
            <a:ext cx="406400" cy="406400"/>
          </a:xfrm>
          <a:prstGeom prst="rect">
            <a:avLst/>
          </a:prstGeom>
        </p:spPr>
      </p:pic>
      <p:sp>
        <p:nvSpPr>
          <p:cNvPr id="17" name="AutoShape 17"/>
          <p:cNvSpPr/>
          <p:nvPr/>
        </p:nvSpPr>
        <p:spPr>
          <a:xfrm>
            <a:off x="8763000" y="1549400"/>
            <a:ext cx="254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33333"/>
                </a:solidFill>
                <a:latin typeface="Noto Sans SC"/>
                <a:ea typeface="Noto Sans SC"/>
                <a:cs typeface="Noto Sans SC"/>
                <a:sym typeface="Noto Sans SC"/>
              </a:rPr>
              <a:t>方案总分计算</a:t>
            </a:r>
            <a:endParaRPr lang="en-US" sz="1100"/>
          </a:p>
        </p:txBody>
      </p:sp>
      <p:sp>
        <p:nvSpPr>
          <p:cNvPr id="18" name="AutoShape 18"/>
          <p:cNvSpPr/>
          <p:nvPr/>
        </p:nvSpPr>
        <p:spPr>
          <a:xfrm>
            <a:off x="8255000" y="2032000"/>
            <a:ext cx="3048000" cy="1397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400" b="0" i="0" u="none" strike="noStrike">
                <a:solidFill>
                  <a:srgbClr val="6C757D"/>
                </a:solidFill>
                <a:latin typeface="Noto Sans SC"/>
                <a:ea typeface="Noto Sans SC"/>
                <a:cs typeface="Noto Sans SC"/>
                <a:sym typeface="Noto Sans SC"/>
              </a:rPr>
              <a:t>定义：所有因子得分的加权总和</a:t>
            </a:r>
            <a:endParaRPr lang="en-US" sz="1100"/>
          </a:p>
          <a:p>
            <a:pPr indent="0" algn="l">
              <a:lnSpc>
                <a:spcPct val="108333"/>
              </a:lnSpc>
            </a:pPr>
            <a:r>
              <a:rPr lang="en-US" sz="1400" b="0" i="0" u="none" strike="noStrike">
                <a:solidFill>
                  <a:srgbClr val="6C757D"/>
                </a:solidFill>
                <a:latin typeface="Noto Sans SC"/>
                <a:ea typeface="Noto Sans SC"/>
                <a:cs typeface="Noto Sans SC"/>
                <a:sym typeface="Noto Sans SC"/>
              </a:rPr>
              <a:t>公式：</a:t>
            </a:r>
            <a:r>
              <a:rPr lang="en-US" sz="1600" b="1" i="0" u="none" strike="noStrike">
                <a:solidFill>
                  <a:srgbClr val="0D6EFD"/>
                </a:solidFill>
                <a:latin typeface="Noto Sans SC"/>
                <a:ea typeface="Noto Sans SC"/>
                <a:cs typeface="Noto Sans SC"/>
                <a:sym typeface="Noto Sans SC"/>
              </a:rPr>
              <a:t>S_total = ∑(i=1 to n) S_i</a:t>
            </a:r>
          </a:p>
          <a:p>
            <a:pPr indent="0" algn="l">
              <a:lnSpc>
                <a:spcPct val="108333"/>
              </a:lnSpc>
            </a:pPr>
            <a:r>
              <a:rPr lang="en-US" sz="1200" b="0" i="0" u="none" strike="noStrike">
                <a:solidFill>
                  <a:srgbClr val="969696"/>
                </a:solidFill>
                <a:latin typeface="Noto Sans SC"/>
                <a:ea typeface="Noto Sans SC"/>
                <a:cs typeface="Noto Sans SC"/>
                <a:sym typeface="Noto Sans SC"/>
              </a:rPr>
              <a:t>综合评估方案优劣</a:t>
            </a:r>
          </a:p>
        </p:txBody>
      </p:sp>
      <p:sp>
        <p:nvSpPr>
          <p:cNvPr id="19" name="AutoShape 19"/>
          <p:cNvSpPr/>
          <p:nvPr/>
        </p:nvSpPr>
        <p:spPr>
          <a:xfrm>
            <a:off x="762000" y="4064000"/>
            <a:ext cx="10668000" cy="1270000"/>
          </a:xfrm>
          <a:prstGeom prst="roundRect">
            <a:avLst>
              <a:gd name="adj" fmla="val 10000"/>
            </a:avLst>
          </a:prstGeom>
          <a:solidFill>
            <a:srgbClr val="EBF5FF">
              <a:alpha val="90000"/>
            </a:srgbClr>
          </a:solidFill>
          <a:ln w="12700" cap="flat" cmpd="sng">
            <a:solidFill>
              <a:srgbClr val="0D6EFD">
                <a:alpha val="100000"/>
              </a:srgbClr>
            </a:solidFill>
            <a:prstDash val="solid"/>
            <a:round/>
          </a:ln>
        </p:spPr>
        <p:txBody>
          <a:bodyPr vert="horz" wrap="square" lIns="63500" tIns="63500" rIns="63500" bIns="63500" rtlCol="0" anchor="ctr"/>
          <a:lstStyle/>
          <a:p>
            <a:pPr algn="ctr">
              <a:defRPr/>
            </a:pPr>
            <a:endParaRPr/>
          </a:p>
        </p:txBody>
      </p:sp>
      <p:pic>
        <p:nvPicPr>
          <p:cNvPr id="20" name="Picture 20"/>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016000" y="4445000"/>
            <a:ext cx="508000" cy="508000"/>
          </a:xfrm>
          <a:prstGeom prst="rect">
            <a:avLst/>
          </a:prstGeom>
        </p:spPr>
      </p:pic>
      <p:sp>
        <p:nvSpPr>
          <p:cNvPr id="21" name="AutoShape 21"/>
          <p:cNvSpPr/>
          <p:nvPr/>
        </p:nvSpPr>
        <p:spPr>
          <a:xfrm>
            <a:off x="1778000" y="4191000"/>
            <a:ext cx="8890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D6EFD"/>
                </a:solidFill>
                <a:latin typeface="Noto Sans SC"/>
                <a:ea typeface="Noto Sans SC"/>
                <a:cs typeface="Noto Sans SC"/>
                <a:sym typeface="Noto Sans SC"/>
              </a:rPr>
              <a:t>最终排序规则</a:t>
            </a:r>
            <a:endParaRPr lang="en-US" sz="1100"/>
          </a:p>
          <a:p>
            <a:pPr indent="0" algn="l">
              <a:lnSpc>
                <a:spcPct val="100000"/>
              </a:lnSpc>
            </a:pPr>
            <a:r>
              <a:rPr lang="en-US" sz="1600" b="0" i="0" u="none" strike="noStrike">
                <a:solidFill>
                  <a:srgbClr val="505050"/>
                </a:solidFill>
                <a:latin typeface="Noto Sans SC"/>
                <a:ea typeface="Noto Sans SC"/>
                <a:cs typeface="Noto Sans SC"/>
                <a:sym typeface="Noto Sans SC"/>
              </a:rPr>
              <a:t>计算出所有方案的总分 S_total 后，按照</a:t>
            </a:r>
            <a:r>
              <a:rPr lang="en-US" sz="1600" b="1" i="0" u="none" strike="noStrike">
                <a:solidFill>
                  <a:srgbClr val="0D6EFD"/>
                </a:solidFill>
                <a:latin typeface="Noto Sans SC"/>
                <a:ea typeface="Noto Sans SC"/>
                <a:cs typeface="Noto Sans SC"/>
                <a:sym typeface="Noto Sans SC"/>
              </a:rPr>
              <a:t>从高到低</a:t>
            </a:r>
            <a:r>
              <a:rPr lang="en-US" sz="1600" b="0" i="0" u="none" strike="noStrike">
                <a:solidFill>
                  <a:srgbClr val="505050"/>
                </a:solidFill>
                <a:latin typeface="Noto Sans SC"/>
                <a:ea typeface="Noto Sans SC"/>
                <a:cs typeface="Noto Sans SC"/>
                <a:sym typeface="Noto Sans SC"/>
              </a:rPr>
              <a:t>进行排序，得分最高的方案即为本次评估的最优方案。</a:t>
            </a:r>
          </a:p>
        </p:txBody>
      </p:sp>
      <p:sp>
        <p:nvSpPr>
          <p:cNvPr id="22" name="AutoShape 22"/>
          <p:cNvSpPr/>
          <p:nvPr/>
        </p:nvSpPr>
        <p:spPr>
          <a:xfrm>
            <a:off x="762000" y="5715000"/>
            <a:ext cx="1066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969696"/>
                </a:solidFill>
                <a:latin typeface="Noto Sans SC"/>
                <a:ea typeface="Noto Sans SC"/>
                <a:cs typeface="Noto Sans SC"/>
                <a:sym typeface="Noto Sans SC"/>
              </a:rPr>
              <a:t>注：所有因子评分均需归一化处理，确保计算逻辑的一致性与公平性。</a:t>
            </a:r>
            <a:endParaRPr lang="en-US" sz="11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762000" y="508000"/>
            <a:ext cx="91440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0D6EFD"/>
                </a:solidFill>
                <a:latin typeface="Noto Sans SC"/>
                <a:ea typeface="Noto Sans SC"/>
                <a:cs typeface="Noto Sans SC"/>
                <a:sym typeface="Noto Sans SC"/>
              </a:rPr>
              <a:t>用户交互设计创新：问答式AHP界面</a:t>
            </a:r>
            <a:endParaRPr lang="en-US" sz="1100"/>
          </a:p>
        </p:txBody>
      </p:sp>
      <p:sp>
        <p:nvSpPr>
          <p:cNvPr id="4" name="AutoShape 4"/>
          <p:cNvSpPr/>
          <p:nvPr/>
        </p:nvSpPr>
        <p:spPr>
          <a:xfrm>
            <a:off x="762000" y="1397000"/>
            <a:ext cx="5080000" cy="1651000"/>
          </a:xfrm>
          <a:prstGeom prst="roundRect">
            <a:avLst>
              <a:gd name="adj" fmla="val 7692"/>
            </a:avLst>
          </a:prstGeom>
          <a:solidFill>
            <a:srgbClr val="FFFFFF">
              <a:alpha val="90000"/>
            </a:srgbClr>
          </a:solidFill>
          <a:ln w="12700" cap="flat" cmpd="sng">
            <a:solidFill>
              <a:srgbClr val="0D6EFD">
                <a:alpha val="20000"/>
              </a:srgbClr>
            </a:solidFill>
            <a:prstDash val="solid"/>
            <a:round/>
          </a:ln>
          <a:effectLst>
            <a:outerShdw blurRad="101600" dist="50800" dir="5400000" algn="tl" rotWithShape="0">
              <a:srgbClr val="000000">
                <a:alpha val="5000"/>
              </a:srgbClr>
            </a:outerShdw>
          </a:effectLst>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1587500"/>
            <a:ext cx="355600" cy="355600"/>
          </a:xfrm>
          <a:prstGeom prst="rect">
            <a:avLst/>
          </a:prstGeom>
        </p:spPr>
      </p:pic>
      <p:sp>
        <p:nvSpPr>
          <p:cNvPr id="6" name="AutoShape 6"/>
          <p:cNvSpPr/>
          <p:nvPr/>
        </p:nvSpPr>
        <p:spPr>
          <a:xfrm>
            <a:off x="1460500" y="1549400"/>
            <a:ext cx="406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D6EFD"/>
                </a:solidFill>
                <a:latin typeface="Noto Sans SC"/>
                <a:ea typeface="Noto Sans SC"/>
                <a:cs typeface="Noto Sans SC"/>
                <a:sym typeface="Noto Sans SC"/>
              </a:rPr>
              <a:t>设计理念：认知负荷最小化</a:t>
            </a:r>
            <a:endParaRPr lang="en-US" sz="1100"/>
          </a:p>
        </p:txBody>
      </p:sp>
      <p:sp>
        <p:nvSpPr>
          <p:cNvPr id="7" name="AutoShape 7"/>
          <p:cNvSpPr/>
          <p:nvPr/>
        </p:nvSpPr>
        <p:spPr>
          <a:xfrm>
            <a:off x="1016000" y="2032000"/>
            <a:ext cx="4572000" cy="889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400" b="0" i="0" u="none" strike="noStrike">
                <a:solidFill>
                  <a:srgbClr val="6C757D"/>
                </a:solidFill>
                <a:latin typeface="Noto Sans SC"/>
                <a:ea typeface="Noto Sans SC"/>
                <a:cs typeface="Noto Sans SC"/>
                <a:sym typeface="Noto Sans SC"/>
              </a:rPr>
              <a:t>将复杂的矩阵输入转化为简单的、自然的问答形式，引导用户一步步完成两两比较，极大地降低了用户的认知门槛。</a:t>
            </a:r>
            <a:endParaRPr lang="en-US" sz="1100"/>
          </a:p>
        </p:txBody>
      </p:sp>
      <p:sp>
        <p:nvSpPr>
          <p:cNvPr id="8" name="AutoShape 8"/>
          <p:cNvSpPr/>
          <p:nvPr/>
        </p:nvSpPr>
        <p:spPr>
          <a:xfrm>
            <a:off x="762000" y="3302000"/>
            <a:ext cx="5080000" cy="1905000"/>
          </a:xfrm>
          <a:prstGeom prst="roundRect">
            <a:avLst>
              <a:gd name="adj" fmla="val 6666"/>
            </a:avLst>
          </a:prstGeom>
          <a:solidFill>
            <a:srgbClr val="FFFFFF">
              <a:alpha val="90000"/>
            </a:srgbClr>
          </a:solidFill>
          <a:ln w="12700" cap="flat" cmpd="sng">
            <a:solidFill>
              <a:srgbClr val="0D6EFD">
                <a:alpha val="20000"/>
              </a:srgbClr>
            </a:solidFill>
            <a:prstDash val="solid"/>
            <a:round/>
          </a:ln>
          <a:effectLst>
            <a:outerShdw blurRad="101600" dist="50800" dir="5400000" algn="tl" rotWithShape="0">
              <a:srgbClr val="000000">
                <a:alpha val="5000"/>
              </a:srgbClr>
            </a:outerShdw>
          </a:effectLst>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16000" y="3492500"/>
            <a:ext cx="355600" cy="355600"/>
          </a:xfrm>
          <a:prstGeom prst="rect">
            <a:avLst/>
          </a:prstGeom>
        </p:spPr>
      </p:pic>
      <p:sp>
        <p:nvSpPr>
          <p:cNvPr id="10" name="AutoShape 10"/>
          <p:cNvSpPr/>
          <p:nvPr/>
        </p:nvSpPr>
        <p:spPr>
          <a:xfrm>
            <a:off x="1460500" y="3454400"/>
            <a:ext cx="406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D6EFD"/>
                </a:solidFill>
                <a:latin typeface="Noto Sans SC"/>
                <a:ea typeface="Noto Sans SC"/>
                <a:cs typeface="Noto Sans SC"/>
                <a:sym typeface="Noto Sans SC"/>
              </a:rPr>
              <a:t>交互设计要点</a:t>
            </a:r>
            <a:endParaRPr lang="en-US" sz="1100"/>
          </a:p>
        </p:txBody>
      </p:sp>
      <p:sp>
        <p:nvSpPr>
          <p:cNvPr id="11" name="AutoShape 11"/>
          <p:cNvSpPr/>
          <p:nvPr/>
        </p:nvSpPr>
        <p:spPr>
          <a:xfrm>
            <a:off x="1016000" y="3937000"/>
            <a:ext cx="4572000" cy="1143000"/>
          </a:xfrm>
          <a:prstGeom prst="rect">
            <a:avLst/>
          </a:prstGeom>
          <a:noFill/>
          <a:ln w="12700" cap="flat" cmpd="sng">
            <a:noFill/>
            <a:prstDash val="solid"/>
            <a:round/>
          </a:ln>
        </p:spPr>
        <p:txBody>
          <a:bodyPr vert="horz" wrap="square" lIns="0" tIns="0" rIns="0" bIns="0" rtlCol="0" anchor="ctr" anchorCtr="0"/>
          <a:lstStyle/>
          <a:p>
            <a:pPr marL="177800" indent="-177800" algn="l">
              <a:lnSpc>
                <a:spcPct val="108333"/>
              </a:lnSpc>
              <a:buClr>
                <a:srgbClr val="374151"/>
              </a:buClr>
              <a:buChar char="•"/>
              <a:defRPr/>
            </a:pPr>
            <a:r>
              <a:rPr lang="en-US" sz="1400" b="1" i="0" u="none" strike="noStrike">
                <a:solidFill>
                  <a:srgbClr val="374151"/>
                </a:solidFill>
                <a:latin typeface="Noto Sans SC"/>
                <a:ea typeface="Noto Sans SC"/>
                <a:cs typeface="Noto Sans SC"/>
                <a:sym typeface="Noto Sans SC"/>
              </a:rPr>
              <a:t>滑块交互：</a:t>
            </a:r>
            <a:r>
              <a:rPr lang="en-US" sz="1400" b="0" i="0" u="none" strike="noStrike">
                <a:solidFill>
                  <a:srgbClr val="374151"/>
                </a:solidFill>
                <a:latin typeface="Noto Sans SC"/>
                <a:ea typeface="Noto Sans SC"/>
                <a:cs typeface="Noto Sans SC"/>
                <a:sym typeface="Noto Sans SC"/>
              </a:rPr>
              <a:t>直观选择重要性，替代枯燥的数字填写。</a:t>
            </a:r>
            <a:endParaRPr lang="en-US" sz="1100"/>
          </a:p>
          <a:p>
            <a:pPr marL="177800" indent="-177800" algn="l">
              <a:lnSpc>
                <a:spcPct val="108333"/>
              </a:lnSpc>
              <a:buClr>
                <a:srgbClr val="374151"/>
              </a:buClr>
              <a:buChar char="•"/>
            </a:pPr>
            <a:r>
              <a:rPr lang="en-US" sz="1400" b="1" i="0" u="none" strike="noStrike">
                <a:solidFill>
                  <a:srgbClr val="374151"/>
                </a:solidFill>
                <a:latin typeface="Noto Sans SC"/>
                <a:ea typeface="Noto Sans SC"/>
                <a:cs typeface="Noto Sans SC"/>
                <a:sym typeface="Noto Sans SC"/>
              </a:rPr>
              <a:t>语义提示：</a:t>
            </a:r>
            <a:r>
              <a:rPr lang="en-US" sz="1400" b="0" i="0" u="none" strike="noStrike">
                <a:solidFill>
                  <a:srgbClr val="374151"/>
                </a:solidFill>
                <a:latin typeface="Noto Sans SC"/>
                <a:ea typeface="Noto Sans SC"/>
                <a:cs typeface="Noto Sans SC"/>
                <a:sym typeface="Noto Sans SC"/>
              </a:rPr>
              <a:t>提供“稍微重要”等语义化标签辅助理解。</a:t>
            </a:r>
          </a:p>
          <a:p>
            <a:pPr marL="177800" indent="-177800" algn="l">
              <a:lnSpc>
                <a:spcPct val="108333"/>
              </a:lnSpc>
              <a:buClr>
                <a:srgbClr val="374151"/>
              </a:buClr>
              <a:buChar char="•"/>
            </a:pPr>
            <a:r>
              <a:rPr lang="en-US" sz="1400" b="1" i="0" u="none" strike="noStrike">
                <a:solidFill>
                  <a:srgbClr val="374151"/>
                </a:solidFill>
                <a:latin typeface="Noto Sans SC"/>
                <a:ea typeface="Noto Sans SC"/>
                <a:cs typeface="Noto Sans SC"/>
                <a:sym typeface="Noto Sans SC"/>
              </a:rPr>
              <a:t>分步引导：</a:t>
            </a:r>
            <a:r>
              <a:rPr lang="en-US" sz="1400" b="0" i="0" u="none" strike="noStrike">
                <a:solidFill>
                  <a:srgbClr val="374151"/>
                </a:solidFill>
                <a:latin typeface="Noto Sans SC"/>
                <a:ea typeface="Noto Sans SC"/>
                <a:cs typeface="Noto Sans SC"/>
                <a:sym typeface="Noto Sans SC"/>
              </a:rPr>
              <a:t>逐题问答，实时反馈，增强确认感。</a:t>
            </a:r>
          </a:p>
        </p:txBody>
      </p:sp>
      <p:sp>
        <p:nvSpPr>
          <p:cNvPr id="12" name="AutoShape 12"/>
          <p:cNvSpPr/>
          <p:nvPr/>
        </p:nvSpPr>
        <p:spPr>
          <a:xfrm>
            <a:off x="6096000" y="1397000"/>
            <a:ext cx="5334000" cy="3810000"/>
          </a:xfrm>
          <a:prstGeom prst="roundRect">
            <a:avLst>
              <a:gd name="adj" fmla="val 3333"/>
            </a:avLst>
          </a:prstGeom>
          <a:solidFill>
            <a:srgbClr val="FFFFFF">
              <a:alpha val="90000"/>
            </a:srgbClr>
          </a:solidFill>
          <a:ln w="12700" cap="flat" cmpd="sng">
            <a:solidFill>
              <a:srgbClr val="0D6EFD">
                <a:alpha val="20000"/>
              </a:srgbClr>
            </a:solidFill>
            <a:prstDash val="solid"/>
            <a:round/>
          </a:ln>
          <a:effectLst>
            <a:outerShdw blurRad="101600" dist="50800" dir="5400000" algn="tl" rotWithShape="0">
              <a:srgbClr val="000000">
                <a:alpha val="5000"/>
              </a:srgbClr>
            </a:outerShdw>
          </a:effectLst>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350000" y="1587500"/>
            <a:ext cx="355600" cy="355600"/>
          </a:xfrm>
          <a:prstGeom prst="rect">
            <a:avLst/>
          </a:prstGeom>
        </p:spPr>
      </p:pic>
      <p:sp>
        <p:nvSpPr>
          <p:cNvPr id="14" name="AutoShape 14"/>
          <p:cNvSpPr/>
          <p:nvPr/>
        </p:nvSpPr>
        <p:spPr>
          <a:xfrm>
            <a:off x="6794500" y="1549400"/>
            <a:ext cx="431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D6EFD"/>
                </a:solidFill>
                <a:latin typeface="Noto Sans SC"/>
                <a:ea typeface="Noto Sans SC"/>
                <a:cs typeface="Noto Sans SC"/>
                <a:sym typeface="Noto Sans SC"/>
              </a:rPr>
              <a:t>交互模式对比</a:t>
            </a:r>
            <a:endParaRPr lang="en-US" sz="1100"/>
          </a:p>
        </p:txBody>
      </p:sp>
      <p:graphicFrame>
        <p:nvGraphicFramePr>
          <p:cNvPr id="15" name="Table 15"/>
          <p:cNvGraphicFramePr>
            <a:graphicFrameLocks noGrp="1"/>
          </p:cNvGraphicFramePr>
          <p:nvPr/>
        </p:nvGraphicFramePr>
        <p:xfrm>
          <a:off x="6350000" y="2095500"/>
          <a:ext cx="4826000" cy="2794000"/>
        </p:xfrm>
        <a:graphic>
          <a:graphicData uri="http://schemas.openxmlformats.org/drawingml/2006/table">
            <a:tbl>
              <a:tblPr>
                <a:effectLst/>
              </a:tblPr>
              <a:tblGrid>
                <a:gridCol w="1270000">
                  <a:extLst>
                    <a:ext uri="{9D8B030D-6E8A-4147-A177-3AD203B41FA5}">
                      <a16:colId xmlns:a16="http://schemas.microsoft.com/office/drawing/2014/main" val="20000"/>
                    </a:ext>
                  </a:extLst>
                </a:gridCol>
                <a:gridCol w="1651000">
                  <a:extLst>
                    <a:ext uri="{9D8B030D-6E8A-4147-A177-3AD203B41FA5}">
                      <a16:colId xmlns:a16="http://schemas.microsoft.com/office/drawing/2014/main" val="20001"/>
                    </a:ext>
                  </a:extLst>
                </a:gridCol>
                <a:gridCol w="1905000">
                  <a:extLst>
                    <a:ext uri="{9D8B030D-6E8A-4147-A177-3AD203B41FA5}">
                      <a16:colId xmlns:a16="http://schemas.microsoft.com/office/drawing/2014/main" val="20002"/>
                    </a:ext>
                  </a:extLst>
                </a:gridCol>
              </a:tblGrid>
              <a:tr h="508000">
                <a:tc>
                  <a:txBody>
                    <a:bodyPr/>
                    <a:lstStyle/>
                    <a:p>
                      <a:pPr indent="0" algn="ctr">
                        <a:lnSpc>
                          <a:spcPct val="100000"/>
                        </a:lnSpc>
                        <a:defRPr/>
                      </a:pPr>
                      <a:r>
                        <a:rPr lang="en-US" sz="1400" b="1" i="0" u="none" strike="noStrike">
                          <a:solidFill>
                            <a:srgbClr val="0D6EFD"/>
                          </a:solidFill>
                          <a:latin typeface="Noto Sans SC"/>
                          <a:ea typeface="Noto Sans SC"/>
                          <a:cs typeface="Noto Sans SC"/>
                          <a:sym typeface="Noto Sans SC"/>
                        </a:rPr>
                        <a:t>传统方式</a:t>
                      </a:r>
                      <a:endParaRPr lang="en-US" sz="1100"/>
                    </a:p>
                  </a:txBody>
                  <a:tcPr marL="101600" marR="101600" marT="101600" marB="101600" anchor="ctr">
                    <a:lnL>
                      <a:noFill/>
                    </a:lnL>
                    <a:lnR>
                      <a:noFill/>
                    </a:lnR>
                    <a:lnT>
                      <a:noFill/>
                    </a:lnT>
                    <a:lnB>
                      <a:noFill/>
                    </a:lnB>
                    <a:solidFill>
                      <a:srgbClr val="0D6EFD">
                        <a:alpha val="10000"/>
                      </a:srgbClr>
                    </a:solidFill>
                  </a:tcPr>
                </a:tc>
                <a:tc>
                  <a:txBody>
                    <a:bodyPr/>
                    <a:lstStyle/>
                    <a:p>
                      <a:pPr indent="0" algn="ctr">
                        <a:lnSpc>
                          <a:spcPct val="100000"/>
                        </a:lnSpc>
                        <a:defRPr/>
                      </a:pPr>
                      <a:r>
                        <a:rPr lang="en-US" sz="1400" b="1" i="0" u="none" strike="noStrike">
                          <a:solidFill>
                            <a:srgbClr val="0D6EFD"/>
                          </a:solidFill>
                          <a:latin typeface="Noto Sans SC"/>
                          <a:ea typeface="Noto Sans SC"/>
                          <a:cs typeface="Noto Sans SC"/>
                          <a:sym typeface="Noto Sans SC"/>
                        </a:rPr>
                        <a:t>本系统设计</a:t>
                      </a:r>
                      <a:endParaRPr lang="en-US" sz="1100"/>
                    </a:p>
                  </a:txBody>
                  <a:tcPr marL="101600" marR="101600" marT="101600" marB="101600" anchor="ctr">
                    <a:lnL>
                      <a:noFill/>
                    </a:lnL>
                    <a:lnR>
                      <a:noFill/>
                    </a:lnR>
                    <a:lnT>
                      <a:noFill/>
                    </a:lnT>
                    <a:lnB>
                      <a:noFill/>
                    </a:lnB>
                    <a:solidFill>
                      <a:srgbClr val="0D6EFD">
                        <a:alpha val="10000"/>
                      </a:srgbClr>
                    </a:solidFill>
                  </a:tcPr>
                </a:tc>
                <a:tc>
                  <a:txBody>
                    <a:bodyPr/>
                    <a:lstStyle/>
                    <a:p>
                      <a:pPr indent="0" algn="ctr">
                        <a:lnSpc>
                          <a:spcPct val="100000"/>
                        </a:lnSpc>
                        <a:defRPr/>
                      </a:pPr>
                      <a:r>
                        <a:rPr lang="en-US" sz="1400" b="1" i="0" u="none" strike="noStrike">
                          <a:solidFill>
                            <a:srgbClr val="0D6EFD"/>
                          </a:solidFill>
                          <a:latin typeface="Noto Sans SC"/>
                          <a:ea typeface="Noto Sans SC"/>
                          <a:cs typeface="Noto Sans SC"/>
                          <a:sym typeface="Noto Sans SC"/>
                        </a:rPr>
                        <a:t>核心优势</a:t>
                      </a:r>
                      <a:endParaRPr lang="en-US" sz="1100"/>
                    </a:p>
                  </a:txBody>
                  <a:tcPr marL="101600" marR="101600" marT="101600" marB="101600" anchor="ctr">
                    <a:lnL>
                      <a:noFill/>
                    </a:lnL>
                    <a:lnR>
                      <a:noFill/>
                    </a:lnR>
                    <a:lnT>
                      <a:noFill/>
                    </a:lnT>
                    <a:lnB>
                      <a:noFill/>
                    </a:lnB>
                    <a:solidFill>
                      <a:srgbClr val="0D6EFD">
                        <a:alpha val="10000"/>
                      </a:srgbClr>
                    </a:solidFill>
                  </a:tcPr>
                </a:tc>
                <a:extLst>
                  <a:ext uri="{0D108BD9-81ED-4DB2-BD59-A6C34878D82A}">
                    <a16:rowId xmlns:a16="http://schemas.microsoft.com/office/drawing/2014/main" val="10000"/>
                  </a:ext>
                </a:extLst>
              </a:tr>
              <a:tr h="571500">
                <a:tc>
                  <a:txBody>
                    <a:bodyPr/>
                    <a:lstStyle/>
                    <a:p>
                      <a:pPr indent="0" algn="ctr">
                        <a:lnSpc>
                          <a:spcPct val="100000"/>
                        </a:lnSpc>
                        <a:defRPr/>
                      </a:pPr>
                      <a:r>
                        <a:rPr lang="en-US" sz="1300" b="0" i="0" u="none" strike="noStrike">
                          <a:solidFill>
                            <a:srgbClr val="6C757D"/>
                          </a:solidFill>
                          <a:latin typeface="Noto Sans SC"/>
                          <a:ea typeface="Noto Sans SC"/>
                          <a:cs typeface="Noto Sans SC"/>
                          <a:sym typeface="Noto Sans SC"/>
                        </a:rPr>
                        <a:t>矩阵表格输入</a:t>
                      </a:r>
                      <a:endParaRPr lang="en-US" sz="1100"/>
                    </a:p>
                  </a:txBody>
                  <a:tcPr marL="101600" marR="101600" marT="101600" marB="101600" anchor="ctr">
                    <a:lnL>
                      <a:noFill/>
                    </a:lnL>
                    <a:lnR>
                      <a:noFill/>
                    </a:lnR>
                    <a:lnT>
                      <a:noFill/>
                    </a:lnT>
                    <a:lnB>
                      <a:noFill/>
                    </a:lnB>
                    <a:noFill/>
                  </a:tcPr>
                </a:tc>
                <a:tc>
                  <a:txBody>
                    <a:bodyPr/>
                    <a:lstStyle/>
                    <a:p>
                      <a:pPr indent="0" algn="ctr">
                        <a:lnSpc>
                          <a:spcPct val="100000"/>
                        </a:lnSpc>
                        <a:defRPr/>
                      </a:pPr>
                      <a:r>
                        <a:rPr lang="en-US" sz="1300" b="0" i="0" u="none" strike="noStrike">
                          <a:solidFill>
                            <a:srgbClr val="374151"/>
                          </a:solidFill>
                          <a:latin typeface="Noto Sans SC"/>
                          <a:ea typeface="Noto Sans SC"/>
                          <a:cs typeface="Noto Sans SC"/>
                          <a:sym typeface="Noto Sans SC"/>
                        </a:rPr>
                        <a:t>滑块选择重要性</a:t>
                      </a:r>
                      <a:endParaRPr lang="en-US" sz="1100"/>
                    </a:p>
                  </a:txBody>
                  <a:tcPr marL="101600" marR="101600" marT="101600" marB="101600" anchor="ctr">
                    <a:lnL>
                      <a:noFill/>
                    </a:lnL>
                    <a:lnR>
                      <a:noFill/>
                    </a:lnR>
                    <a:lnT>
                      <a:noFill/>
                    </a:lnT>
                    <a:lnB>
                      <a:noFill/>
                    </a:lnB>
                    <a:noFill/>
                  </a:tcPr>
                </a:tc>
                <a:tc>
                  <a:txBody>
                    <a:bodyPr/>
                    <a:lstStyle/>
                    <a:p>
                      <a:pPr indent="0" algn="ctr">
                        <a:lnSpc>
                          <a:spcPct val="100000"/>
                        </a:lnSpc>
                        <a:defRPr/>
                      </a:pPr>
                      <a:r>
                        <a:rPr lang="en-US" sz="1300" b="0" i="0" u="none" strike="noStrike">
                          <a:solidFill>
                            <a:srgbClr val="374151"/>
                          </a:solidFill>
                          <a:latin typeface="Noto Sans SC"/>
                          <a:ea typeface="Noto Sans SC"/>
                          <a:cs typeface="Noto Sans SC"/>
                          <a:sym typeface="Noto Sans SC"/>
                        </a:rPr>
                        <a:t>直观、操作简单</a:t>
                      </a:r>
                      <a:endParaRPr lang="en-US" sz="1100"/>
                    </a:p>
                  </a:txBody>
                  <a:tcPr marL="101600" marR="101600" marT="101600" marB="101600" anchor="ctr">
                    <a:lnL>
                      <a:noFill/>
                    </a:lnL>
                    <a:lnR>
                      <a:noFill/>
                    </a:lnR>
                    <a:lnT>
                      <a:noFill/>
                    </a:lnT>
                    <a:lnB>
                      <a:noFill/>
                    </a:lnB>
                    <a:noFill/>
                  </a:tcPr>
                </a:tc>
                <a:extLst>
                  <a:ext uri="{0D108BD9-81ED-4DB2-BD59-A6C34878D82A}">
                    <a16:rowId xmlns:a16="http://schemas.microsoft.com/office/drawing/2014/main" val="10001"/>
                  </a:ext>
                </a:extLst>
              </a:tr>
              <a:tr h="571500">
                <a:tc>
                  <a:txBody>
                    <a:bodyPr/>
                    <a:lstStyle/>
                    <a:p>
                      <a:pPr indent="0" algn="ctr">
                        <a:lnSpc>
                          <a:spcPct val="100000"/>
                        </a:lnSpc>
                        <a:defRPr/>
                      </a:pPr>
                      <a:r>
                        <a:rPr lang="en-US" sz="1300" b="0" i="0" u="none" strike="noStrike">
                          <a:solidFill>
                            <a:srgbClr val="6C757D"/>
                          </a:solidFill>
                          <a:latin typeface="Noto Sans SC"/>
                          <a:ea typeface="Noto Sans SC"/>
                          <a:cs typeface="Noto Sans SC"/>
                          <a:sym typeface="Noto Sans SC"/>
                        </a:rPr>
                        <a:t>数字直接填写</a:t>
                      </a:r>
                      <a:endParaRPr lang="en-US" sz="1100"/>
                    </a:p>
                  </a:txBody>
                  <a:tcPr marL="101600" marR="101600" marT="101600" marB="101600" anchor="ctr">
                    <a:lnL>
                      <a:noFill/>
                    </a:lnL>
                    <a:lnR>
                      <a:noFill/>
                    </a:lnR>
                    <a:lnT>
                      <a:noFill/>
                    </a:lnT>
                    <a:lnB>
                      <a:noFill/>
                    </a:lnB>
                    <a:noFill/>
                  </a:tcPr>
                </a:tc>
                <a:tc>
                  <a:txBody>
                    <a:bodyPr/>
                    <a:lstStyle/>
                    <a:p>
                      <a:pPr indent="0" algn="ctr">
                        <a:lnSpc>
                          <a:spcPct val="100000"/>
                        </a:lnSpc>
                        <a:defRPr/>
                      </a:pPr>
                      <a:r>
                        <a:rPr lang="en-US" sz="1300" b="0" i="0" u="none" strike="noStrike">
                          <a:solidFill>
                            <a:srgbClr val="374151"/>
                          </a:solidFill>
                          <a:latin typeface="Noto Sans SC"/>
                          <a:ea typeface="Noto Sans SC"/>
                          <a:cs typeface="Noto Sans SC"/>
                          <a:sym typeface="Noto Sans SC"/>
                        </a:rPr>
                        <a:t>语义化提示标签</a:t>
                      </a:r>
                      <a:endParaRPr lang="en-US" sz="1100"/>
                    </a:p>
                  </a:txBody>
                  <a:tcPr marL="101600" marR="101600" marT="101600" marB="101600" anchor="ctr">
                    <a:lnL>
                      <a:noFill/>
                    </a:lnL>
                    <a:lnR>
                      <a:noFill/>
                    </a:lnR>
                    <a:lnT>
                      <a:noFill/>
                    </a:lnT>
                    <a:lnB>
                      <a:noFill/>
                    </a:lnB>
                    <a:noFill/>
                  </a:tcPr>
                </a:tc>
                <a:tc>
                  <a:txBody>
                    <a:bodyPr/>
                    <a:lstStyle/>
                    <a:p>
                      <a:pPr indent="0" algn="ctr">
                        <a:lnSpc>
                          <a:spcPct val="100000"/>
                        </a:lnSpc>
                        <a:defRPr/>
                      </a:pPr>
                      <a:r>
                        <a:rPr lang="en-US" sz="1300" b="0" i="0" u="none" strike="noStrike">
                          <a:solidFill>
                            <a:srgbClr val="374151"/>
                          </a:solidFill>
                          <a:latin typeface="Noto Sans SC"/>
                          <a:ea typeface="Noto Sans SC"/>
                          <a:cs typeface="Noto Sans SC"/>
                          <a:sym typeface="Noto Sans SC"/>
                        </a:rPr>
                        <a:t>降低理解门槛</a:t>
                      </a:r>
                      <a:endParaRPr lang="en-US" sz="1100"/>
                    </a:p>
                  </a:txBody>
                  <a:tcPr marL="101600" marR="101600" marT="101600" marB="101600" anchor="ctr">
                    <a:lnL>
                      <a:noFill/>
                    </a:lnL>
                    <a:lnR>
                      <a:noFill/>
                    </a:lnR>
                    <a:lnT>
                      <a:noFill/>
                    </a:lnT>
                    <a:lnB>
                      <a:noFill/>
                    </a:lnB>
                    <a:noFill/>
                  </a:tcPr>
                </a:tc>
                <a:extLst>
                  <a:ext uri="{0D108BD9-81ED-4DB2-BD59-A6C34878D82A}">
                    <a16:rowId xmlns:a16="http://schemas.microsoft.com/office/drawing/2014/main" val="10002"/>
                  </a:ext>
                </a:extLst>
              </a:tr>
              <a:tr h="571500">
                <a:tc>
                  <a:txBody>
                    <a:bodyPr/>
                    <a:lstStyle/>
                    <a:p>
                      <a:pPr indent="0" algn="ctr">
                        <a:lnSpc>
                          <a:spcPct val="100000"/>
                        </a:lnSpc>
                        <a:defRPr/>
                      </a:pPr>
                      <a:r>
                        <a:rPr lang="en-US" sz="1300" b="0" i="0" u="none" strike="noStrike">
                          <a:solidFill>
                            <a:srgbClr val="6C757D"/>
                          </a:solidFill>
                          <a:latin typeface="Noto Sans SC"/>
                          <a:ea typeface="Noto Sans SC"/>
                          <a:cs typeface="Noto Sans SC"/>
                          <a:sym typeface="Noto Sans SC"/>
                        </a:rPr>
                        <a:t>批量输入比较</a:t>
                      </a:r>
                      <a:endParaRPr lang="en-US" sz="1100"/>
                    </a:p>
                  </a:txBody>
                  <a:tcPr marL="101600" marR="101600" marT="101600" marB="101600" anchor="ctr">
                    <a:lnL>
                      <a:noFill/>
                    </a:lnL>
                    <a:lnR>
                      <a:noFill/>
                    </a:lnR>
                    <a:lnT>
                      <a:noFill/>
                    </a:lnT>
                    <a:lnB>
                      <a:noFill/>
                    </a:lnB>
                    <a:noFill/>
                  </a:tcPr>
                </a:tc>
                <a:tc>
                  <a:txBody>
                    <a:bodyPr/>
                    <a:lstStyle/>
                    <a:p>
                      <a:pPr indent="0" algn="ctr">
                        <a:lnSpc>
                          <a:spcPct val="100000"/>
                        </a:lnSpc>
                        <a:defRPr/>
                      </a:pPr>
                      <a:r>
                        <a:rPr lang="en-US" sz="1300" b="0" i="0" u="none" strike="noStrike">
                          <a:solidFill>
                            <a:srgbClr val="374151"/>
                          </a:solidFill>
                          <a:latin typeface="Noto Sans SC"/>
                          <a:ea typeface="Noto Sans SC"/>
                          <a:cs typeface="Noto Sans SC"/>
                          <a:sym typeface="Noto Sans SC"/>
                        </a:rPr>
                        <a:t>逐题问答分步完成</a:t>
                      </a:r>
                      <a:endParaRPr lang="en-US" sz="1100"/>
                    </a:p>
                  </a:txBody>
                  <a:tcPr marL="101600" marR="101600" marT="101600" marB="101600" anchor="ctr">
                    <a:lnL>
                      <a:noFill/>
                    </a:lnL>
                    <a:lnR>
                      <a:noFill/>
                    </a:lnR>
                    <a:lnT>
                      <a:noFill/>
                    </a:lnT>
                    <a:lnB>
                      <a:noFill/>
                    </a:lnB>
                    <a:noFill/>
                  </a:tcPr>
                </a:tc>
                <a:tc>
                  <a:txBody>
                    <a:bodyPr/>
                    <a:lstStyle/>
                    <a:p>
                      <a:pPr indent="0" algn="ctr">
                        <a:lnSpc>
                          <a:spcPct val="100000"/>
                        </a:lnSpc>
                        <a:defRPr/>
                      </a:pPr>
                      <a:r>
                        <a:rPr lang="en-US" sz="1300" b="0" i="0" u="none" strike="noStrike">
                          <a:solidFill>
                            <a:srgbClr val="374151"/>
                          </a:solidFill>
                          <a:latin typeface="Noto Sans SC"/>
                          <a:ea typeface="Noto Sans SC"/>
                          <a:cs typeface="Noto Sans SC"/>
                          <a:sym typeface="Noto Sans SC"/>
                        </a:rPr>
                        <a:t>减少认知负荷</a:t>
                      </a:r>
                      <a:endParaRPr lang="en-US" sz="1100"/>
                    </a:p>
                  </a:txBody>
                  <a:tcPr marL="101600" marR="101600" marT="101600" marB="101600" anchor="ctr">
                    <a:lnL>
                      <a:noFill/>
                    </a:lnL>
                    <a:lnR>
                      <a:noFill/>
                    </a:lnR>
                    <a:lnT>
                      <a:noFill/>
                    </a:lnT>
                    <a:lnB>
                      <a:noFill/>
                    </a:lnB>
                    <a:noFill/>
                  </a:tcPr>
                </a:tc>
                <a:extLst>
                  <a:ext uri="{0D108BD9-81ED-4DB2-BD59-A6C34878D82A}">
                    <a16:rowId xmlns:a16="http://schemas.microsoft.com/office/drawing/2014/main" val="10003"/>
                  </a:ext>
                </a:extLst>
              </a:tr>
              <a:tr h="571500">
                <a:tc>
                  <a:txBody>
                    <a:bodyPr/>
                    <a:lstStyle/>
                    <a:p>
                      <a:pPr indent="0" algn="ctr">
                        <a:lnSpc>
                          <a:spcPct val="100000"/>
                        </a:lnSpc>
                        <a:defRPr/>
                      </a:pPr>
                      <a:r>
                        <a:rPr lang="en-US" sz="1300" b="0" i="0" u="none" strike="noStrike">
                          <a:solidFill>
                            <a:srgbClr val="6C757D"/>
                          </a:solidFill>
                          <a:latin typeface="Noto Sans SC"/>
                          <a:ea typeface="Noto Sans SC"/>
                          <a:cs typeface="Noto Sans SC"/>
                          <a:sym typeface="Noto Sans SC"/>
                        </a:rPr>
                        <a:t>无即时反馈</a:t>
                      </a:r>
                      <a:endParaRPr lang="en-US" sz="1100"/>
                    </a:p>
                  </a:txBody>
                  <a:tcPr marL="101600" marR="101600" marT="101600" marB="101600" anchor="ctr">
                    <a:lnL>
                      <a:noFill/>
                    </a:lnL>
                    <a:lnR>
                      <a:noFill/>
                    </a:lnR>
                    <a:lnT>
                      <a:noFill/>
                    </a:lnT>
                    <a:lnB>
                      <a:noFill/>
                    </a:lnB>
                    <a:noFill/>
                  </a:tcPr>
                </a:tc>
                <a:tc>
                  <a:txBody>
                    <a:bodyPr/>
                    <a:lstStyle/>
                    <a:p>
                      <a:pPr indent="0" algn="ctr">
                        <a:lnSpc>
                          <a:spcPct val="100000"/>
                        </a:lnSpc>
                        <a:defRPr/>
                      </a:pPr>
                      <a:r>
                        <a:rPr lang="en-US" sz="1300" b="0" i="0" u="none" strike="noStrike">
                          <a:solidFill>
                            <a:srgbClr val="374151"/>
                          </a:solidFill>
                          <a:latin typeface="Noto Sans SC"/>
                          <a:ea typeface="Noto Sans SC"/>
                          <a:cs typeface="Noto Sans SC"/>
                          <a:sym typeface="Noto Sans SC"/>
                        </a:rPr>
                        <a:t>实时高亮当前项</a:t>
                      </a:r>
                      <a:endParaRPr lang="en-US" sz="1100"/>
                    </a:p>
                  </a:txBody>
                  <a:tcPr marL="101600" marR="101600" marT="101600" marB="101600" anchor="ctr">
                    <a:lnL>
                      <a:noFill/>
                    </a:lnL>
                    <a:lnR>
                      <a:noFill/>
                    </a:lnR>
                    <a:lnT>
                      <a:noFill/>
                    </a:lnT>
                    <a:lnB>
                      <a:noFill/>
                    </a:lnB>
                    <a:noFill/>
                  </a:tcPr>
                </a:tc>
                <a:tc>
                  <a:txBody>
                    <a:bodyPr/>
                    <a:lstStyle/>
                    <a:p>
                      <a:pPr indent="0" algn="ctr">
                        <a:lnSpc>
                          <a:spcPct val="100000"/>
                        </a:lnSpc>
                        <a:defRPr/>
                      </a:pPr>
                      <a:r>
                        <a:rPr lang="en-US" sz="1300" b="0" i="0" u="none" strike="noStrike">
                          <a:solidFill>
                            <a:srgbClr val="374151"/>
                          </a:solidFill>
                          <a:latin typeface="Noto Sans SC"/>
                          <a:ea typeface="Noto Sans SC"/>
                          <a:cs typeface="Noto Sans SC"/>
                          <a:sym typeface="Noto Sans SC"/>
                        </a:rPr>
                        <a:t>增强用户确认感</a:t>
                      </a:r>
                      <a:endParaRPr lang="en-US" sz="1100"/>
                    </a:p>
                  </a:txBody>
                  <a:tcPr marL="101600" marR="101600" marT="101600" marB="101600" anchor="ctr">
                    <a:lnL>
                      <a:noFill/>
                    </a:lnL>
                    <a:lnR>
                      <a:noFill/>
                    </a:lnR>
                    <a:lnT>
                      <a:noFill/>
                    </a:lnT>
                    <a:lnB>
                      <a:noFill/>
                    </a:lnB>
                    <a:noFill/>
                  </a:tcPr>
                </a:tc>
                <a:extLst>
                  <a:ext uri="{0D108BD9-81ED-4DB2-BD59-A6C34878D82A}">
                    <a16:rowId xmlns:a16="http://schemas.microsoft.com/office/drawing/2014/main" val="10004"/>
                  </a:ext>
                </a:extLst>
              </a:tr>
            </a:tbl>
          </a:graphicData>
        </a:graphic>
      </p:graphicFrame>
      <p:sp>
        <p:nvSpPr>
          <p:cNvPr id="16" name="AutoShape 16"/>
          <p:cNvSpPr/>
          <p:nvPr/>
        </p:nvSpPr>
        <p:spPr>
          <a:xfrm>
            <a:off x="762000" y="5588000"/>
            <a:ext cx="10668000" cy="25400"/>
          </a:xfrm>
          <a:prstGeom prst="roundRect">
            <a:avLst>
              <a:gd name="adj" fmla="val 0"/>
            </a:avLst>
          </a:prstGeom>
          <a:solidFill>
            <a:srgbClr val="0D6EFD">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762000" y="5778500"/>
            <a:ext cx="1066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0" i="0" u="none" strike="noStrike">
                <a:solidFill>
                  <a:srgbClr val="6C757D"/>
                </a:solidFill>
                <a:latin typeface="Noto Sans SC"/>
                <a:ea typeface="Noto Sans SC"/>
                <a:cs typeface="Noto Sans SC"/>
                <a:sym typeface="Noto Sans SC"/>
              </a:rPr>
              <a:t>通过问答式交互，让复杂的AHP决策过程变得像做选择题一样简单高效。</a:t>
            </a:r>
            <a:endParaRPr lang="en-US" sz="11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508000"/>
            <a:ext cx="60325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0D6EFD"/>
                </a:solidFill>
                <a:latin typeface="Noto Sans SC"/>
                <a:ea typeface="Noto Sans SC"/>
                <a:cs typeface="Noto Sans SC"/>
                <a:sym typeface="Noto Sans SC"/>
              </a:rPr>
              <a:t>技术实现栈：前端技术选型</a:t>
            </a:r>
            <a:endParaRPr lang="en-US" sz="1100"/>
          </a:p>
        </p:txBody>
      </p:sp>
      <p:graphicFrame>
        <p:nvGraphicFramePr>
          <p:cNvPr id="5" name="Table 5"/>
          <p:cNvGraphicFramePr>
            <a:graphicFrameLocks noGrp="1"/>
          </p:cNvGraphicFramePr>
          <p:nvPr/>
        </p:nvGraphicFramePr>
        <p:xfrm>
          <a:off x="762000" y="1397000"/>
          <a:ext cx="10668000" cy="3048000"/>
        </p:xfrm>
        <a:graphic>
          <a:graphicData uri="http://schemas.openxmlformats.org/drawingml/2006/table">
            <a:tbl>
              <a:tblPr>
                <a:effectLst/>
              </a:tblPr>
              <a:tblGrid>
                <a:gridCol w="1524000">
                  <a:extLst>
                    <a:ext uri="{9D8B030D-6E8A-4147-A177-3AD203B41FA5}">
                      <a16:colId xmlns:a16="http://schemas.microsoft.com/office/drawing/2014/main" val="20000"/>
                    </a:ext>
                  </a:extLst>
                </a:gridCol>
                <a:gridCol w="2032000">
                  <a:extLst>
                    <a:ext uri="{9D8B030D-6E8A-4147-A177-3AD203B41FA5}">
                      <a16:colId xmlns:a16="http://schemas.microsoft.com/office/drawing/2014/main" val="20001"/>
                    </a:ext>
                  </a:extLst>
                </a:gridCol>
                <a:gridCol w="7112000">
                  <a:extLst>
                    <a:ext uri="{9D8B030D-6E8A-4147-A177-3AD203B41FA5}">
                      <a16:colId xmlns:a16="http://schemas.microsoft.com/office/drawing/2014/main" val="20002"/>
                    </a:ext>
                  </a:extLst>
                </a:gridCol>
              </a:tblGrid>
              <a:tr h="508000">
                <a:tc>
                  <a:txBody>
                    <a:bodyPr/>
                    <a:lstStyle/>
                    <a:p>
                      <a:pPr indent="0" algn="ctr">
                        <a:lnSpc>
                          <a:spcPct val="100000"/>
                        </a:lnSpc>
                        <a:defRPr/>
                      </a:pPr>
                      <a:r>
                        <a:rPr lang="en-US" sz="1600" b="1" i="0" u="none" strike="noStrike">
                          <a:solidFill>
                            <a:srgbClr val="FFFFFF"/>
                          </a:solidFill>
                          <a:latin typeface="Noto Sans SC"/>
                          <a:ea typeface="Noto Sans SC"/>
                          <a:cs typeface="Noto Sans SC"/>
                          <a:sym typeface="Noto Sans SC"/>
                        </a:rPr>
                        <a:t>类别</a:t>
                      </a:r>
                      <a:endParaRPr lang="en-US" sz="1100"/>
                    </a:p>
                  </a:txBody>
                  <a:tcPr marL="101600" marR="101600" marT="101600" marB="101600" anchor="ctr">
                    <a:lnL>
                      <a:noFill/>
                    </a:lnL>
                    <a:lnR>
                      <a:noFill/>
                    </a:lnR>
                    <a:lnT>
                      <a:noFill/>
                    </a:lnT>
                    <a:lnB>
                      <a:noFill/>
                    </a:lnB>
                    <a:solidFill>
                      <a:srgbClr val="0D6EFD">
                        <a:alpha val="100000"/>
                      </a:srgbClr>
                    </a:solidFill>
                  </a:tcPr>
                </a:tc>
                <a:tc>
                  <a:txBody>
                    <a:bodyPr/>
                    <a:lstStyle/>
                    <a:p>
                      <a:pPr indent="0" algn="ctr">
                        <a:lnSpc>
                          <a:spcPct val="100000"/>
                        </a:lnSpc>
                        <a:defRPr/>
                      </a:pPr>
                      <a:r>
                        <a:rPr lang="en-US" sz="1600" b="1" i="0" u="none" strike="noStrike">
                          <a:solidFill>
                            <a:srgbClr val="FFFFFF"/>
                          </a:solidFill>
                          <a:latin typeface="Noto Sans SC"/>
                          <a:ea typeface="Noto Sans SC"/>
                          <a:cs typeface="Noto Sans SC"/>
                          <a:sym typeface="Noto Sans SC"/>
                        </a:rPr>
                        <a:t>技术</a:t>
                      </a:r>
                      <a:endParaRPr lang="en-US" sz="1100"/>
                    </a:p>
                  </a:txBody>
                  <a:tcPr marL="101600" marR="101600" marT="101600" marB="101600" anchor="ctr">
                    <a:lnL>
                      <a:noFill/>
                    </a:lnL>
                    <a:lnR>
                      <a:noFill/>
                    </a:lnR>
                    <a:lnT>
                      <a:noFill/>
                    </a:lnT>
                    <a:lnB>
                      <a:noFill/>
                    </a:lnB>
                    <a:solidFill>
                      <a:srgbClr val="0D6EFD">
                        <a:alpha val="100000"/>
                      </a:srgbClr>
                    </a:solidFill>
                  </a:tcPr>
                </a:tc>
                <a:tc>
                  <a:txBody>
                    <a:bodyPr/>
                    <a:lstStyle/>
                    <a:p>
                      <a:pPr indent="0" algn="l">
                        <a:lnSpc>
                          <a:spcPct val="100000"/>
                        </a:lnSpc>
                        <a:defRPr/>
                      </a:pPr>
                      <a:r>
                        <a:rPr lang="en-US" sz="1600" b="1" i="0" u="none" strike="noStrike">
                          <a:solidFill>
                            <a:srgbClr val="FFFFFF"/>
                          </a:solidFill>
                          <a:latin typeface="Noto Sans SC"/>
                          <a:ea typeface="Noto Sans SC"/>
                          <a:cs typeface="Noto Sans SC"/>
                          <a:sym typeface="Noto Sans SC"/>
                        </a:rPr>
                        <a:t>选型理由</a:t>
                      </a:r>
                      <a:endParaRPr lang="en-US" sz="1100"/>
                    </a:p>
                  </a:txBody>
                  <a:tcPr marL="101600" marR="101600" marT="101600" marB="101600" anchor="ctr">
                    <a:lnL>
                      <a:noFill/>
                    </a:lnL>
                    <a:lnR>
                      <a:noFill/>
                    </a:lnR>
                    <a:lnT>
                      <a:noFill/>
                    </a:lnT>
                    <a:lnB>
                      <a:noFill/>
                    </a:lnB>
                    <a:solidFill>
                      <a:srgbClr val="0D6EFD">
                        <a:alpha val="100000"/>
                      </a:srgbClr>
                    </a:solidFill>
                  </a:tcPr>
                </a:tc>
                <a:extLst>
                  <a:ext uri="{0D108BD9-81ED-4DB2-BD59-A6C34878D82A}">
                    <a16:rowId xmlns:a16="http://schemas.microsoft.com/office/drawing/2014/main" val="10000"/>
                  </a:ext>
                </a:extLst>
              </a:tr>
              <a:tr h="635000">
                <a:tc>
                  <a:txBody>
                    <a:bodyPr/>
                    <a:lstStyle/>
                    <a:p>
                      <a:pPr indent="0" algn="ctr">
                        <a:lnSpc>
                          <a:spcPct val="100000"/>
                        </a:lnSpc>
                        <a:defRPr/>
                      </a:pPr>
                      <a:r>
                        <a:rPr lang="en-US" sz="1400" b="1" i="0" u="none" strike="noStrike">
                          <a:solidFill>
                            <a:srgbClr val="212529"/>
                          </a:solidFill>
                          <a:latin typeface="Noto Sans SC"/>
                          <a:ea typeface="Noto Sans SC"/>
                          <a:cs typeface="Noto Sans SC"/>
                          <a:sym typeface="Noto Sans SC"/>
                        </a:rPr>
                        <a:t>核心语言</a:t>
                      </a:r>
                      <a:endParaRPr lang="en-US" sz="1100"/>
                    </a:p>
                  </a:txBody>
                  <a:tcPr marL="101600" marR="101600" marT="101600" marB="101600" anchor="ctr">
                    <a:lnL>
                      <a:noFill/>
                    </a:lnL>
                    <a:lnR>
                      <a:noFill/>
                    </a:lnR>
                    <a:lnT>
                      <a:noFill/>
                    </a:lnT>
                    <a:lnB w="12700" cap="flat" cmpd="sng" algn="ctr">
                      <a:solidFill>
                        <a:srgbClr val="DEE2E6"/>
                      </a:solidFill>
                      <a:prstDash val="solid"/>
                      <a:round/>
                      <a:headEnd type="none" w="med" len="med"/>
                      <a:tailEnd type="none" w="med" len="med"/>
                    </a:lnB>
                    <a:solidFill>
                      <a:srgbClr val="F8F9FA">
                        <a:alpha val="100000"/>
                      </a:srgbClr>
                    </a:solidFill>
                  </a:tcPr>
                </a:tc>
                <a:tc>
                  <a:txBody>
                    <a:bodyPr/>
                    <a:lstStyle/>
                    <a:p>
                      <a:pPr indent="0" algn="ctr">
                        <a:lnSpc>
                          <a:spcPct val="100000"/>
                        </a:lnSpc>
                        <a:defRPr/>
                      </a:pPr>
                      <a:r>
                        <a:rPr lang="en-US" sz="1400" b="0" i="0" u="none" strike="noStrike">
                          <a:solidFill>
                            <a:srgbClr val="212529"/>
                          </a:solidFill>
                          <a:latin typeface="Noto Sans SC"/>
                          <a:ea typeface="Noto Sans SC"/>
                          <a:cs typeface="Noto Sans SC"/>
                          <a:sym typeface="Noto Sans SC"/>
                        </a:rPr>
                        <a:t>JavaScript ES6+</a:t>
                      </a:r>
                      <a:endParaRPr lang="en-US" sz="1100"/>
                    </a:p>
                  </a:txBody>
                  <a:tcPr marL="101600" marR="101600" marT="101600" marB="101600" anchor="ctr">
                    <a:lnL>
                      <a:noFill/>
                    </a:lnL>
                    <a:lnR>
                      <a:noFill/>
                    </a:lnR>
                    <a:lnT>
                      <a:noFill/>
                    </a:lnT>
                    <a:lnB w="12700" cap="flat" cmpd="sng" algn="ctr">
                      <a:solidFill>
                        <a:srgbClr val="DEE2E6"/>
                      </a:solidFill>
                      <a:prstDash val="solid"/>
                      <a:round/>
                      <a:headEnd type="none" w="med" len="med"/>
                      <a:tailEnd type="none" w="med" len="med"/>
                    </a:lnB>
                    <a:solidFill>
                      <a:srgbClr val="F8F9FA">
                        <a:alpha val="100000"/>
                      </a:srgbClr>
                    </a:solidFill>
                  </a:tcPr>
                </a:tc>
                <a:tc>
                  <a:txBody>
                    <a:bodyPr/>
                    <a:lstStyle/>
                    <a:p>
                      <a:pPr indent="0" algn="l">
                        <a:lnSpc>
                          <a:spcPct val="100000"/>
                        </a:lnSpc>
                        <a:defRPr/>
                      </a:pPr>
                      <a:r>
                        <a:rPr lang="en-US" sz="1400" b="0" i="0" u="none" strike="noStrike">
                          <a:solidFill>
                            <a:srgbClr val="495057"/>
                          </a:solidFill>
                          <a:latin typeface="Noto Sans SC"/>
                          <a:ea typeface="Noto Sans SC"/>
                          <a:cs typeface="Noto Sans SC"/>
                          <a:sym typeface="Noto Sans SC"/>
                        </a:rPr>
                        <a:t>浏览器原生支持，无需编译，保证了“即开即用”的高效体验。</a:t>
                      </a:r>
                      <a:endParaRPr lang="en-US" sz="1100"/>
                    </a:p>
                  </a:txBody>
                  <a:tcPr marL="101600" marR="101600" marT="101600" marB="101600" anchor="ctr">
                    <a:lnL>
                      <a:noFill/>
                    </a:lnL>
                    <a:lnR>
                      <a:noFill/>
                    </a:lnR>
                    <a:lnT>
                      <a:noFill/>
                    </a:lnT>
                    <a:lnB w="12700" cap="flat" cmpd="sng" algn="ctr">
                      <a:solidFill>
                        <a:srgbClr val="DEE2E6"/>
                      </a:solidFill>
                      <a:prstDash val="solid"/>
                      <a:round/>
                      <a:headEnd type="none" w="med" len="med"/>
                      <a:tailEnd type="none" w="med" len="med"/>
                    </a:lnB>
                    <a:solidFill>
                      <a:srgbClr val="F8F9FA">
                        <a:alpha val="100000"/>
                      </a:srgbClr>
                    </a:solidFill>
                  </a:tcPr>
                </a:tc>
                <a:extLst>
                  <a:ext uri="{0D108BD9-81ED-4DB2-BD59-A6C34878D82A}">
                    <a16:rowId xmlns:a16="http://schemas.microsoft.com/office/drawing/2014/main" val="10001"/>
                  </a:ext>
                </a:extLst>
              </a:tr>
              <a:tr h="635000">
                <a:tc>
                  <a:txBody>
                    <a:bodyPr/>
                    <a:lstStyle/>
                    <a:p>
                      <a:pPr indent="0" algn="ctr">
                        <a:lnSpc>
                          <a:spcPct val="100000"/>
                        </a:lnSpc>
                        <a:defRPr/>
                      </a:pPr>
                      <a:r>
                        <a:rPr lang="en-US" sz="1400" b="1" i="0" u="none" strike="noStrike">
                          <a:solidFill>
                            <a:srgbClr val="212529"/>
                          </a:solidFill>
                          <a:latin typeface="Noto Sans SC"/>
                          <a:ea typeface="Noto Sans SC"/>
                          <a:cs typeface="Noto Sans SC"/>
                          <a:sym typeface="Noto Sans SC"/>
                        </a:rPr>
                        <a:t>UI框架</a:t>
                      </a:r>
                      <a:endParaRPr lang="en-US" sz="1100"/>
                    </a:p>
                  </a:txBody>
                  <a:tcPr marL="101600" marR="101600" marT="101600" marB="101600" anchor="ctr">
                    <a:lnL>
                      <a:noFill/>
                    </a:lnL>
                    <a:lnR>
                      <a:noFill/>
                    </a:lnR>
                    <a:lnT w="12700" cap="flat" cmpd="sng" algn="ctr">
                      <a:solidFill>
                        <a:srgbClr val="DEE2E6"/>
                      </a:solidFill>
                      <a:prstDash val="solid"/>
                      <a:round/>
                      <a:headEnd type="none" w="med" len="med"/>
                      <a:tailEnd type="none" w="med" len="med"/>
                    </a:lnT>
                    <a:lnB w="12700" cap="flat" cmpd="sng" algn="ctr">
                      <a:solidFill>
                        <a:srgbClr val="DEE2E6"/>
                      </a:solidFill>
                      <a:prstDash val="solid"/>
                      <a:round/>
                      <a:headEnd type="none" w="med" len="med"/>
                      <a:tailEnd type="none" w="med" len="med"/>
                    </a:lnB>
                    <a:solidFill>
                      <a:srgbClr val="FFFFFF">
                        <a:alpha val="100000"/>
                      </a:srgbClr>
                    </a:solidFill>
                  </a:tcPr>
                </a:tc>
                <a:tc>
                  <a:txBody>
                    <a:bodyPr/>
                    <a:lstStyle/>
                    <a:p>
                      <a:pPr indent="0" algn="ctr">
                        <a:lnSpc>
                          <a:spcPct val="100000"/>
                        </a:lnSpc>
                        <a:defRPr/>
                      </a:pPr>
                      <a:r>
                        <a:rPr lang="en-US" sz="1400" b="0" i="0" u="none" strike="noStrike">
                          <a:solidFill>
                            <a:srgbClr val="212529"/>
                          </a:solidFill>
                          <a:latin typeface="Noto Sans SC"/>
                          <a:ea typeface="Noto Sans SC"/>
                          <a:cs typeface="Noto Sans SC"/>
                          <a:sym typeface="Noto Sans SC"/>
                        </a:rPr>
                        <a:t>Bootstrap 5.3</a:t>
                      </a:r>
                      <a:endParaRPr lang="en-US" sz="1100"/>
                    </a:p>
                  </a:txBody>
                  <a:tcPr marL="101600" marR="101600" marT="101600" marB="101600" anchor="ctr">
                    <a:lnL>
                      <a:noFill/>
                    </a:lnL>
                    <a:lnR>
                      <a:noFill/>
                    </a:lnR>
                    <a:lnT w="12700" cap="flat" cmpd="sng" algn="ctr">
                      <a:solidFill>
                        <a:srgbClr val="DEE2E6"/>
                      </a:solidFill>
                      <a:prstDash val="solid"/>
                      <a:round/>
                      <a:headEnd type="none" w="med" len="med"/>
                      <a:tailEnd type="none" w="med" len="med"/>
                    </a:lnT>
                    <a:lnB w="12700" cap="flat" cmpd="sng" algn="ctr">
                      <a:solidFill>
                        <a:srgbClr val="DEE2E6"/>
                      </a:solidFill>
                      <a:prstDash val="solid"/>
                      <a:round/>
                      <a:headEnd type="none" w="med" len="med"/>
                      <a:tailEnd type="none" w="med" len="med"/>
                    </a:lnB>
                    <a:solidFill>
                      <a:srgbClr val="FFFFFF">
                        <a:alpha val="100000"/>
                      </a:srgbClr>
                    </a:solidFill>
                  </a:tcPr>
                </a:tc>
                <a:tc>
                  <a:txBody>
                    <a:bodyPr/>
                    <a:lstStyle/>
                    <a:p>
                      <a:pPr indent="0" algn="l">
                        <a:lnSpc>
                          <a:spcPct val="100000"/>
                        </a:lnSpc>
                        <a:defRPr/>
                      </a:pPr>
                      <a:r>
                        <a:rPr lang="en-US" sz="1400" b="0" i="0" u="none" strike="noStrike">
                          <a:solidFill>
                            <a:srgbClr val="495057"/>
                          </a:solidFill>
                          <a:latin typeface="Noto Sans SC"/>
                          <a:ea typeface="Noto Sans SC"/>
                          <a:cs typeface="Noto Sans SC"/>
                          <a:sym typeface="Noto Sans SC"/>
                        </a:rPr>
                        <a:t>提供丰富的响应式组件，快速构建美观界面，确保多端兼容。</a:t>
                      </a:r>
                      <a:endParaRPr lang="en-US" sz="1100"/>
                    </a:p>
                  </a:txBody>
                  <a:tcPr marL="101600" marR="101600" marT="101600" marB="101600" anchor="ctr">
                    <a:lnL>
                      <a:noFill/>
                    </a:lnL>
                    <a:lnR>
                      <a:noFill/>
                    </a:lnR>
                    <a:lnT w="12700" cap="flat" cmpd="sng" algn="ctr">
                      <a:solidFill>
                        <a:srgbClr val="DEE2E6"/>
                      </a:solidFill>
                      <a:prstDash val="solid"/>
                      <a:round/>
                      <a:headEnd type="none" w="med" len="med"/>
                      <a:tailEnd type="none" w="med" len="med"/>
                    </a:lnT>
                    <a:lnB w="12700" cap="flat" cmpd="sng" algn="ctr">
                      <a:solidFill>
                        <a:srgbClr val="DEE2E6"/>
                      </a:solidFill>
                      <a:prstDash val="solid"/>
                      <a:round/>
                      <a:headEnd type="none" w="med" len="med"/>
                      <a:tailEnd type="none" w="med" len="med"/>
                    </a:lnB>
                    <a:solidFill>
                      <a:srgbClr val="FFFFFF">
                        <a:alpha val="100000"/>
                      </a:srgbClr>
                    </a:solidFill>
                  </a:tcPr>
                </a:tc>
                <a:extLst>
                  <a:ext uri="{0D108BD9-81ED-4DB2-BD59-A6C34878D82A}">
                    <a16:rowId xmlns:a16="http://schemas.microsoft.com/office/drawing/2014/main" val="10002"/>
                  </a:ext>
                </a:extLst>
              </a:tr>
              <a:tr h="635000">
                <a:tc>
                  <a:txBody>
                    <a:bodyPr/>
                    <a:lstStyle/>
                    <a:p>
                      <a:pPr indent="0" algn="ctr">
                        <a:lnSpc>
                          <a:spcPct val="100000"/>
                        </a:lnSpc>
                        <a:defRPr/>
                      </a:pPr>
                      <a:r>
                        <a:rPr lang="en-US" sz="1400" b="1" i="0" u="none" strike="noStrike">
                          <a:solidFill>
                            <a:srgbClr val="212529"/>
                          </a:solidFill>
                          <a:latin typeface="Noto Sans SC"/>
                          <a:ea typeface="Noto Sans SC"/>
                          <a:cs typeface="Noto Sans SC"/>
                          <a:sym typeface="Noto Sans SC"/>
                        </a:rPr>
                        <a:t>样式方案</a:t>
                      </a:r>
                      <a:endParaRPr lang="en-US" sz="1100"/>
                    </a:p>
                  </a:txBody>
                  <a:tcPr marL="101600" marR="101600" marT="101600" marB="101600" anchor="ctr">
                    <a:lnL>
                      <a:noFill/>
                    </a:lnL>
                    <a:lnR>
                      <a:noFill/>
                    </a:lnR>
                    <a:lnT w="12700" cap="flat" cmpd="sng" algn="ctr">
                      <a:solidFill>
                        <a:srgbClr val="DEE2E6"/>
                      </a:solidFill>
                      <a:prstDash val="solid"/>
                      <a:round/>
                      <a:headEnd type="none" w="med" len="med"/>
                      <a:tailEnd type="none" w="med" len="med"/>
                    </a:lnT>
                    <a:lnB w="12700" cap="flat" cmpd="sng" algn="ctr">
                      <a:solidFill>
                        <a:srgbClr val="DEE2E6"/>
                      </a:solidFill>
                      <a:prstDash val="solid"/>
                      <a:round/>
                      <a:headEnd type="none" w="med" len="med"/>
                      <a:tailEnd type="none" w="med" len="med"/>
                    </a:lnB>
                    <a:solidFill>
                      <a:srgbClr val="F8F9FA">
                        <a:alpha val="100000"/>
                      </a:srgbClr>
                    </a:solidFill>
                  </a:tcPr>
                </a:tc>
                <a:tc>
                  <a:txBody>
                    <a:bodyPr/>
                    <a:lstStyle/>
                    <a:p>
                      <a:pPr indent="0" algn="ctr">
                        <a:lnSpc>
                          <a:spcPct val="100000"/>
                        </a:lnSpc>
                        <a:defRPr/>
                      </a:pPr>
                      <a:r>
                        <a:rPr lang="en-US" sz="1400" b="0" i="0" u="none" strike="noStrike">
                          <a:solidFill>
                            <a:srgbClr val="212529"/>
                          </a:solidFill>
                          <a:latin typeface="Noto Sans SC"/>
                          <a:ea typeface="Noto Sans SC"/>
                          <a:cs typeface="Noto Sans SC"/>
                          <a:sym typeface="Noto Sans SC"/>
                        </a:rPr>
                        <a:t>CSS Variables</a:t>
                      </a:r>
                      <a:endParaRPr lang="en-US" sz="1100"/>
                    </a:p>
                  </a:txBody>
                  <a:tcPr marL="101600" marR="101600" marT="101600" marB="101600" anchor="ctr">
                    <a:lnL>
                      <a:noFill/>
                    </a:lnL>
                    <a:lnR>
                      <a:noFill/>
                    </a:lnR>
                    <a:lnT w="12700" cap="flat" cmpd="sng" algn="ctr">
                      <a:solidFill>
                        <a:srgbClr val="DEE2E6"/>
                      </a:solidFill>
                      <a:prstDash val="solid"/>
                      <a:round/>
                      <a:headEnd type="none" w="med" len="med"/>
                      <a:tailEnd type="none" w="med" len="med"/>
                    </a:lnT>
                    <a:lnB w="12700" cap="flat" cmpd="sng" algn="ctr">
                      <a:solidFill>
                        <a:srgbClr val="DEE2E6"/>
                      </a:solidFill>
                      <a:prstDash val="solid"/>
                      <a:round/>
                      <a:headEnd type="none" w="med" len="med"/>
                      <a:tailEnd type="none" w="med" len="med"/>
                    </a:lnB>
                    <a:solidFill>
                      <a:srgbClr val="F8F9FA">
                        <a:alpha val="100000"/>
                      </a:srgbClr>
                    </a:solidFill>
                  </a:tcPr>
                </a:tc>
                <a:tc>
                  <a:txBody>
                    <a:bodyPr/>
                    <a:lstStyle/>
                    <a:p>
                      <a:pPr indent="0" algn="l">
                        <a:lnSpc>
                          <a:spcPct val="100000"/>
                        </a:lnSpc>
                        <a:defRPr/>
                      </a:pPr>
                      <a:r>
                        <a:rPr lang="en-US" sz="1400" b="0" i="0" u="none" strike="noStrike">
                          <a:solidFill>
                            <a:srgbClr val="495057"/>
                          </a:solidFill>
                          <a:latin typeface="Noto Sans SC"/>
                          <a:ea typeface="Noto Sans SC"/>
                          <a:cs typeface="Noto Sans SC"/>
                          <a:sym typeface="Noto Sans SC"/>
                        </a:rPr>
                        <a:t>便于主题定制和样式维护，显著提升开发与迭代效率。</a:t>
                      </a:r>
                      <a:endParaRPr lang="en-US" sz="1100"/>
                    </a:p>
                  </a:txBody>
                  <a:tcPr marL="101600" marR="101600" marT="101600" marB="101600" anchor="ctr">
                    <a:lnL>
                      <a:noFill/>
                    </a:lnL>
                    <a:lnR>
                      <a:noFill/>
                    </a:lnR>
                    <a:lnT w="12700" cap="flat" cmpd="sng" algn="ctr">
                      <a:solidFill>
                        <a:srgbClr val="DEE2E6"/>
                      </a:solidFill>
                      <a:prstDash val="solid"/>
                      <a:round/>
                      <a:headEnd type="none" w="med" len="med"/>
                      <a:tailEnd type="none" w="med" len="med"/>
                    </a:lnT>
                    <a:lnB w="12700" cap="flat" cmpd="sng" algn="ctr">
                      <a:solidFill>
                        <a:srgbClr val="DEE2E6"/>
                      </a:solidFill>
                      <a:prstDash val="solid"/>
                      <a:round/>
                      <a:headEnd type="none" w="med" len="med"/>
                      <a:tailEnd type="none" w="med" len="med"/>
                    </a:lnB>
                    <a:solidFill>
                      <a:srgbClr val="F8F9FA">
                        <a:alpha val="100000"/>
                      </a:srgbClr>
                    </a:solidFill>
                  </a:tcPr>
                </a:tc>
                <a:extLst>
                  <a:ext uri="{0D108BD9-81ED-4DB2-BD59-A6C34878D82A}">
                    <a16:rowId xmlns:a16="http://schemas.microsoft.com/office/drawing/2014/main" val="10003"/>
                  </a:ext>
                </a:extLst>
              </a:tr>
              <a:tr h="635000">
                <a:tc>
                  <a:txBody>
                    <a:bodyPr/>
                    <a:lstStyle/>
                    <a:p>
                      <a:pPr indent="0" algn="ctr">
                        <a:lnSpc>
                          <a:spcPct val="100000"/>
                        </a:lnSpc>
                        <a:defRPr/>
                      </a:pPr>
                      <a:r>
                        <a:rPr lang="en-US" sz="1400" b="1" i="0" u="none" strike="noStrike">
                          <a:solidFill>
                            <a:srgbClr val="212529"/>
                          </a:solidFill>
                          <a:latin typeface="Noto Sans SC"/>
                          <a:ea typeface="Noto Sans SC"/>
                          <a:cs typeface="Noto Sans SC"/>
                          <a:sym typeface="Noto Sans SC"/>
                        </a:rPr>
                        <a:t>架构模式</a:t>
                      </a:r>
                      <a:endParaRPr lang="en-US" sz="1100"/>
                    </a:p>
                  </a:txBody>
                  <a:tcPr marL="101600" marR="101600" marT="101600" marB="101600" anchor="ctr">
                    <a:lnL>
                      <a:noFill/>
                    </a:lnL>
                    <a:lnR>
                      <a:noFill/>
                    </a:lnR>
                    <a:lnT w="12700" cap="flat" cmpd="sng" algn="ctr">
                      <a:solidFill>
                        <a:srgbClr val="DEE2E6"/>
                      </a:solidFill>
                      <a:prstDash val="solid"/>
                      <a:round/>
                      <a:headEnd type="none" w="med" len="med"/>
                      <a:tailEnd type="none" w="med" len="med"/>
                    </a:lnT>
                    <a:lnB w="12700" cap="flat" cmpd="sng" algn="ctr">
                      <a:solidFill>
                        <a:srgbClr val="DEE2E6"/>
                      </a:solidFill>
                      <a:prstDash val="solid"/>
                      <a:round/>
                      <a:headEnd type="none" w="med" len="med"/>
                      <a:tailEnd type="none" w="med" len="med"/>
                    </a:lnB>
                    <a:solidFill>
                      <a:srgbClr val="FFFFFF">
                        <a:alpha val="100000"/>
                      </a:srgbClr>
                    </a:solidFill>
                  </a:tcPr>
                </a:tc>
                <a:tc>
                  <a:txBody>
                    <a:bodyPr/>
                    <a:lstStyle/>
                    <a:p>
                      <a:pPr indent="0" algn="ctr">
                        <a:lnSpc>
                          <a:spcPct val="100000"/>
                        </a:lnSpc>
                        <a:defRPr/>
                      </a:pPr>
                      <a:r>
                        <a:rPr lang="en-US" sz="1400" b="0" i="0" u="none" strike="noStrike">
                          <a:solidFill>
                            <a:srgbClr val="212529"/>
                          </a:solidFill>
                          <a:latin typeface="Noto Sans SC"/>
                          <a:ea typeface="Noto Sans SC"/>
                          <a:cs typeface="Noto Sans SC"/>
                          <a:sym typeface="Noto Sans SC"/>
                        </a:rPr>
                        <a:t>MVC变体</a:t>
                      </a:r>
                      <a:endParaRPr lang="en-US" sz="1100"/>
                    </a:p>
                  </a:txBody>
                  <a:tcPr marL="101600" marR="101600" marT="101600" marB="101600" anchor="ctr">
                    <a:lnL>
                      <a:noFill/>
                    </a:lnL>
                    <a:lnR>
                      <a:noFill/>
                    </a:lnR>
                    <a:lnT w="12700" cap="flat" cmpd="sng" algn="ctr">
                      <a:solidFill>
                        <a:srgbClr val="DEE2E6"/>
                      </a:solidFill>
                      <a:prstDash val="solid"/>
                      <a:round/>
                      <a:headEnd type="none" w="med" len="med"/>
                      <a:tailEnd type="none" w="med" len="med"/>
                    </a:lnT>
                    <a:lnB w="12700" cap="flat" cmpd="sng" algn="ctr">
                      <a:solidFill>
                        <a:srgbClr val="DEE2E6"/>
                      </a:solidFill>
                      <a:prstDash val="solid"/>
                      <a:round/>
                      <a:headEnd type="none" w="med" len="med"/>
                      <a:tailEnd type="none" w="med" len="med"/>
                    </a:lnB>
                    <a:solidFill>
                      <a:srgbClr val="FFFFFF">
                        <a:alpha val="100000"/>
                      </a:srgbClr>
                    </a:solidFill>
                  </a:tcPr>
                </a:tc>
                <a:tc>
                  <a:txBody>
                    <a:bodyPr/>
                    <a:lstStyle/>
                    <a:p>
                      <a:pPr indent="0" algn="l">
                        <a:lnSpc>
                          <a:spcPct val="100000"/>
                        </a:lnSpc>
                        <a:defRPr/>
                      </a:pPr>
                      <a:r>
                        <a:rPr lang="en-US" sz="1400" b="0" i="0" u="none" strike="noStrike">
                          <a:solidFill>
                            <a:srgbClr val="495057"/>
                          </a:solidFill>
                          <a:latin typeface="Noto Sans SC"/>
                          <a:ea typeface="Noto Sans SC"/>
                          <a:cs typeface="Noto Sans SC"/>
                          <a:sym typeface="Noto Sans SC"/>
                        </a:rPr>
                        <a:t>采用模块化设计，分离数据、视图和逻辑，代码组织清晰易维护。</a:t>
                      </a:r>
                      <a:endParaRPr lang="en-US" sz="1100"/>
                    </a:p>
                  </a:txBody>
                  <a:tcPr marL="101600" marR="101600" marT="101600" marB="101600" anchor="ctr">
                    <a:lnL>
                      <a:noFill/>
                    </a:lnL>
                    <a:lnR>
                      <a:noFill/>
                    </a:lnR>
                    <a:lnT w="12700" cap="flat" cmpd="sng" algn="ctr">
                      <a:solidFill>
                        <a:srgbClr val="DEE2E6"/>
                      </a:solidFill>
                      <a:prstDash val="solid"/>
                      <a:round/>
                      <a:headEnd type="none" w="med" len="med"/>
                      <a:tailEnd type="none" w="med" len="med"/>
                    </a:lnT>
                    <a:lnB w="12700" cap="flat" cmpd="sng" algn="ctr">
                      <a:solidFill>
                        <a:srgbClr val="DEE2E6"/>
                      </a:solidFill>
                      <a:prstDash val="solid"/>
                      <a:round/>
                      <a:headEnd type="none" w="med" len="med"/>
                      <a:tailEnd type="none" w="med" len="med"/>
                    </a:lnB>
                    <a:solidFill>
                      <a:srgbClr val="FFFFFF">
                        <a:alpha val="100000"/>
                      </a:srgbClr>
                    </a:solidFill>
                  </a:tcPr>
                </a:tc>
                <a:extLst>
                  <a:ext uri="{0D108BD9-81ED-4DB2-BD59-A6C34878D82A}">
                    <a16:rowId xmlns:a16="http://schemas.microsoft.com/office/drawing/2014/main" val="10004"/>
                  </a:ext>
                </a:extLst>
              </a:tr>
            </a:tbl>
          </a:graphicData>
        </a:graphic>
      </p:graphicFrame>
      <p:sp>
        <p:nvSpPr>
          <p:cNvPr id="6" name="AutoShape 6"/>
          <p:cNvSpPr/>
          <p:nvPr/>
        </p:nvSpPr>
        <p:spPr>
          <a:xfrm>
            <a:off x="762000" y="4699000"/>
            <a:ext cx="1066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D6EFD"/>
                </a:solidFill>
                <a:latin typeface="Noto Sans SC"/>
                <a:ea typeface="Noto Sans SC"/>
                <a:cs typeface="Noto Sans SC"/>
                <a:sym typeface="Noto Sans SC"/>
              </a:rPr>
              <a:t>关键特性</a:t>
            </a:r>
            <a:endParaRPr lang="en-US" sz="1100"/>
          </a:p>
        </p:txBody>
      </p:sp>
      <p:sp>
        <p:nvSpPr>
          <p:cNvPr id="7" name="AutoShape 7"/>
          <p:cNvSpPr/>
          <p:nvPr/>
        </p:nvSpPr>
        <p:spPr>
          <a:xfrm>
            <a:off x="762000" y="5207000"/>
            <a:ext cx="3429000" cy="889000"/>
          </a:xfrm>
          <a:prstGeom prst="roundRect">
            <a:avLst>
              <a:gd name="adj" fmla="val 14285"/>
            </a:avLst>
          </a:prstGeom>
          <a:solidFill>
            <a:srgbClr val="EFF6FF">
              <a:alpha val="100000"/>
            </a:srgbClr>
          </a:solidFill>
          <a:ln w="12700" cap="flat" cmpd="sng">
            <a:solidFill>
              <a:srgbClr val="BFDBFE">
                <a:alpha val="100000"/>
              </a:srgbClr>
            </a:solidFill>
            <a:prstDash val="solid"/>
            <a:round/>
          </a:ln>
        </p:spPr>
        <p:txBody>
          <a:bodyPr vert="horz" wrap="square" lIns="63500" tIns="63500" rIns="63500" bIns="63500" rtlCol="0" anchor="ctr"/>
          <a:lstStyle/>
          <a:p>
            <a:pPr algn="ctr">
              <a:defRPr/>
            </a:pPr>
            <a:endParaRPr/>
          </a:p>
        </p:txBody>
      </p:sp>
      <p:pic>
        <p:nvPicPr>
          <p:cNvPr id="8" name="Picture 8"/>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52500" y="5448300"/>
            <a:ext cx="406400" cy="406400"/>
          </a:xfrm>
          <a:prstGeom prst="rect">
            <a:avLst/>
          </a:prstGeom>
        </p:spPr>
      </p:pic>
      <p:sp>
        <p:nvSpPr>
          <p:cNvPr id="9" name="AutoShape 9"/>
          <p:cNvSpPr/>
          <p:nvPr/>
        </p:nvSpPr>
        <p:spPr>
          <a:xfrm>
            <a:off x="1460500" y="5397500"/>
            <a:ext cx="2667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212529"/>
                </a:solidFill>
                <a:latin typeface="Noto Sans SC"/>
                <a:ea typeface="Noto Sans SC"/>
                <a:cs typeface="Noto Sans SC"/>
                <a:sym typeface="Noto Sans SC"/>
              </a:rPr>
              <a:t>零后端依赖</a:t>
            </a:r>
            <a:endParaRPr lang="en-US" sz="1100"/>
          </a:p>
        </p:txBody>
      </p:sp>
      <p:sp>
        <p:nvSpPr>
          <p:cNvPr id="10" name="AutoShape 10"/>
          <p:cNvSpPr/>
          <p:nvPr/>
        </p:nvSpPr>
        <p:spPr>
          <a:xfrm>
            <a:off x="4381500" y="5207000"/>
            <a:ext cx="3429000" cy="889000"/>
          </a:xfrm>
          <a:prstGeom prst="roundRect">
            <a:avLst>
              <a:gd name="adj" fmla="val 14285"/>
            </a:avLst>
          </a:prstGeom>
          <a:solidFill>
            <a:srgbClr val="EFF6FF">
              <a:alpha val="100000"/>
            </a:srgbClr>
          </a:solidFill>
          <a:ln w="12700" cap="flat" cmpd="sng">
            <a:solidFill>
              <a:srgbClr val="BFDBFE">
                <a:alpha val="100000"/>
              </a:srgbClr>
            </a:solidFill>
            <a:prstDash val="solid"/>
            <a:round/>
          </a:ln>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572000" y="5448300"/>
            <a:ext cx="406400" cy="406400"/>
          </a:xfrm>
          <a:prstGeom prst="rect">
            <a:avLst/>
          </a:prstGeom>
        </p:spPr>
      </p:pic>
      <p:sp>
        <p:nvSpPr>
          <p:cNvPr id="12" name="AutoShape 12"/>
          <p:cNvSpPr/>
          <p:nvPr/>
        </p:nvSpPr>
        <p:spPr>
          <a:xfrm>
            <a:off x="5080000" y="5397500"/>
            <a:ext cx="2667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212529"/>
                </a:solidFill>
                <a:latin typeface="Noto Sans SC"/>
                <a:ea typeface="Noto Sans SC"/>
                <a:cs typeface="Noto Sans SC"/>
                <a:sym typeface="Noto Sans SC"/>
              </a:rPr>
              <a:t>零构建步骤</a:t>
            </a:r>
            <a:endParaRPr lang="en-US" sz="1100"/>
          </a:p>
        </p:txBody>
      </p:sp>
      <p:sp>
        <p:nvSpPr>
          <p:cNvPr id="13" name="AutoShape 13"/>
          <p:cNvSpPr/>
          <p:nvPr/>
        </p:nvSpPr>
        <p:spPr>
          <a:xfrm>
            <a:off x="8001000" y="5207000"/>
            <a:ext cx="3429000" cy="889000"/>
          </a:xfrm>
          <a:prstGeom prst="roundRect">
            <a:avLst>
              <a:gd name="adj" fmla="val 14285"/>
            </a:avLst>
          </a:prstGeom>
          <a:solidFill>
            <a:srgbClr val="EFF6FF">
              <a:alpha val="100000"/>
            </a:srgbClr>
          </a:solidFill>
          <a:ln w="12700" cap="flat" cmpd="sng">
            <a:solidFill>
              <a:srgbClr val="BFDBFE">
                <a:alpha val="100000"/>
              </a:srgbClr>
            </a:solidFill>
            <a:prstDash val="solid"/>
            <a:round/>
          </a:ln>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191500" y="5448300"/>
            <a:ext cx="406400" cy="406400"/>
          </a:xfrm>
          <a:prstGeom prst="rect">
            <a:avLst/>
          </a:prstGeom>
        </p:spPr>
      </p:pic>
      <p:sp>
        <p:nvSpPr>
          <p:cNvPr id="15" name="AutoShape 15"/>
          <p:cNvSpPr/>
          <p:nvPr/>
        </p:nvSpPr>
        <p:spPr>
          <a:xfrm>
            <a:off x="8699500" y="5397500"/>
            <a:ext cx="2667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212529"/>
                </a:solidFill>
                <a:latin typeface="Noto Sans SC"/>
                <a:ea typeface="Noto Sans SC"/>
                <a:cs typeface="Noto Sans SC"/>
                <a:sym typeface="Noto Sans SC"/>
              </a:rPr>
              <a:t>零npm包管理</a:t>
            </a:r>
            <a:endParaRPr lang="en-US" sz="11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762000" y="508000"/>
            <a:ext cx="30480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0D6EFD"/>
                </a:solidFill>
                <a:latin typeface="Noto Sans SC"/>
                <a:ea typeface="Noto Sans SC"/>
                <a:cs typeface="Noto Sans SC"/>
                <a:sym typeface="Noto Sans SC"/>
              </a:rPr>
              <a:t>核心模块实现</a:t>
            </a:r>
            <a:endParaRPr lang="en-US" sz="1100"/>
          </a:p>
        </p:txBody>
      </p:sp>
      <p:sp>
        <p:nvSpPr>
          <p:cNvPr id="4" name="AutoShape 4"/>
          <p:cNvSpPr/>
          <p:nvPr/>
        </p:nvSpPr>
        <p:spPr>
          <a:xfrm>
            <a:off x="762000" y="1397000"/>
            <a:ext cx="4826000" cy="3048000"/>
          </a:xfrm>
          <a:prstGeom prst="roundRect">
            <a:avLst>
              <a:gd name="adj" fmla="val 4166"/>
            </a:avLst>
          </a:prstGeom>
          <a:solidFill>
            <a:srgbClr val="FFFFFF">
              <a:alpha val="90000"/>
            </a:srgbClr>
          </a:solidFill>
          <a:ln w="25400" cap="flat" cmpd="sng">
            <a:noFill/>
            <a:prstDash val="solid"/>
            <a:round/>
          </a:ln>
          <a:effectLst>
            <a:outerShdw blurRad="127000" dist="50800" dir="5400000" algn="tl" rotWithShape="0">
              <a:srgbClr val="000000">
                <a:alpha val="10000"/>
              </a:srgbClr>
            </a:outerShdw>
          </a:effectLst>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4"/>
          <a:srcRect t="65" b="65"/>
          <a:stretch>
            <a:fillRect/>
          </a:stretch>
        </p:blipFill>
        <p:spPr>
          <a:xfrm>
            <a:off x="1016000" y="1701800"/>
            <a:ext cx="4318000" cy="2425700"/>
          </a:xfrm>
          <a:prstGeom prst="rect">
            <a:avLst/>
          </a:prstGeom>
          <a:noFill/>
          <a:ln w="25400" cap="flat" cmpd="sng">
            <a:noFill/>
            <a:prstDash val="solid"/>
            <a:round/>
          </a:ln>
        </p:spPr>
      </p:pic>
      <p:sp>
        <p:nvSpPr>
          <p:cNvPr id="6" name="AutoShape 6"/>
          <p:cNvSpPr/>
          <p:nvPr/>
        </p:nvSpPr>
        <p:spPr>
          <a:xfrm>
            <a:off x="762000" y="4572000"/>
            <a:ext cx="4826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6C757D"/>
                </a:solidFill>
                <a:latin typeface="Noto Sans SC"/>
                <a:ea typeface="Noto Sans SC"/>
                <a:cs typeface="Noto Sans SC"/>
                <a:sym typeface="Noto Sans SC"/>
              </a:rPr>
              <a:t>图：系统核心模块架构划分</a:t>
            </a:r>
            <a:endParaRPr lang="en-US" sz="1100"/>
          </a:p>
        </p:txBody>
      </p:sp>
      <p:sp>
        <p:nvSpPr>
          <p:cNvPr id="7" name="AutoShape 7"/>
          <p:cNvSpPr/>
          <p:nvPr/>
        </p:nvSpPr>
        <p:spPr>
          <a:xfrm>
            <a:off x="6096000" y="1397000"/>
            <a:ext cx="533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D6EFD"/>
                </a:solidFill>
                <a:latin typeface="Noto Sans SC"/>
                <a:ea typeface="Noto Sans SC"/>
                <a:cs typeface="Noto Sans SC"/>
                <a:sym typeface="Noto Sans SC"/>
              </a:rPr>
              <a:t>模块功能概览</a:t>
            </a:r>
            <a:endParaRPr lang="en-US" sz="1100"/>
          </a:p>
        </p:txBody>
      </p:sp>
      <p:sp>
        <p:nvSpPr>
          <p:cNvPr id="8" name="AutoShape 8"/>
          <p:cNvSpPr/>
          <p:nvPr/>
        </p:nvSpPr>
        <p:spPr>
          <a:xfrm>
            <a:off x="6096000" y="1905000"/>
            <a:ext cx="5334000" cy="635000"/>
          </a:xfrm>
          <a:prstGeom prst="roundRect">
            <a:avLst>
              <a:gd name="adj" fmla="val 10000"/>
            </a:avLst>
          </a:prstGeom>
          <a:solidFill>
            <a:srgbClr val="EFF6FF">
              <a:alpha val="80000"/>
            </a:srgbClr>
          </a:solidFill>
          <a:ln w="12700" cap="flat" cmpd="sng">
            <a:solidFill>
              <a:srgbClr val="BFDBFE">
                <a:alpha val="100000"/>
              </a:srgbClr>
            </a:solidFill>
            <a:prstDash val="solid"/>
            <a:round/>
          </a:ln>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223000" y="2070100"/>
            <a:ext cx="304800" cy="304800"/>
          </a:xfrm>
          <a:prstGeom prst="rect">
            <a:avLst/>
          </a:prstGeom>
        </p:spPr>
      </p:pic>
      <p:sp>
        <p:nvSpPr>
          <p:cNvPr id="10" name="AutoShape 10"/>
          <p:cNvSpPr/>
          <p:nvPr/>
        </p:nvSpPr>
        <p:spPr>
          <a:xfrm>
            <a:off x="6604000" y="1968500"/>
            <a:ext cx="4699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329"/>
                </a:solidFill>
                <a:latin typeface="Noto Sans SC"/>
                <a:ea typeface="Noto Sans SC"/>
                <a:cs typeface="Noto Sans SC"/>
                <a:sym typeface="Noto Sans SC"/>
              </a:rPr>
              <a:t>因子管理模块：</a:t>
            </a:r>
            <a:r>
              <a:rPr lang="en-US" sz="1400" b="0" i="0" u="none" strike="noStrike">
                <a:solidFill>
                  <a:srgbClr val="4B5563"/>
                </a:solidFill>
                <a:latin typeface="Noto Sans SC"/>
                <a:ea typeface="Noto Sans SC"/>
                <a:cs typeface="Noto Sans SC"/>
                <a:sym typeface="Noto Sans SC"/>
              </a:rPr>
              <a:t>负责影响因子的增删改查，维护数据基础。</a:t>
            </a:r>
            <a:endParaRPr lang="en-US" sz="1100"/>
          </a:p>
        </p:txBody>
      </p:sp>
      <p:sp>
        <p:nvSpPr>
          <p:cNvPr id="11" name="AutoShape 11"/>
          <p:cNvSpPr/>
          <p:nvPr/>
        </p:nvSpPr>
        <p:spPr>
          <a:xfrm>
            <a:off x="6096000" y="2667000"/>
            <a:ext cx="5334000" cy="635000"/>
          </a:xfrm>
          <a:prstGeom prst="roundRect">
            <a:avLst>
              <a:gd name="adj" fmla="val 10000"/>
            </a:avLst>
          </a:prstGeom>
          <a:solidFill>
            <a:srgbClr val="EFF6FF">
              <a:alpha val="80000"/>
            </a:srgbClr>
          </a:solidFill>
          <a:ln w="12700" cap="flat" cmpd="sng">
            <a:solidFill>
              <a:srgbClr val="BFDBFE">
                <a:alpha val="100000"/>
              </a:srgbClr>
            </a:solidFill>
            <a:prstDash val="solid"/>
            <a:round/>
          </a:ln>
        </p:spPr>
        <p:txBody>
          <a:bodyPr vert="horz" wrap="square" lIns="63500" tIns="63500" rIns="63500" bIns="63500" rtlCol="0" anchor="ctr"/>
          <a:lstStyle/>
          <a:p>
            <a:pPr algn="ctr">
              <a:defRPr/>
            </a:pPr>
            <a:endParaRPr/>
          </a:p>
        </p:txBody>
      </p:sp>
      <p:pic>
        <p:nvPicPr>
          <p:cNvPr id="12" name="Picture 12"/>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223000" y="2832100"/>
            <a:ext cx="304800" cy="304800"/>
          </a:xfrm>
          <a:prstGeom prst="rect">
            <a:avLst/>
          </a:prstGeom>
        </p:spPr>
      </p:pic>
      <p:sp>
        <p:nvSpPr>
          <p:cNvPr id="13" name="AutoShape 13"/>
          <p:cNvSpPr/>
          <p:nvPr/>
        </p:nvSpPr>
        <p:spPr>
          <a:xfrm>
            <a:off x="6604000" y="2730500"/>
            <a:ext cx="4699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329"/>
                </a:solidFill>
                <a:latin typeface="Noto Sans SC"/>
                <a:ea typeface="Noto Sans SC"/>
                <a:cs typeface="Noto Sans SC"/>
                <a:sym typeface="Noto Sans SC"/>
              </a:rPr>
              <a:t>AHP引擎模块：</a:t>
            </a:r>
            <a:r>
              <a:rPr lang="en-US" sz="1400" b="0" i="0" u="none" strike="noStrike">
                <a:solidFill>
                  <a:srgbClr val="4B5563"/>
                </a:solidFill>
                <a:latin typeface="Noto Sans SC"/>
                <a:ea typeface="Noto Sans SC"/>
                <a:cs typeface="Noto Sans SC"/>
                <a:sym typeface="Noto Sans SC"/>
              </a:rPr>
              <a:t>核心算法模块，构建判断矩阵、计算权重及一致性检验。</a:t>
            </a:r>
            <a:endParaRPr lang="en-US" sz="1100"/>
          </a:p>
        </p:txBody>
      </p:sp>
      <p:sp>
        <p:nvSpPr>
          <p:cNvPr id="14" name="AutoShape 14"/>
          <p:cNvSpPr/>
          <p:nvPr/>
        </p:nvSpPr>
        <p:spPr>
          <a:xfrm>
            <a:off x="6096000" y="3429000"/>
            <a:ext cx="5334000" cy="635000"/>
          </a:xfrm>
          <a:prstGeom prst="roundRect">
            <a:avLst>
              <a:gd name="adj" fmla="val 10000"/>
            </a:avLst>
          </a:prstGeom>
          <a:solidFill>
            <a:srgbClr val="EFF6FF">
              <a:alpha val="80000"/>
            </a:srgbClr>
          </a:solidFill>
          <a:ln w="12700" cap="flat" cmpd="sng">
            <a:solidFill>
              <a:srgbClr val="BFDBFE">
                <a:alpha val="100000"/>
              </a:srgbClr>
            </a:solidFill>
            <a:prstDash val="solid"/>
            <a:round/>
          </a:ln>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223000" y="3594100"/>
            <a:ext cx="304800" cy="304800"/>
          </a:xfrm>
          <a:prstGeom prst="rect">
            <a:avLst/>
          </a:prstGeom>
        </p:spPr>
      </p:pic>
      <p:sp>
        <p:nvSpPr>
          <p:cNvPr id="16" name="AutoShape 16"/>
          <p:cNvSpPr/>
          <p:nvPr/>
        </p:nvSpPr>
        <p:spPr>
          <a:xfrm>
            <a:off x="6604000" y="3492500"/>
            <a:ext cx="4699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329"/>
                </a:solidFill>
                <a:latin typeface="Noto Sans SC"/>
                <a:ea typeface="Noto Sans SC"/>
                <a:cs typeface="Noto Sans SC"/>
                <a:sym typeface="Noto Sans SC"/>
              </a:rPr>
              <a:t>方案管理模块：</a:t>
            </a:r>
            <a:r>
              <a:rPr lang="en-US" sz="1400" b="0" i="0" u="none" strike="noStrike">
                <a:solidFill>
                  <a:srgbClr val="4B5563"/>
                </a:solidFill>
                <a:latin typeface="Noto Sans SC"/>
                <a:ea typeface="Noto Sans SC"/>
                <a:cs typeface="Noto Sans SC"/>
                <a:sym typeface="Noto Sans SC"/>
              </a:rPr>
              <a:t>管理OKR/KR与方案，执行评分与排序逻辑。</a:t>
            </a:r>
            <a:endParaRPr lang="en-US" sz="1100"/>
          </a:p>
        </p:txBody>
      </p:sp>
      <p:sp>
        <p:nvSpPr>
          <p:cNvPr id="17" name="AutoShape 17"/>
          <p:cNvSpPr/>
          <p:nvPr/>
        </p:nvSpPr>
        <p:spPr>
          <a:xfrm>
            <a:off x="6096000" y="4318000"/>
            <a:ext cx="533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D6EFD"/>
                </a:solidFill>
                <a:latin typeface="Noto Sans SC"/>
                <a:ea typeface="Noto Sans SC"/>
                <a:cs typeface="Noto Sans SC"/>
                <a:sym typeface="Noto Sans SC"/>
              </a:rPr>
              <a:t>核心业务函数</a:t>
            </a:r>
            <a:endParaRPr lang="en-US" sz="1100"/>
          </a:p>
        </p:txBody>
      </p:sp>
      <p:graphicFrame>
        <p:nvGraphicFramePr>
          <p:cNvPr id="18" name="Table 18"/>
          <p:cNvGraphicFramePr>
            <a:graphicFrameLocks noGrp="1"/>
          </p:cNvGraphicFramePr>
          <p:nvPr/>
        </p:nvGraphicFramePr>
        <p:xfrm>
          <a:off x="6096000" y="4826000"/>
          <a:ext cx="5334000" cy="1518920"/>
        </p:xfrm>
        <a:graphic>
          <a:graphicData uri="http://schemas.openxmlformats.org/drawingml/2006/table">
            <a:tbl>
              <a:tblPr>
                <a:effectLst/>
              </a:tblPr>
              <a:tblGrid>
                <a:gridCol w="2032000">
                  <a:extLst>
                    <a:ext uri="{9D8B030D-6E8A-4147-A177-3AD203B41FA5}">
                      <a16:colId xmlns:a16="http://schemas.microsoft.com/office/drawing/2014/main" val="20000"/>
                    </a:ext>
                  </a:extLst>
                </a:gridCol>
                <a:gridCol w="3302000">
                  <a:extLst>
                    <a:ext uri="{9D8B030D-6E8A-4147-A177-3AD203B41FA5}">
                      <a16:colId xmlns:a16="http://schemas.microsoft.com/office/drawing/2014/main" val="20001"/>
                    </a:ext>
                  </a:extLst>
                </a:gridCol>
              </a:tblGrid>
              <a:tr h="444500">
                <a:tc>
                  <a:txBody>
                    <a:bodyPr/>
                    <a:lstStyle/>
                    <a:p>
                      <a:pPr indent="0" algn="ctr">
                        <a:lnSpc>
                          <a:spcPct val="100000"/>
                        </a:lnSpc>
                        <a:defRPr/>
                      </a:pPr>
                      <a:r>
                        <a:rPr lang="en-US" sz="1400" b="1" i="0" u="none" strike="noStrike">
                          <a:solidFill>
                            <a:srgbClr val="0D6EFD"/>
                          </a:solidFill>
                          <a:latin typeface="Noto Sans SC"/>
                          <a:ea typeface="Noto Sans SC"/>
                          <a:cs typeface="Noto Sans SC"/>
                          <a:sym typeface="Noto Sans SC"/>
                        </a:rPr>
                        <a:t>函数名称</a:t>
                      </a:r>
                      <a:endParaRPr lang="en-US" sz="1100"/>
                    </a:p>
                  </a:txBody>
                  <a:tcPr marL="101600" marR="101600" marT="101600" marB="101600" anchor="ctr">
                    <a:lnL>
                      <a:noFill/>
                    </a:lnL>
                    <a:lnR>
                      <a:noFill/>
                    </a:lnR>
                    <a:lnT>
                      <a:noFill/>
                    </a:lnT>
                    <a:lnB w="25400" cap="flat" cmpd="sng" algn="ctr">
                      <a:solidFill>
                        <a:srgbClr val="0D6EFD"/>
                      </a:solidFill>
                      <a:prstDash val="solid"/>
                      <a:round/>
                      <a:headEnd type="none" w="med" len="med"/>
                      <a:tailEnd type="none" w="med" len="med"/>
                    </a:lnB>
                    <a:solidFill>
                      <a:srgbClr val="0D6EFD">
                        <a:alpha val="10000"/>
                      </a:srgbClr>
                    </a:solidFill>
                  </a:tcPr>
                </a:tc>
                <a:tc>
                  <a:txBody>
                    <a:bodyPr/>
                    <a:lstStyle/>
                    <a:p>
                      <a:pPr indent="0" algn="ctr">
                        <a:lnSpc>
                          <a:spcPct val="100000"/>
                        </a:lnSpc>
                        <a:defRPr/>
                      </a:pPr>
                      <a:r>
                        <a:rPr lang="en-US" sz="1400" b="1" i="0" u="none" strike="noStrike">
                          <a:solidFill>
                            <a:srgbClr val="0D6EFD"/>
                          </a:solidFill>
                          <a:latin typeface="Noto Sans SC"/>
                          <a:ea typeface="Noto Sans SC"/>
                          <a:cs typeface="Noto Sans SC"/>
                          <a:sym typeface="Noto Sans SC"/>
                        </a:rPr>
                        <a:t>功能描述</a:t>
                      </a:r>
                      <a:endParaRPr lang="en-US" sz="1100"/>
                    </a:p>
                  </a:txBody>
                  <a:tcPr marL="101600" marR="101600" marT="101600" marB="101600" anchor="ctr">
                    <a:lnL>
                      <a:noFill/>
                    </a:lnL>
                    <a:lnR>
                      <a:noFill/>
                    </a:lnR>
                    <a:lnT>
                      <a:noFill/>
                    </a:lnT>
                    <a:lnB w="25400" cap="flat" cmpd="sng" algn="ctr">
                      <a:solidFill>
                        <a:srgbClr val="0D6EFD"/>
                      </a:solidFill>
                      <a:prstDash val="solid"/>
                      <a:round/>
                      <a:headEnd type="none" w="med" len="med"/>
                      <a:tailEnd type="none" w="med" len="med"/>
                    </a:lnB>
                    <a:solidFill>
                      <a:srgbClr val="0D6EFD">
                        <a:alpha val="10000"/>
                      </a:srgbClr>
                    </a:solidFill>
                  </a:tcPr>
                </a:tc>
                <a:extLst>
                  <a:ext uri="{0D108BD9-81ED-4DB2-BD59-A6C34878D82A}">
                    <a16:rowId xmlns:a16="http://schemas.microsoft.com/office/drawing/2014/main" val="10000"/>
                  </a:ext>
                </a:extLst>
              </a:tr>
              <a:tr h="444500">
                <a:tc>
                  <a:txBody>
                    <a:bodyPr/>
                    <a:lstStyle/>
                    <a:p>
                      <a:pPr indent="0" algn="ctr">
                        <a:lnSpc>
                          <a:spcPct val="100000"/>
                        </a:lnSpc>
                        <a:defRPr/>
                      </a:pPr>
                      <a:r>
                        <a:rPr lang="en-US" sz="1400" b="0" i="0" u="none" strike="noStrike">
                          <a:solidFill>
                            <a:srgbClr val="1F2329"/>
                          </a:solidFill>
                          <a:latin typeface="Consolas"/>
                          <a:ea typeface="Consolas"/>
                          <a:cs typeface="Consolas"/>
                          <a:sym typeface="Consolas"/>
                        </a:rPr>
                        <a:t>calculateAHPWeights()</a:t>
                      </a:r>
                      <a:endParaRPr lang="en-US" sz="1100"/>
                    </a:p>
                  </a:txBody>
                  <a:tcPr marL="101600" marR="101600" marT="101600" marB="101600" anchor="ctr">
                    <a:lnL>
                      <a:noFill/>
                    </a:lnL>
                    <a:lnR>
                      <a:noFill/>
                    </a:lnR>
                    <a:lnT w="25400" cap="flat" cmpd="sng" algn="ctr">
                      <a:solidFill>
                        <a:srgbClr val="0D6EFD"/>
                      </a:solidFill>
                      <a:prstDash val="solid"/>
                      <a:round/>
                      <a:headEnd type="none" w="med" len="med"/>
                      <a:tailEnd type="none" w="med" len="med"/>
                    </a:lnT>
                    <a:lnB>
                      <a:noFill/>
                    </a:lnB>
                    <a:solidFill>
                      <a:srgbClr val="FFFFFF">
                        <a:alpha val="80000"/>
                      </a:srgbClr>
                    </a:solidFill>
                  </a:tcPr>
                </a:tc>
                <a:tc>
                  <a:txBody>
                    <a:bodyPr/>
                    <a:lstStyle/>
                    <a:p>
                      <a:pPr indent="0" algn="l">
                        <a:lnSpc>
                          <a:spcPct val="100000"/>
                        </a:lnSpc>
                        <a:defRPr/>
                      </a:pPr>
                      <a:r>
                        <a:rPr lang="en-US" sz="1400" b="0" i="0" u="none" strike="noStrike">
                          <a:solidFill>
                            <a:srgbClr val="4B5563"/>
                          </a:solidFill>
                          <a:latin typeface="Noto Sans SC"/>
                          <a:ea typeface="Noto Sans SC"/>
                          <a:cs typeface="Noto Sans SC"/>
                          <a:sym typeface="Noto Sans SC"/>
                        </a:rPr>
                        <a:t>基于判断矩阵计算各因子权重值</a:t>
                      </a:r>
                      <a:endParaRPr lang="en-US" sz="1100"/>
                    </a:p>
                  </a:txBody>
                  <a:tcPr marL="101600" marR="101600" marT="101600" marB="101600" anchor="ctr">
                    <a:lnL>
                      <a:noFill/>
                    </a:lnL>
                    <a:lnR>
                      <a:noFill/>
                    </a:lnR>
                    <a:lnT w="25400" cap="flat" cmpd="sng" algn="ctr">
                      <a:solidFill>
                        <a:srgbClr val="0D6EFD"/>
                      </a:solidFill>
                      <a:prstDash val="solid"/>
                      <a:round/>
                      <a:headEnd type="none" w="med" len="med"/>
                      <a:tailEnd type="none" w="med" len="med"/>
                    </a:lnT>
                    <a:lnB>
                      <a:noFill/>
                    </a:lnB>
                    <a:solidFill>
                      <a:srgbClr val="FFFFFF">
                        <a:alpha val="80000"/>
                      </a:srgbClr>
                    </a:solidFill>
                  </a:tcPr>
                </a:tc>
                <a:extLst>
                  <a:ext uri="{0D108BD9-81ED-4DB2-BD59-A6C34878D82A}">
                    <a16:rowId xmlns:a16="http://schemas.microsoft.com/office/drawing/2014/main" val="10001"/>
                  </a:ext>
                </a:extLst>
              </a:tr>
              <a:tr h="444500">
                <a:tc>
                  <a:txBody>
                    <a:bodyPr/>
                    <a:lstStyle/>
                    <a:p>
                      <a:pPr indent="0" algn="ctr">
                        <a:lnSpc>
                          <a:spcPct val="100000"/>
                        </a:lnSpc>
                        <a:defRPr/>
                      </a:pPr>
                      <a:r>
                        <a:rPr lang="en-US" sz="1400" b="0" i="0" u="none" strike="noStrike">
                          <a:solidFill>
                            <a:srgbClr val="1F2329"/>
                          </a:solidFill>
                          <a:latin typeface="Consolas"/>
                          <a:ea typeface="Consolas"/>
                          <a:cs typeface="Consolas"/>
                          <a:sym typeface="Consolas"/>
                        </a:rPr>
                        <a:t>calculateOptimal()</a:t>
                      </a:r>
                      <a:endParaRPr lang="en-US" sz="1100"/>
                    </a:p>
                  </a:txBody>
                  <a:tcPr marL="101600" marR="101600" marT="101600" marB="101600" anchor="ctr">
                    <a:lnL>
                      <a:noFill/>
                    </a:lnL>
                    <a:lnR>
                      <a:noFill/>
                    </a:lnR>
                    <a:lnT>
                      <a:noFill/>
                    </a:lnT>
                    <a:lnB>
                      <a:noFill/>
                    </a:lnB>
                    <a:solidFill>
                      <a:srgbClr val="FFFFFF">
                        <a:alpha val="80000"/>
                      </a:srgbClr>
                    </a:solidFill>
                  </a:tcPr>
                </a:tc>
                <a:tc>
                  <a:txBody>
                    <a:bodyPr/>
                    <a:lstStyle/>
                    <a:p>
                      <a:pPr indent="0" algn="l">
                        <a:lnSpc>
                          <a:spcPct val="100000"/>
                        </a:lnSpc>
                        <a:defRPr/>
                      </a:pPr>
                      <a:r>
                        <a:rPr lang="en-US" sz="1400" b="0" i="0" u="none" strike="noStrike">
                          <a:solidFill>
                            <a:srgbClr val="4B5563"/>
                          </a:solidFill>
                          <a:latin typeface="Noto Sans SC"/>
                          <a:ea typeface="Noto Sans SC"/>
                          <a:cs typeface="Noto Sans SC"/>
                          <a:sym typeface="Noto Sans SC"/>
                        </a:rPr>
                        <a:t>对备选方案进行综合评分与排序</a:t>
                      </a:r>
                      <a:endParaRPr lang="en-US" sz="1100"/>
                    </a:p>
                  </a:txBody>
                  <a:tcPr marL="101600" marR="101600" marT="101600" marB="101600" anchor="ctr">
                    <a:lnL>
                      <a:noFill/>
                    </a:lnL>
                    <a:lnR>
                      <a:noFill/>
                    </a:lnR>
                    <a:lnT>
                      <a:noFill/>
                    </a:lnT>
                    <a:lnB>
                      <a:noFill/>
                    </a:lnB>
                    <a:solidFill>
                      <a:srgbClr val="FFFFFF">
                        <a:alpha val="80000"/>
                      </a:srgbClr>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508000"/>
            <a:ext cx="70358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0D6EFD"/>
                </a:solidFill>
                <a:latin typeface="Noto Sans SC"/>
                <a:ea typeface="Noto Sans SC"/>
                <a:cs typeface="Noto Sans SC"/>
                <a:sym typeface="Noto Sans SC"/>
              </a:rPr>
              <a:t>响应式设计实现：多端适配策略</a:t>
            </a:r>
            <a:endParaRPr lang="en-US" sz="1100"/>
          </a:p>
        </p:txBody>
      </p:sp>
      <p:sp>
        <p:nvSpPr>
          <p:cNvPr id="5" name="AutoShape 5"/>
          <p:cNvSpPr/>
          <p:nvPr/>
        </p:nvSpPr>
        <p:spPr>
          <a:xfrm>
            <a:off x="762000" y="1397000"/>
            <a:ext cx="5080000" cy="3556000"/>
          </a:xfrm>
          <a:prstGeom prst="roundRect">
            <a:avLst>
              <a:gd name="adj" fmla="val 3571"/>
            </a:avLst>
          </a:prstGeom>
          <a:solidFill>
            <a:srgbClr val="FFFFFF">
              <a:alpha val="100000"/>
            </a:srgbClr>
          </a:solidFill>
          <a:ln w="25400" cap="flat" cmpd="sng">
            <a:noFill/>
            <a:prstDash val="solid"/>
            <a:round/>
          </a:ln>
          <a:effectLst>
            <a:outerShdw blurRad="127000" dist="50800" dir="5400000" algn="tl" rotWithShape="0">
              <a:srgbClr val="000000">
                <a:alpha val="8000"/>
              </a:srgbClr>
            </a:outerShdw>
          </a:effectLst>
        </p:spPr>
        <p:txBody>
          <a:bodyPr vert="horz" wrap="square" lIns="63500" tIns="63500" rIns="63500" bIns="63500" rtlCol="0" anchor="ctr"/>
          <a:lstStyle/>
          <a:p>
            <a:pPr algn="ctr">
              <a:defRPr/>
            </a:pPr>
            <a:endParaRPr/>
          </a:p>
        </p:txBody>
      </p:sp>
      <p:sp>
        <p:nvSpPr>
          <p:cNvPr id="6" name="AutoShape 6"/>
          <p:cNvSpPr/>
          <p:nvPr/>
        </p:nvSpPr>
        <p:spPr>
          <a:xfrm>
            <a:off x="1016000" y="1587500"/>
            <a:ext cx="457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D6EFD"/>
                </a:solidFill>
                <a:latin typeface="Noto Sans SC"/>
                <a:ea typeface="Noto Sans SC"/>
                <a:cs typeface="Noto Sans SC"/>
                <a:sym typeface="Noto Sans SC"/>
              </a:rPr>
              <a:t>核心机制：断点设计 (Breakpoints)</a:t>
            </a:r>
            <a:endParaRPr lang="en-US" sz="1100"/>
          </a:p>
        </p:txBody>
      </p:sp>
      <p:sp>
        <p:nvSpPr>
          <p:cNvPr id="7" name="AutoShape 7"/>
          <p:cNvSpPr/>
          <p:nvPr/>
        </p:nvSpPr>
        <p:spPr>
          <a:xfrm>
            <a:off x="1016000" y="2032000"/>
            <a:ext cx="4572000" cy="762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400" b="0" i="0" u="none" strike="noStrike">
                <a:solidFill>
                  <a:srgbClr val="6C757D"/>
                </a:solidFill>
                <a:latin typeface="Noto Sans SC"/>
                <a:ea typeface="Noto Sans SC"/>
                <a:cs typeface="Noto Sans SC"/>
                <a:sym typeface="Noto Sans SC"/>
              </a:rPr>
              <a:t>利用 CSS 媒体查询（Media Query）为不同屏幕尺寸设定布局规则，实现从桌面到移动端的平滑过渡。</a:t>
            </a:r>
            <a:endParaRPr lang="en-US" sz="1100"/>
          </a:p>
        </p:txBody>
      </p:sp>
      <p:sp>
        <p:nvSpPr>
          <p:cNvPr id="8" name="AutoShape 8"/>
          <p:cNvSpPr/>
          <p:nvPr/>
        </p:nvSpPr>
        <p:spPr>
          <a:xfrm>
            <a:off x="1016000" y="2921000"/>
            <a:ext cx="4572000" cy="1270000"/>
          </a:xfrm>
          <a:prstGeom prst="roundRect">
            <a:avLst>
              <a:gd name="adj" fmla="val 5000"/>
            </a:avLst>
          </a:prstGeom>
          <a:solidFill>
            <a:srgbClr val="F8F9FA">
              <a:alpha val="100000"/>
            </a:srgbClr>
          </a:solidFill>
          <a:ln w="12700" cap="flat" cmpd="sng">
            <a:solidFill>
              <a:srgbClr val="DEE2E6">
                <a:alpha val="100000"/>
              </a:srgbClr>
            </a:solid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1143000" y="3048000"/>
            <a:ext cx="4318000" cy="1016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0" i="0" u="none" strike="noStrike">
                <a:solidFill>
                  <a:srgbClr val="6C757D"/>
                </a:solidFill>
                <a:latin typeface="Consolas"/>
                <a:ea typeface="Consolas"/>
                <a:cs typeface="Consolas"/>
                <a:sym typeface="Consolas"/>
              </a:rPr>
              <a:t>/* 桌面端布局 */</a:t>
            </a:r>
            <a:endParaRPr lang="en-US" sz="1100"/>
          </a:p>
          <a:p>
            <a:pPr indent="0" algn="l">
              <a:lnSpc>
                <a:spcPct val="100000"/>
              </a:lnSpc>
            </a:pPr>
            <a:r>
              <a:rPr lang="en-US" sz="1200" b="0" i="0" u="none" strike="noStrike">
                <a:solidFill>
                  <a:srgbClr val="0D6EFD"/>
                </a:solidFill>
                <a:latin typeface="Consolas"/>
                <a:ea typeface="Consolas"/>
                <a:cs typeface="Consolas"/>
                <a:sym typeface="Consolas"/>
              </a:rPr>
              <a:t>@media (min-width: 992px) {</a:t>
            </a:r>
            <a:r>
              <a:rPr lang="en-US" sz="1200" b="0" i="0" u="none" strike="noStrike">
                <a:solidFill>
                  <a:srgbClr val="6C757D"/>
                </a:solidFill>
                <a:latin typeface="Consolas"/>
                <a:ea typeface="Consolas"/>
                <a:cs typeface="Consolas"/>
                <a:sym typeface="Consolas"/>
              </a:rPr>
              <a:t>.col { width: 50%; } }</a:t>
            </a:r>
          </a:p>
          <a:p>
            <a:pPr indent="0" algn="l">
              <a:lnSpc>
                <a:spcPct val="100000"/>
              </a:lnSpc>
            </a:pPr>
            <a:r>
              <a:rPr lang="en-US" sz="1200" b="0" i="0" u="none" strike="noStrike">
                <a:solidFill>
                  <a:srgbClr val="6C757D"/>
                </a:solidFill>
                <a:latin typeface="Consolas"/>
                <a:ea typeface="Consolas"/>
                <a:cs typeface="Consolas"/>
                <a:sym typeface="Consolas"/>
              </a:rPr>
              <a:t>/* 移动端布局 */</a:t>
            </a:r>
          </a:p>
          <a:p>
            <a:pPr indent="0" algn="l">
              <a:lnSpc>
                <a:spcPct val="100000"/>
              </a:lnSpc>
            </a:pPr>
            <a:r>
              <a:rPr lang="en-US" sz="1200" b="0" i="0" u="none" strike="noStrike">
                <a:solidFill>
                  <a:srgbClr val="0D6EFD"/>
                </a:solidFill>
                <a:latin typeface="Consolas"/>
                <a:ea typeface="Consolas"/>
                <a:cs typeface="Consolas"/>
                <a:sym typeface="Consolas"/>
              </a:rPr>
              <a:t>@media (max-width: 768px) {</a:t>
            </a:r>
            <a:r>
              <a:rPr lang="en-US" sz="1200" b="0" i="0" u="none" strike="noStrike">
                <a:solidFill>
                  <a:srgbClr val="6C757D"/>
                </a:solidFill>
                <a:latin typeface="Consolas"/>
                <a:ea typeface="Consolas"/>
                <a:cs typeface="Consolas"/>
                <a:sym typeface="Consolas"/>
              </a:rPr>
              <a:t>.col { width: 100%; } }</a:t>
            </a:r>
          </a:p>
        </p:txBody>
      </p:sp>
      <p:sp>
        <p:nvSpPr>
          <p:cNvPr id="10" name="AutoShape 10"/>
          <p:cNvSpPr/>
          <p:nvPr/>
        </p:nvSpPr>
        <p:spPr>
          <a:xfrm>
            <a:off x="6350000" y="1397000"/>
            <a:ext cx="5080000" cy="3556000"/>
          </a:xfrm>
          <a:prstGeom prst="roundRect">
            <a:avLst>
              <a:gd name="adj" fmla="val 3571"/>
            </a:avLst>
          </a:prstGeom>
          <a:solidFill>
            <a:srgbClr val="FFFFFF">
              <a:alpha val="100000"/>
            </a:srgbClr>
          </a:solidFill>
          <a:ln w="25400" cap="flat" cmpd="sng">
            <a:noFill/>
            <a:prstDash val="solid"/>
            <a:round/>
          </a:ln>
          <a:effectLst>
            <a:outerShdw blurRad="127000" dist="50800" dir="5400000" algn="tl" rotWithShape="0">
              <a:srgbClr val="000000">
                <a:alpha val="8000"/>
              </a:srgbClr>
            </a:outerShdw>
          </a:effectLst>
        </p:spPr>
        <p:txBody>
          <a:bodyPr vert="horz" wrap="square" lIns="63500" tIns="63500" rIns="63500" bIns="63500" rtlCol="0" anchor="ctr"/>
          <a:lstStyle/>
          <a:p>
            <a:pPr algn="ctr">
              <a:defRPr/>
            </a:pPr>
            <a:endParaRPr/>
          </a:p>
        </p:txBody>
      </p:sp>
      <p:sp>
        <p:nvSpPr>
          <p:cNvPr id="11" name="AutoShape 11"/>
          <p:cNvSpPr/>
          <p:nvPr/>
        </p:nvSpPr>
        <p:spPr>
          <a:xfrm>
            <a:off x="6604000" y="1587500"/>
            <a:ext cx="457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D6EFD"/>
                </a:solidFill>
                <a:latin typeface="Noto Sans SC"/>
                <a:ea typeface="Noto Sans SC"/>
                <a:cs typeface="Noto Sans SC"/>
                <a:sym typeface="Noto Sans SC"/>
              </a:rPr>
              <a:t>适配策略：三端体验一致性</a:t>
            </a:r>
            <a:endParaRPr lang="en-US" sz="1100"/>
          </a:p>
        </p:txBody>
      </p:sp>
      <p:pic>
        <p:nvPicPr>
          <p:cNvPr id="12" name="Picture 12"/>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604000" y="2159000"/>
            <a:ext cx="406400" cy="406400"/>
          </a:xfrm>
          <a:prstGeom prst="rect">
            <a:avLst/>
          </a:prstGeom>
        </p:spPr>
      </p:pic>
      <p:sp>
        <p:nvSpPr>
          <p:cNvPr id="13" name="AutoShape 13"/>
          <p:cNvSpPr/>
          <p:nvPr/>
        </p:nvSpPr>
        <p:spPr>
          <a:xfrm>
            <a:off x="7112000" y="2095500"/>
            <a:ext cx="3937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43A40"/>
                </a:solidFill>
                <a:latin typeface="Noto Sans SC"/>
                <a:ea typeface="Noto Sans SC"/>
                <a:cs typeface="Noto Sans SC"/>
                <a:sym typeface="Noto Sans SC"/>
              </a:rPr>
              <a:t>桌面端 (Desktop)</a:t>
            </a:r>
            <a:endParaRPr lang="en-US" sz="1100"/>
          </a:p>
          <a:p>
            <a:pPr indent="0" algn="l">
              <a:lnSpc>
                <a:spcPct val="125000"/>
              </a:lnSpc>
            </a:pPr>
            <a:r>
              <a:rPr lang="en-US" sz="1300" b="0" i="0" u="none" strike="noStrike">
                <a:solidFill>
                  <a:srgbClr val="6C757D"/>
                </a:solidFill>
                <a:latin typeface="Noto Sans SC"/>
                <a:ea typeface="Noto Sans SC"/>
                <a:cs typeface="Noto Sans SC"/>
                <a:sym typeface="Noto Sans SC"/>
              </a:rPr>
              <a:t>双栏并列布局，充分利用宽屏空间，支持鼠标悬停交互。</a:t>
            </a:r>
          </a:p>
        </p:txBody>
      </p:sp>
      <p:pic>
        <p:nvPicPr>
          <p:cNvPr id="14" name="Picture 14"/>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604000" y="2921000"/>
            <a:ext cx="406400" cy="406400"/>
          </a:xfrm>
          <a:prstGeom prst="rect">
            <a:avLst/>
          </a:prstGeom>
        </p:spPr>
      </p:pic>
      <p:sp>
        <p:nvSpPr>
          <p:cNvPr id="15" name="AutoShape 15"/>
          <p:cNvSpPr/>
          <p:nvPr/>
        </p:nvSpPr>
        <p:spPr>
          <a:xfrm>
            <a:off x="7112000" y="2857500"/>
            <a:ext cx="3937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43A40"/>
                </a:solidFill>
                <a:latin typeface="Noto Sans SC"/>
                <a:ea typeface="Noto Sans SC"/>
                <a:cs typeface="Noto Sans SC"/>
                <a:sym typeface="Noto Sans SC"/>
              </a:rPr>
              <a:t>平板端 (Tablet)</a:t>
            </a:r>
            <a:endParaRPr lang="en-US" sz="1100"/>
          </a:p>
          <a:p>
            <a:pPr indent="0" algn="l">
              <a:lnSpc>
                <a:spcPct val="125000"/>
              </a:lnSpc>
            </a:pPr>
            <a:r>
              <a:rPr lang="en-US" sz="1300" b="0" i="0" u="none" strike="noStrike">
                <a:solidFill>
                  <a:srgbClr val="6C757D"/>
                </a:solidFill>
                <a:latin typeface="Noto Sans SC"/>
                <a:ea typeface="Noto Sans SC"/>
                <a:cs typeface="Noto Sans SC"/>
                <a:sym typeface="Noto Sans SC"/>
              </a:rPr>
              <a:t>自适应流式布局，放大交互按钮，优化触控体验。</a:t>
            </a:r>
          </a:p>
        </p:txBody>
      </p:sp>
      <p:pic>
        <p:nvPicPr>
          <p:cNvPr id="16" name="Picture 16"/>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604000" y="3683000"/>
            <a:ext cx="406400" cy="406400"/>
          </a:xfrm>
          <a:prstGeom prst="rect">
            <a:avLst/>
          </a:prstGeom>
        </p:spPr>
      </p:pic>
      <p:sp>
        <p:nvSpPr>
          <p:cNvPr id="17" name="AutoShape 17"/>
          <p:cNvSpPr/>
          <p:nvPr/>
        </p:nvSpPr>
        <p:spPr>
          <a:xfrm>
            <a:off x="7112000" y="3619500"/>
            <a:ext cx="3937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43A40"/>
                </a:solidFill>
                <a:latin typeface="Noto Sans SC"/>
                <a:ea typeface="Noto Sans SC"/>
                <a:cs typeface="Noto Sans SC"/>
                <a:sym typeface="Noto Sans SC"/>
              </a:rPr>
              <a:t>手机端 (Mobile)</a:t>
            </a:r>
            <a:endParaRPr lang="en-US" sz="1100"/>
          </a:p>
          <a:p>
            <a:pPr indent="0" algn="l">
              <a:lnSpc>
                <a:spcPct val="125000"/>
              </a:lnSpc>
            </a:pPr>
            <a:r>
              <a:rPr lang="en-US" sz="1300" b="0" i="0" u="none" strike="noStrike">
                <a:solidFill>
                  <a:srgbClr val="6C757D"/>
                </a:solidFill>
                <a:latin typeface="Noto Sans SC"/>
                <a:ea typeface="Noto Sans SC"/>
                <a:cs typeface="Noto Sans SC"/>
                <a:sym typeface="Noto Sans SC"/>
              </a:rPr>
              <a:t>单栏堆叠布局，简化信息层级，确保小屏可用性。</a:t>
            </a:r>
          </a:p>
        </p:txBody>
      </p:sp>
      <p:sp>
        <p:nvSpPr>
          <p:cNvPr id="18" name="AutoShape 18"/>
          <p:cNvSpPr/>
          <p:nvPr/>
        </p:nvSpPr>
        <p:spPr>
          <a:xfrm>
            <a:off x="762000" y="5207000"/>
            <a:ext cx="10668000" cy="762000"/>
          </a:xfrm>
          <a:prstGeom prst="roundRect">
            <a:avLst>
              <a:gd name="adj" fmla="val 16666"/>
            </a:avLst>
          </a:prstGeom>
          <a:solidFill>
            <a:srgbClr val="EFF6FF">
              <a:alpha val="100000"/>
            </a:srgbClr>
          </a:solidFill>
          <a:ln w="12700" cap="flat" cmpd="sng">
            <a:solidFill>
              <a:srgbClr val="BFDBFE">
                <a:alpha val="100000"/>
              </a:srgbClr>
            </a:solidFill>
            <a:prstDash val="solid"/>
            <a:round/>
          </a:ln>
        </p:spPr>
        <p:txBody>
          <a:bodyPr vert="horz" wrap="square" lIns="63500" tIns="63500" rIns="63500" bIns="63500" rtlCol="0" anchor="ctr"/>
          <a:lstStyle/>
          <a:p>
            <a:pPr algn="ctr">
              <a:defRPr/>
            </a:pPr>
            <a:endParaRPr/>
          </a:p>
        </p:txBody>
      </p:sp>
      <p:pic>
        <p:nvPicPr>
          <p:cNvPr id="19" name="Picture 19"/>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016000" y="5435600"/>
            <a:ext cx="304800" cy="304800"/>
          </a:xfrm>
          <a:prstGeom prst="rect">
            <a:avLst/>
          </a:prstGeom>
        </p:spPr>
      </p:pic>
      <p:sp>
        <p:nvSpPr>
          <p:cNvPr id="20" name="AutoShape 20"/>
          <p:cNvSpPr/>
          <p:nvPr/>
        </p:nvSpPr>
        <p:spPr>
          <a:xfrm>
            <a:off x="1460500" y="5334000"/>
            <a:ext cx="9652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1E40AF"/>
                </a:solidFill>
                <a:latin typeface="Noto Sans SC"/>
                <a:ea typeface="Noto Sans SC"/>
                <a:cs typeface="Noto Sans SC"/>
                <a:sym typeface="Noto Sans SC"/>
              </a:rPr>
              <a:t>设计目标：</a:t>
            </a:r>
            <a:r>
              <a:rPr lang="en-US" sz="1500" b="0" i="0" u="none" strike="noStrike">
                <a:solidFill>
                  <a:srgbClr val="1E40AF"/>
                </a:solidFill>
                <a:latin typeface="Noto Sans SC"/>
                <a:ea typeface="Noto Sans SC"/>
                <a:cs typeface="Noto Sans SC"/>
                <a:sym typeface="Noto Sans SC"/>
              </a:rPr>
              <a:t>无论用户使用何种设备，都能获得一致、流畅且高效的操作体验，最大化工具的可用性。</a:t>
            </a:r>
            <a:endParaRPr lang="en-US" sz="11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FFFFFF">
              <a:alpha val="9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508000"/>
            <a:ext cx="90551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0D6EFD"/>
                </a:solidFill>
                <a:latin typeface="Noto Sans SC"/>
                <a:ea typeface="Noto Sans SC"/>
                <a:cs typeface="Noto Sans SC"/>
                <a:sym typeface="Noto Sans SC"/>
              </a:rPr>
              <a:t>案例背景：某创业团队产品开发决策</a:t>
            </a:r>
            <a:endParaRPr lang="en-US" sz="1100"/>
          </a:p>
        </p:txBody>
      </p:sp>
      <p:sp>
        <p:nvSpPr>
          <p:cNvPr id="5" name="AutoShape 5"/>
          <p:cNvSpPr/>
          <p:nvPr/>
        </p:nvSpPr>
        <p:spPr>
          <a:xfrm>
            <a:off x="762000" y="1397000"/>
            <a:ext cx="10668000" cy="889000"/>
          </a:xfrm>
          <a:prstGeom prst="roundRect">
            <a:avLst>
              <a:gd name="adj" fmla="val 14285"/>
            </a:avLst>
          </a:prstGeom>
          <a:solidFill>
            <a:srgbClr val="EFF6FF">
              <a:alpha val="100000"/>
            </a:srgbClr>
          </a:solidFill>
          <a:ln w="12700" cap="flat" cmpd="sng">
            <a:solidFill>
              <a:srgbClr val="BFDBFE">
                <a:alpha val="100000"/>
              </a:srgbClr>
            </a:solid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1638300"/>
            <a:ext cx="406400" cy="406400"/>
          </a:xfrm>
          <a:prstGeom prst="rect">
            <a:avLst/>
          </a:prstGeom>
        </p:spPr>
      </p:pic>
      <p:sp>
        <p:nvSpPr>
          <p:cNvPr id="7" name="AutoShape 7"/>
          <p:cNvSpPr/>
          <p:nvPr/>
        </p:nvSpPr>
        <p:spPr>
          <a:xfrm>
            <a:off x="1587500" y="1524000"/>
            <a:ext cx="889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D6EFD"/>
                </a:solidFill>
                <a:latin typeface="Noto Sans SC"/>
                <a:ea typeface="Noto Sans SC"/>
                <a:cs typeface="Noto Sans SC"/>
                <a:sym typeface="Noto Sans SC"/>
              </a:rPr>
              <a:t>案例背景</a:t>
            </a:r>
            <a:endParaRPr lang="en-US" sz="1100"/>
          </a:p>
        </p:txBody>
      </p:sp>
      <p:sp>
        <p:nvSpPr>
          <p:cNvPr id="8" name="AutoShape 8"/>
          <p:cNvSpPr/>
          <p:nvPr/>
        </p:nvSpPr>
        <p:spPr>
          <a:xfrm>
            <a:off x="1587500" y="1879600"/>
            <a:ext cx="889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495057"/>
                </a:solidFill>
                <a:latin typeface="Noto Sans SC"/>
                <a:ea typeface="Noto Sans SC"/>
                <a:cs typeface="Noto Sans SC"/>
                <a:sym typeface="Noto Sans SC"/>
              </a:rPr>
              <a:t>某创业团队计划在第三季度完成核心产品的MVP开发，面临资源有限与技术选型的双重挑战。</a:t>
            </a:r>
            <a:endParaRPr lang="en-US" sz="1100"/>
          </a:p>
        </p:txBody>
      </p:sp>
      <p:sp>
        <p:nvSpPr>
          <p:cNvPr id="9" name="AutoShape 9"/>
          <p:cNvSpPr/>
          <p:nvPr/>
        </p:nvSpPr>
        <p:spPr>
          <a:xfrm>
            <a:off x="762000" y="2476500"/>
            <a:ext cx="10668000" cy="889000"/>
          </a:xfrm>
          <a:prstGeom prst="roundRect">
            <a:avLst>
              <a:gd name="adj" fmla="val 14285"/>
            </a:avLst>
          </a:prstGeom>
          <a:solidFill>
            <a:srgbClr val="EFF6FF">
              <a:alpha val="100000"/>
            </a:srgbClr>
          </a:solidFill>
          <a:ln w="12700" cap="flat" cmpd="sng">
            <a:solidFill>
              <a:srgbClr val="BFDBFE">
                <a:alpha val="100000"/>
              </a:srgbClr>
            </a:solid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16000" y="2717800"/>
            <a:ext cx="406400" cy="406400"/>
          </a:xfrm>
          <a:prstGeom prst="rect">
            <a:avLst/>
          </a:prstGeom>
        </p:spPr>
      </p:pic>
      <p:sp>
        <p:nvSpPr>
          <p:cNvPr id="11" name="AutoShape 11"/>
          <p:cNvSpPr/>
          <p:nvPr/>
        </p:nvSpPr>
        <p:spPr>
          <a:xfrm>
            <a:off x="1587500" y="2603500"/>
            <a:ext cx="889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D6EFD"/>
                </a:solidFill>
                <a:latin typeface="Noto Sans SC"/>
                <a:ea typeface="Noto Sans SC"/>
                <a:cs typeface="Noto Sans SC"/>
                <a:sym typeface="Noto Sans SC"/>
              </a:rPr>
              <a:t>OKR 目标</a:t>
            </a:r>
            <a:endParaRPr lang="en-US" sz="1100"/>
          </a:p>
        </p:txBody>
      </p:sp>
      <p:sp>
        <p:nvSpPr>
          <p:cNvPr id="12" name="AutoShape 12"/>
          <p:cNvSpPr/>
          <p:nvPr/>
        </p:nvSpPr>
        <p:spPr>
          <a:xfrm>
            <a:off x="1587500" y="2959100"/>
            <a:ext cx="889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495057"/>
                </a:solidFill>
                <a:latin typeface="Noto Sans SC"/>
                <a:ea typeface="Noto Sans SC"/>
                <a:cs typeface="Noto Sans SC"/>
                <a:sym typeface="Noto Sans SC"/>
              </a:rPr>
              <a:t>Q3 核心目标：完成核心产品 MVP 开发，确保产品功能闭环与基础稳定性。</a:t>
            </a:r>
            <a:endParaRPr lang="en-US" sz="1100"/>
          </a:p>
        </p:txBody>
      </p:sp>
      <p:sp>
        <p:nvSpPr>
          <p:cNvPr id="13" name="AutoShape 13"/>
          <p:cNvSpPr/>
          <p:nvPr/>
        </p:nvSpPr>
        <p:spPr>
          <a:xfrm>
            <a:off x="762000" y="3556000"/>
            <a:ext cx="10668000" cy="1397000"/>
          </a:xfrm>
          <a:prstGeom prst="roundRect">
            <a:avLst>
              <a:gd name="adj" fmla="val 9090"/>
            </a:avLst>
          </a:prstGeom>
          <a:solidFill>
            <a:srgbClr val="EFF6FF">
              <a:alpha val="100000"/>
            </a:srgbClr>
          </a:solidFill>
          <a:ln w="12700" cap="flat" cmpd="sng">
            <a:solidFill>
              <a:srgbClr val="BFDBFE">
                <a:alpha val="100000"/>
              </a:srgbClr>
            </a:solidFill>
            <a:prstDash val="solid"/>
            <a:round/>
          </a:ln>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16000" y="4051300"/>
            <a:ext cx="406400" cy="406400"/>
          </a:xfrm>
          <a:prstGeom prst="rect">
            <a:avLst/>
          </a:prstGeom>
        </p:spPr>
      </p:pic>
      <p:sp>
        <p:nvSpPr>
          <p:cNvPr id="15" name="AutoShape 15"/>
          <p:cNvSpPr/>
          <p:nvPr/>
        </p:nvSpPr>
        <p:spPr>
          <a:xfrm>
            <a:off x="1587500" y="3683000"/>
            <a:ext cx="889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D6EFD"/>
                </a:solidFill>
                <a:latin typeface="Noto Sans SC"/>
                <a:ea typeface="Noto Sans SC"/>
                <a:cs typeface="Noto Sans SC"/>
                <a:sym typeface="Noto Sans SC"/>
              </a:rPr>
              <a:t>关键结果 (KR)</a:t>
            </a:r>
            <a:endParaRPr lang="en-US" sz="1100"/>
          </a:p>
        </p:txBody>
      </p:sp>
      <p:sp>
        <p:nvSpPr>
          <p:cNvPr id="16" name="AutoShape 16"/>
          <p:cNvSpPr/>
          <p:nvPr/>
        </p:nvSpPr>
        <p:spPr>
          <a:xfrm>
            <a:off x="1587500" y="4064000"/>
            <a:ext cx="8890000" cy="762000"/>
          </a:xfrm>
          <a:prstGeom prst="rect">
            <a:avLst/>
          </a:prstGeom>
          <a:noFill/>
          <a:ln w="12700" cap="flat" cmpd="sng">
            <a:noFill/>
            <a:prstDash val="solid"/>
            <a:round/>
          </a:ln>
        </p:spPr>
        <p:txBody>
          <a:bodyPr vert="horz" wrap="square" lIns="0" tIns="0" rIns="0" bIns="0" rtlCol="0" anchor="ctr" anchorCtr="0"/>
          <a:lstStyle/>
          <a:p>
            <a:pPr marL="177800" indent="-177800" algn="l">
              <a:lnSpc>
                <a:spcPct val="125000"/>
              </a:lnSpc>
              <a:buClr>
                <a:srgbClr val="495057"/>
              </a:buClr>
              <a:buChar char="•"/>
              <a:defRPr/>
            </a:pPr>
            <a:r>
              <a:rPr lang="en-US" sz="1400" b="0" i="0" u="none" strike="noStrike">
                <a:solidFill>
                  <a:srgbClr val="495057"/>
                </a:solidFill>
                <a:latin typeface="Noto Sans SC"/>
                <a:ea typeface="Noto Sans SC"/>
                <a:cs typeface="Noto Sans SC"/>
                <a:sym typeface="Noto Sans SC"/>
              </a:rPr>
              <a:t>KR1：完成前端界面开发，实现用户交互流程</a:t>
            </a:r>
            <a:endParaRPr lang="en-US" sz="1100"/>
          </a:p>
          <a:p>
            <a:pPr marL="177800" indent="-177800" algn="l">
              <a:lnSpc>
                <a:spcPct val="125000"/>
              </a:lnSpc>
              <a:buClr>
                <a:srgbClr val="495057"/>
              </a:buClr>
              <a:buChar char="•"/>
            </a:pPr>
            <a:r>
              <a:rPr lang="en-US" sz="1400" b="0" i="0" u="none" strike="noStrike">
                <a:solidFill>
                  <a:srgbClr val="495057"/>
                </a:solidFill>
                <a:latin typeface="Noto Sans SC"/>
                <a:ea typeface="Noto Sans SC"/>
                <a:cs typeface="Noto Sans SC"/>
                <a:sym typeface="Noto Sans SC"/>
              </a:rPr>
              <a:t>KR2：完成后端 API 开发，支撑核心业务逻辑</a:t>
            </a:r>
          </a:p>
          <a:p>
            <a:pPr marL="177800" indent="-177800" algn="l">
              <a:lnSpc>
                <a:spcPct val="125000"/>
              </a:lnSpc>
              <a:buClr>
                <a:srgbClr val="495057"/>
              </a:buClr>
              <a:buChar char="•"/>
            </a:pPr>
            <a:r>
              <a:rPr lang="en-US" sz="1400" b="0" i="0" u="none" strike="noStrike">
                <a:solidFill>
                  <a:srgbClr val="495057"/>
                </a:solidFill>
                <a:latin typeface="Noto Sans SC"/>
                <a:ea typeface="Noto Sans SC"/>
                <a:cs typeface="Noto Sans SC"/>
                <a:sym typeface="Noto Sans SC"/>
              </a:rPr>
              <a:t>KR3：完成数据库设计，保障数据存储与检索效率</a:t>
            </a:r>
          </a:p>
        </p:txBody>
      </p:sp>
      <p:sp>
        <p:nvSpPr>
          <p:cNvPr id="17" name="AutoShape 17"/>
          <p:cNvSpPr/>
          <p:nvPr/>
        </p:nvSpPr>
        <p:spPr>
          <a:xfrm>
            <a:off x="762000" y="5143500"/>
            <a:ext cx="10668000" cy="889000"/>
          </a:xfrm>
          <a:prstGeom prst="roundRect">
            <a:avLst>
              <a:gd name="adj" fmla="val 14285"/>
            </a:avLst>
          </a:prstGeom>
          <a:solidFill>
            <a:srgbClr val="EFF6FF">
              <a:alpha val="100000"/>
            </a:srgbClr>
          </a:solidFill>
          <a:ln w="12700" cap="flat" cmpd="sng">
            <a:solidFill>
              <a:srgbClr val="BFDBFE">
                <a:alpha val="100000"/>
              </a:srgbClr>
            </a:solidFill>
            <a:prstDash val="solid"/>
            <a:round/>
          </a:ln>
        </p:spPr>
        <p:txBody>
          <a:bodyPr vert="horz" wrap="square" lIns="63500" tIns="63500" rIns="63500" bIns="63500" rtlCol="0" anchor="ctr"/>
          <a:lstStyle/>
          <a:p>
            <a:pPr algn="ctr">
              <a:defRPr/>
            </a:pPr>
            <a:endParaRPr/>
          </a:p>
        </p:txBody>
      </p:sp>
      <p:pic>
        <p:nvPicPr>
          <p:cNvPr id="18" name="Picture 18"/>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016000" y="5384800"/>
            <a:ext cx="406400" cy="406400"/>
          </a:xfrm>
          <a:prstGeom prst="rect">
            <a:avLst/>
          </a:prstGeom>
        </p:spPr>
      </p:pic>
      <p:sp>
        <p:nvSpPr>
          <p:cNvPr id="19" name="AutoShape 19"/>
          <p:cNvSpPr/>
          <p:nvPr/>
        </p:nvSpPr>
        <p:spPr>
          <a:xfrm>
            <a:off x="1587500" y="5270500"/>
            <a:ext cx="889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D6EFD"/>
                </a:solidFill>
                <a:latin typeface="Noto Sans SC"/>
                <a:ea typeface="Noto Sans SC"/>
                <a:cs typeface="Noto Sans SC"/>
                <a:sym typeface="Noto Sans SC"/>
              </a:rPr>
              <a:t>决策需求</a:t>
            </a:r>
            <a:endParaRPr lang="en-US" sz="1100"/>
          </a:p>
        </p:txBody>
      </p:sp>
      <p:sp>
        <p:nvSpPr>
          <p:cNvPr id="20" name="AutoShape 20"/>
          <p:cNvSpPr/>
          <p:nvPr/>
        </p:nvSpPr>
        <p:spPr>
          <a:xfrm>
            <a:off x="1587500" y="5626100"/>
            <a:ext cx="889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495057"/>
                </a:solidFill>
                <a:latin typeface="Noto Sans SC"/>
                <a:ea typeface="Noto Sans SC"/>
                <a:cs typeface="Noto Sans SC"/>
                <a:sym typeface="Noto Sans SC"/>
              </a:rPr>
              <a:t>每个 KR 均有多种技术实现方案，需为每个环节选择最优方案，以确保在有限资源下高效完成 MVP。</a:t>
            </a:r>
            <a:endParaRPr lang="en-US" sz="11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508000"/>
            <a:ext cx="30226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0D6EFD"/>
                </a:solidFill>
                <a:latin typeface="Noto Sans SC"/>
                <a:ea typeface="Noto Sans SC"/>
                <a:cs typeface="Noto Sans SC"/>
                <a:sym typeface="Noto Sans SC"/>
              </a:rPr>
              <a:t>影响因子确定</a:t>
            </a:r>
            <a:endParaRPr lang="en-US" sz="1100"/>
          </a:p>
        </p:txBody>
      </p:sp>
      <p:sp>
        <p:nvSpPr>
          <p:cNvPr id="5" name="AutoShape 5"/>
          <p:cNvSpPr/>
          <p:nvPr/>
        </p:nvSpPr>
        <p:spPr>
          <a:xfrm>
            <a:off x="762000" y="1206500"/>
            <a:ext cx="762000" cy="50800"/>
          </a:xfrm>
          <a:prstGeom prst="roundRect">
            <a:avLst>
              <a:gd name="adj" fmla="val 0"/>
            </a:avLst>
          </a:prstGeom>
          <a:solidFill>
            <a:srgbClr val="0D6EFD">
              <a:alpha val="100000"/>
            </a:srgbClr>
          </a:solidFill>
          <a:ln w="25400" cap="flat" cmpd="sng">
            <a:noFill/>
            <a:prstDash val="solid"/>
            <a:round/>
          </a:ln>
        </p:spPr>
        <p:txBody>
          <a:bodyPr vert="horz" wrap="square" lIns="63500" tIns="63500" rIns="63500" bIns="63500" rtlCol="0" anchor="ctr"/>
          <a:lstStyle/>
          <a:p>
            <a:pPr algn="ctr">
              <a:defRPr/>
            </a:pPr>
            <a:endParaRPr/>
          </a:p>
        </p:txBody>
      </p:sp>
      <p:graphicFrame>
        <p:nvGraphicFramePr>
          <p:cNvPr id="6" name="Table 6"/>
          <p:cNvGraphicFramePr>
            <a:graphicFrameLocks noGrp="1"/>
          </p:cNvGraphicFramePr>
          <p:nvPr/>
        </p:nvGraphicFramePr>
        <p:xfrm>
          <a:off x="762000" y="1651000"/>
          <a:ext cx="9906000" cy="3048000"/>
        </p:xfrm>
        <a:graphic>
          <a:graphicData uri="http://schemas.openxmlformats.org/drawingml/2006/table">
            <a:tbl>
              <a:tblPr>
                <a:effectLst/>
              </a:tblPr>
              <a:tblGrid>
                <a:gridCol w="1778000">
                  <a:extLst>
                    <a:ext uri="{9D8B030D-6E8A-4147-A177-3AD203B41FA5}">
                      <a16:colId xmlns:a16="http://schemas.microsoft.com/office/drawing/2014/main" val="20000"/>
                    </a:ext>
                  </a:extLst>
                </a:gridCol>
                <a:gridCol w="1270000">
                  <a:extLst>
                    <a:ext uri="{9D8B030D-6E8A-4147-A177-3AD203B41FA5}">
                      <a16:colId xmlns:a16="http://schemas.microsoft.com/office/drawing/2014/main" val="20001"/>
                    </a:ext>
                  </a:extLst>
                </a:gridCol>
                <a:gridCol w="6858000">
                  <a:extLst>
                    <a:ext uri="{9D8B030D-6E8A-4147-A177-3AD203B41FA5}">
                      <a16:colId xmlns:a16="http://schemas.microsoft.com/office/drawing/2014/main" val="20002"/>
                    </a:ext>
                  </a:extLst>
                </a:gridCol>
              </a:tblGrid>
              <a:tr h="508000">
                <a:tc>
                  <a:txBody>
                    <a:bodyPr/>
                    <a:lstStyle/>
                    <a:p>
                      <a:pPr indent="0" algn="ctr">
                        <a:lnSpc>
                          <a:spcPct val="100000"/>
                        </a:lnSpc>
                        <a:defRPr/>
                      </a:pPr>
                      <a:r>
                        <a:rPr lang="en-US" sz="1600" b="1" i="0" u="none" strike="noStrike">
                          <a:solidFill>
                            <a:srgbClr val="FFFFFF"/>
                          </a:solidFill>
                          <a:latin typeface="Noto Sans SC"/>
                          <a:ea typeface="Noto Sans SC"/>
                          <a:cs typeface="Noto Sans SC"/>
                          <a:sym typeface="Noto Sans SC"/>
                        </a:rPr>
                        <a:t>因子名称</a:t>
                      </a:r>
                      <a:endParaRPr lang="en-US" sz="1100"/>
                    </a:p>
                  </a:txBody>
                  <a:tcPr marL="101600" marR="101600" marT="101600" marB="101600" anchor="ctr">
                    <a:lnL>
                      <a:noFill/>
                    </a:lnL>
                    <a:lnR>
                      <a:noFill/>
                    </a:lnR>
                    <a:lnT>
                      <a:noFill/>
                    </a:lnT>
                    <a:lnB>
                      <a:noFill/>
                    </a:lnB>
                    <a:solidFill>
                      <a:srgbClr val="0D6EFD">
                        <a:alpha val="100000"/>
                      </a:srgbClr>
                    </a:solidFill>
                  </a:tcPr>
                </a:tc>
                <a:tc>
                  <a:txBody>
                    <a:bodyPr/>
                    <a:lstStyle/>
                    <a:p>
                      <a:pPr indent="0" algn="ctr">
                        <a:lnSpc>
                          <a:spcPct val="100000"/>
                        </a:lnSpc>
                        <a:defRPr/>
                      </a:pPr>
                      <a:r>
                        <a:rPr lang="en-US" sz="1600" b="1" i="0" u="none" strike="noStrike">
                          <a:solidFill>
                            <a:srgbClr val="FFFFFF"/>
                          </a:solidFill>
                          <a:latin typeface="Noto Sans SC"/>
                          <a:ea typeface="Noto Sans SC"/>
                          <a:cs typeface="Noto Sans SC"/>
                          <a:sym typeface="Noto Sans SC"/>
                        </a:rPr>
                        <a:t>方向</a:t>
                      </a:r>
                      <a:endParaRPr lang="en-US" sz="1100"/>
                    </a:p>
                  </a:txBody>
                  <a:tcPr marL="101600" marR="101600" marT="101600" marB="101600" anchor="ctr">
                    <a:lnL>
                      <a:noFill/>
                    </a:lnL>
                    <a:lnR>
                      <a:noFill/>
                    </a:lnR>
                    <a:lnT>
                      <a:noFill/>
                    </a:lnT>
                    <a:lnB>
                      <a:noFill/>
                    </a:lnB>
                    <a:solidFill>
                      <a:srgbClr val="0D6EFD">
                        <a:alpha val="100000"/>
                      </a:srgbClr>
                    </a:solidFill>
                  </a:tcPr>
                </a:tc>
                <a:tc>
                  <a:txBody>
                    <a:bodyPr/>
                    <a:lstStyle/>
                    <a:p>
                      <a:pPr indent="0" algn="l">
                        <a:lnSpc>
                          <a:spcPct val="100000"/>
                        </a:lnSpc>
                        <a:defRPr/>
                      </a:pPr>
                      <a:r>
                        <a:rPr lang="en-US" sz="1600" b="1" i="0" u="none" strike="noStrike">
                          <a:solidFill>
                            <a:srgbClr val="FFFFFF"/>
                          </a:solidFill>
                          <a:latin typeface="Noto Sans SC"/>
                          <a:ea typeface="Noto Sans SC"/>
                          <a:cs typeface="Noto Sans SC"/>
                          <a:sym typeface="Noto Sans SC"/>
                        </a:rPr>
                        <a:t>定义说明</a:t>
                      </a:r>
                      <a:endParaRPr lang="en-US" sz="1100"/>
                    </a:p>
                  </a:txBody>
                  <a:tcPr marL="127000" marR="101600" marT="101600" marB="101600" anchor="ctr">
                    <a:lnL>
                      <a:noFill/>
                    </a:lnL>
                    <a:lnR>
                      <a:noFill/>
                    </a:lnR>
                    <a:lnT>
                      <a:noFill/>
                    </a:lnT>
                    <a:lnB>
                      <a:noFill/>
                    </a:lnB>
                    <a:solidFill>
                      <a:srgbClr val="0D6EFD">
                        <a:alpha val="100000"/>
                      </a:srgbClr>
                    </a:solidFill>
                  </a:tcPr>
                </a:tc>
                <a:extLst>
                  <a:ext uri="{0D108BD9-81ED-4DB2-BD59-A6C34878D82A}">
                    <a16:rowId xmlns:a16="http://schemas.microsoft.com/office/drawing/2014/main" val="10000"/>
                  </a:ext>
                </a:extLst>
              </a:tr>
              <a:tr h="635000">
                <a:tc>
                  <a:txBody>
                    <a:bodyPr/>
                    <a:lstStyle/>
                    <a:p>
                      <a:pPr indent="0" algn="ctr">
                        <a:lnSpc>
                          <a:spcPct val="100000"/>
                        </a:lnSpc>
                        <a:defRPr/>
                      </a:pPr>
                      <a:r>
                        <a:rPr lang="en-US" sz="1400" b="1" i="0" u="none" strike="noStrike">
                          <a:solidFill>
                            <a:srgbClr val="212529"/>
                          </a:solidFill>
                          <a:latin typeface="Noto Sans SC"/>
                          <a:ea typeface="Noto Sans SC"/>
                          <a:cs typeface="Noto Sans SC"/>
                          <a:sym typeface="Noto Sans SC"/>
                        </a:rPr>
                        <a:t>业务价值</a:t>
                      </a:r>
                      <a:endParaRPr lang="en-US" sz="1100"/>
                    </a:p>
                  </a:txBody>
                  <a:tcPr marL="101600" marR="101600" marT="101600" marB="101600" anchor="ctr">
                    <a:lnL>
                      <a:noFill/>
                    </a:lnL>
                    <a:lnR>
                      <a:noFill/>
                    </a:lnR>
                    <a:lnT>
                      <a:noFill/>
                    </a:lnT>
                    <a:lnB w="12700" cap="flat" cmpd="sng" algn="ctr">
                      <a:solidFill>
                        <a:srgbClr val="DEE2E6"/>
                      </a:solidFill>
                      <a:prstDash val="solid"/>
                      <a:round/>
                      <a:headEnd type="none" w="med" len="med"/>
                      <a:tailEnd type="none" w="med" len="med"/>
                    </a:lnB>
                    <a:solidFill>
                      <a:srgbClr val="F8F9FA">
                        <a:alpha val="100000"/>
                      </a:srgbClr>
                    </a:solidFill>
                  </a:tcPr>
                </a:tc>
                <a:tc>
                  <a:txBody>
                    <a:bodyPr/>
                    <a:lstStyle/>
                    <a:p>
                      <a:pPr indent="0" algn="ctr">
                        <a:lnSpc>
                          <a:spcPct val="100000"/>
                        </a:lnSpc>
                        <a:defRPr/>
                      </a:pPr>
                      <a:r>
                        <a:rPr lang="en-US" sz="1400" b="1" i="0" u="none" strike="noStrike">
                          <a:solidFill>
                            <a:srgbClr val="16A34A"/>
                          </a:solidFill>
                          <a:latin typeface="Noto Sans SC"/>
                          <a:ea typeface="Noto Sans SC"/>
                          <a:cs typeface="Noto Sans SC"/>
                          <a:sym typeface="Noto Sans SC"/>
                        </a:rPr>
                        <a:t>正向</a:t>
                      </a:r>
                      <a:endParaRPr lang="en-US" sz="1100"/>
                    </a:p>
                  </a:txBody>
                  <a:tcPr marL="101600" marR="101600" marT="101600" marB="101600" anchor="ctr">
                    <a:lnL>
                      <a:noFill/>
                    </a:lnL>
                    <a:lnR>
                      <a:noFill/>
                    </a:lnR>
                    <a:lnT>
                      <a:noFill/>
                    </a:lnT>
                    <a:lnB w="12700" cap="flat" cmpd="sng" algn="ctr">
                      <a:solidFill>
                        <a:srgbClr val="DEE2E6"/>
                      </a:solidFill>
                      <a:prstDash val="solid"/>
                      <a:round/>
                      <a:headEnd type="none" w="med" len="med"/>
                      <a:tailEnd type="none" w="med" len="med"/>
                    </a:lnB>
                    <a:solidFill>
                      <a:srgbClr val="F8F9FA">
                        <a:alpha val="100000"/>
                      </a:srgbClr>
                    </a:solidFill>
                  </a:tcPr>
                </a:tc>
                <a:tc>
                  <a:txBody>
                    <a:bodyPr/>
                    <a:lstStyle/>
                    <a:p>
                      <a:pPr indent="0" algn="l">
                        <a:lnSpc>
                          <a:spcPct val="100000"/>
                        </a:lnSpc>
                        <a:defRPr/>
                      </a:pPr>
                      <a:r>
                        <a:rPr lang="en-US" sz="1400" b="0" i="0" u="none" strike="noStrike">
                          <a:solidFill>
                            <a:srgbClr val="495057"/>
                          </a:solidFill>
                          <a:latin typeface="Noto Sans SC"/>
                          <a:ea typeface="Noto Sans SC"/>
                          <a:cs typeface="Noto Sans SC"/>
                          <a:sym typeface="Noto Sans SC"/>
                        </a:rPr>
                        <a:t>方案对实现核心业务目标的贡献程度，越高越好。</a:t>
                      </a:r>
                      <a:endParaRPr lang="en-US" sz="1100"/>
                    </a:p>
                  </a:txBody>
                  <a:tcPr marL="127000" marR="101600" marT="101600" marB="101600" anchor="ctr">
                    <a:lnL>
                      <a:noFill/>
                    </a:lnL>
                    <a:lnR>
                      <a:noFill/>
                    </a:lnR>
                    <a:lnT>
                      <a:noFill/>
                    </a:lnT>
                    <a:lnB w="12700" cap="flat" cmpd="sng" algn="ctr">
                      <a:solidFill>
                        <a:srgbClr val="DEE2E6"/>
                      </a:solidFill>
                      <a:prstDash val="solid"/>
                      <a:round/>
                      <a:headEnd type="none" w="med" len="med"/>
                      <a:tailEnd type="none" w="med" len="med"/>
                    </a:lnB>
                    <a:solidFill>
                      <a:srgbClr val="F8F9FA">
                        <a:alpha val="100000"/>
                      </a:srgbClr>
                    </a:solidFill>
                  </a:tcPr>
                </a:tc>
                <a:extLst>
                  <a:ext uri="{0D108BD9-81ED-4DB2-BD59-A6C34878D82A}">
                    <a16:rowId xmlns:a16="http://schemas.microsoft.com/office/drawing/2014/main" val="10001"/>
                  </a:ext>
                </a:extLst>
              </a:tr>
              <a:tr h="635000">
                <a:tc>
                  <a:txBody>
                    <a:bodyPr/>
                    <a:lstStyle/>
                    <a:p>
                      <a:pPr indent="0" algn="ctr">
                        <a:lnSpc>
                          <a:spcPct val="100000"/>
                        </a:lnSpc>
                        <a:defRPr/>
                      </a:pPr>
                      <a:r>
                        <a:rPr lang="en-US" sz="1400" b="1" i="0" u="none" strike="noStrike">
                          <a:solidFill>
                            <a:srgbClr val="212529"/>
                          </a:solidFill>
                          <a:latin typeface="Noto Sans SC"/>
                          <a:ea typeface="Noto Sans SC"/>
                          <a:cs typeface="Noto Sans SC"/>
                          <a:sym typeface="Noto Sans SC"/>
                        </a:rPr>
                        <a:t>开发成本</a:t>
                      </a:r>
                      <a:endParaRPr lang="en-US" sz="1100"/>
                    </a:p>
                  </a:txBody>
                  <a:tcPr marL="101600" marR="101600" marT="101600" marB="101600" anchor="ctr">
                    <a:lnL>
                      <a:noFill/>
                    </a:lnL>
                    <a:lnR>
                      <a:noFill/>
                    </a:lnR>
                    <a:lnT w="12700" cap="flat" cmpd="sng" algn="ctr">
                      <a:solidFill>
                        <a:srgbClr val="DEE2E6"/>
                      </a:solidFill>
                      <a:prstDash val="solid"/>
                      <a:round/>
                      <a:headEnd type="none" w="med" len="med"/>
                      <a:tailEnd type="none" w="med" len="med"/>
                    </a:lnT>
                    <a:lnB w="12700" cap="flat" cmpd="sng" algn="ctr">
                      <a:solidFill>
                        <a:srgbClr val="DEE2E6"/>
                      </a:solidFill>
                      <a:prstDash val="solid"/>
                      <a:round/>
                      <a:headEnd type="none" w="med" len="med"/>
                      <a:tailEnd type="none" w="med" len="med"/>
                    </a:lnB>
                    <a:solidFill>
                      <a:srgbClr val="FFFFFF">
                        <a:alpha val="100000"/>
                      </a:srgbClr>
                    </a:solidFill>
                  </a:tcPr>
                </a:tc>
                <a:tc>
                  <a:txBody>
                    <a:bodyPr/>
                    <a:lstStyle/>
                    <a:p>
                      <a:pPr indent="0" algn="ctr">
                        <a:lnSpc>
                          <a:spcPct val="100000"/>
                        </a:lnSpc>
                        <a:defRPr/>
                      </a:pPr>
                      <a:r>
                        <a:rPr lang="en-US" sz="1400" b="1" i="0" u="none" strike="noStrike">
                          <a:solidFill>
                            <a:srgbClr val="DC2626"/>
                          </a:solidFill>
                          <a:latin typeface="Noto Sans SC"/>
                          <a:ea typeface="Noto Sans SC"/>
                          <a:cs typeface="Noto Sans SC"/>
                          <a:sym typeface="Noto Sans SC"/>
                        </a:rPr>
                        <a:t>反向</a:t>
                      </a:r>
                      <a:endParaRPr lang="en-US" sz="1100"/>
                    </a:p>
                  </a:txBody>
                  <a:tcPr marL="101600" marR="101600" marT="101600" marB="101600" anchor="ctr">
                    <a:lnL>
                      <a:noFill/>
                    </a:lnL>
                    <a:lnR>
                      <a:noFill/>
                    </a:lnR>
                    <a:lnT w="12700" cap="flat" cmpd="sng" algn="ctr">
                      <a:solidFill>
                        <a:srgbClr val="DEE2E6"/>
                      </a:solidFill>
                      <a:prstDash val="solid"/>
                      <a:round/>
                      <a:headEnd type="none" w="med" len="med"/>
                      <a:tailEnd type="none" w="med" len="med"/>
                    </a:lnT>
                    <a:lnB w="12700" cap="flat" cmpd="sng" algn="ctr">
                      <a:solidFill>
                        <a:srgbClr val="DEE2E6"/>
                      </a:solidFill>
                      <a:prstDash val="solid"/>
                      <a:round/>
                      <a:headEnd type="none" w="med" len="med"/>
                      <a:tailEnd type="none" w="med" len="med"/>
                    </a:lnB>
                    <a:solidFill>
                      <a:srgbClr val="FFFFFF">
                        <a:alpha val="100000"/>
                      </a:srgbClr>
                    </a:solidFill>
                  </a:tcPr>
                </a:tc>
                <a:tc>
                  <a:txBody>
                    <a:bodyPr/>
                    <a:lstStyle/>
                    <a:p>
                      <a:pPr indent="0" algn="l">
                        <a:lnSpc>
                          <a:spcPct val="100000"/>
                        </a:lnSpc>
                        <a:defRPr/>
                      </a:pPr>
                      <a:r>
                        <a:rPr lang="en-US" sz="1400" b="0" i="0" u="none" strike="noStrike">
                          <a:solidFill>
                            <a:srgbClr val="495057"/>
                          </a:solidFill>
                          <a:latin typeface="Noto Sans SC"/>
                          <a:ea typeface="Noto Sans SC"/>
                          <a:cs typeface="Noto Sans SC"/>
                          <a:sym typeface="Noto Sans SC"/>
                        </a:rPr>
                        <a:t>方案所需的人力、时间和资金投入，越低越好。</a:t>
                      </a:r>
                      <a:endParaRPr lang="en-US" sz="1100"/>
                    </a:p>
                  </a:txBody>
                  <a:tcPr marL="127000" marR="101600" marT="101600" marB="101600" anchor="ctr">
                    <a:lnL>
                      <a:noFill/>
                    </a:lnL>
                    <a:lnR>
                      <a:noFill/>
                    </a:lnR>
                    <a:lnT w="12700" cap="flat" cmpd="sng" algn="ctr">
                      <a:solidFill>
                        <a:srgbClr val="DEE2E6"/>
                      </a:solidFill>
                      <a:prstDash val="solid"/>
                      <a:round/>
                      <a:headEnd type="none" w="med" len="med"/>
                      <a:tailEnd type="none" w="med" len="med"/>
                    </a:lnT>
                    <a:lnB w="12700" cap="flat" cmpd="sng" algn="ctr">
                      <a:solidFill>
                        <a:srgbClr val="DEE2E6"/>
                      </a:solidFill>
                      <a:prstDash val="solid"/>
                      <a:round/>
                      <a:headEnd type="none" w="med" len="med"/>
                      <a:tailEnd type="none" w="med" len="med"/>
                    </a:lnB>
                    <a:solidFill>
                      <a:srgbClr val="FFFFFF">
                        <a:alpha val="100000"/>
                      </a:srgbClr>
                    </a:solidFill>
                  </a:tcPr>
                </a:tc>
                <a:extLst>
                  <a:ext uri="{0D108BD9-81ED-4DB2-BD59-A6C34878D82A}">
                    <a16:rowId xmlns:a16="http://schemas.microsoft.com/office/drawing/2014/main" val="10002"/>
                  </a:ext>
                </a:extLst>
              </a:tr>
              <a:tr h="635000">
                <a:tc>
                  <a:txBody>
                    <a:bodyPr/>
                    <a:lstStyle/>
                    <a:p>
                      <a:pPr indent="0" algn="ctr">
                        <a:lnSpc>
                          <a:spcPct val="100000"/>
                        </a:lnSpc>
                        <a:defRPr/>
                      </a:pPr>
                      <a:r>
                        <a:rPr lang="en-US" sz="1400" b="1" i="0" u="none" strike="noStrike">
                          <a:solidFill>
                            <a:srgbClr val="212529"/>
                          </a:solidFill>
                          <a:latin typeface="Noto Sans SC"/>
                          <a:ea typeface="Noto Sans SC"/>
                          <a:cs typeface="Noto Sans SC"/>
                          <a:sym typeface="Noto Sans SC"/>
                        </a:rPr>
                        <a:t>技术风险</a:t>
                      </a:r>
                      <a:endParaRPr lang="en-US" sz="1100"/>
                    </a:p>
                  </a:txBody>
                  <a:tcPr marL="101600" marR="101600" marT="101600" marB="101600" anchor="ctr">
                    <a:lnL>
                      <a:noFill/>
                    </a:lnL>
                    <a:lnR>
                      <a:noFill/>
                    </a:lnR>
                    <a:lnT w="12700" cap="flat" cmpd="sng" algn="ctr">
                      <a:solidFill>
                        <a:srgbClr val="DEE2E6"/>
                      </a:solidFill>
                      <a:prstDash val="solid"/>
                      <a:round/>
                      <a:headEnd type="none" w="med" len="med"/>
                      <a:tailEnd type="none" w="med" len="med"/>
                    </a:lnT>
                    <a:lnB w="12700" cap="flat" cmpd="sng" algn="ctr">
                      <a:solidFill>
                        <a:srgbClr val="DEE2E6"/>
                      </a:solidFill>
                      <a:prstDash val="solid"/>
                      <a:round/>
                      <a:headEnd type="none" w="med" len="med"/>
                      <a:tailEnd type="none" w="med" len="med"/>
                    </a:lnB>
                    <a:solidFill>
                      <a:srgbClr val="F8F9FA">
                        <a:alpha val="100000"/>
                      </a:srgbClr>
                    </a:solidFill>
                  </a:tcPr>
                </a:tc>
                <a:tc>
                  <a:txBody>
                    <a:bodyPr/>
                    <a:lstStyle/>
                    <a:p>
                      <a:pPr indent="0" algn="ctr">
                        <a:lnSpc>
                          <a:spcPct val="100000"/>
                        </a:lnSpc>
                        <a:defRPr/>
                      </a:pPr>
                      <a:r>
                        <a:rPr lang="en-US" sz="1400" b="1" i="0" u="none" strike="noStrike">
                          <a:solidFill>
                            <a:srgbClr val="DC2626"/>
                          </a:solidFill>
                          <a:latin typeface="Noto Sans SC"/>
                          <a:ea typeface="Noto Sans SC"/>
                          <a:cs typeface="Noto Sans SC"/>
                          <a:sym typeface="Noto Sans SC"/>
                        </a:rPr>
                        <a:t>反向</a:t>
                      </a:r>
                      <a:endParaRPr lang="en-US" sz="1100"/>
                    </a:p>
                  </a:txBody>
                  <a:tcPr marL="101600" marR="101600" marT="101600" marB="101600" anchor="ctr">
                    <a:lnL>
                      <a:noFill/>
                    </a:lnL>
                    <a:lnR>
                      <a:noFill/>
                    </a:lnR>
                    <a:lnT w="12700" cap="flat" cmpd="sng" algn="ctr">
                      <a:solidFill>
                        <a:srgbClr val="DEE2E6"/>
                      </a:solidFill>
                      <a:prstDash val="solid"/>
                      <a:round/>
                      <a:headEnd type="none" w="med" len="med"/>
                      <a:tailEnd type="none" w="med" len="med"/>
                    </a:lnT>
                    <a:lnB w="12700" cap="flat" cmpd="sng" algn="ctr">
                      <a:solidFill>
                        <a:srgbClr val="DEE2E6"/>
                      </a:solidFill>
                      <a:prstDash val="solid"/>
                      <a:round/>
                      <a:headEnd type="none" w="med" len="med"/>
                      <a:tailEnd type="none" w="med" len="med"/>
                    </a:lnB>
                    <a:solidFill>
                      <a:srgbClr val="F8F9FA">
                        <a:alpha val="100000"/>
                      </a:srgbClr>
                    </a:solidFill>
                  </a:tcPr>
                </a:tc>
                <a:tc>
                  <a:txBody>
                    <a:bodyPr/>
                    <a:lstStyle/>
                    <a:p>
                      <a:pPr indent="0" algn="l">
                        <a:lnSpc>
                          <a:spcPct val="100000"/>
                        </a:lnSpc>
                        <a:defRPr/>
                      </a:pPr>
                      <a:r>
                        <a:rPr lang="en-US" sz="1400" b="0" i="0" u="none" strike="noStrike">
                          <a:solidFill>
                            <a:srgbClr val="495057"/>
                          </a:solidFill>
                          <a:latin typeface="Noto Sans SC"/>
                          <a:ea typeface="Noto Sans SC"/>
                          <a:cs typeface="Noto Sans SC"/>
                          <a:sym typeface="Noto Sans SC"/>
                        </a:rPr>
                        <a:t>方案在技术实现过程中可能遇到的不确定性和难度，越低越好。</a:t>
                      </a:r>
                      <a:endParaRPr lang="en-US" sz="1100"/>
                    </a:p>
                  </a:txBody>
                  <a:tcPr marL="127000" marR="101600" marT="101600" marB="101600" anchor="ctr">
                    <a:lnL>
                      <a:noFill/>
                    </a:lnL>
                    <a:lnR>
                      <a:noFill/>
                    </a:lnR>
                    <a:lnT w="12700" cap="flat" cmpd="sng" algn="ctr">
                      <a:solidFill>
                        <a:srgbClr val="DEE2E6"/>
                      </a:solidFill>
                      <a:prstDash val="solid"/>
                      <a:round/>
                      <a:headEnd type="none" w="med" len="med"/>
                      <a:tailEnd type="none" w="med" len="med"/>
                    </a:lnT>
                    <a:lnB w="12700" cap="flat" cmpd="sng" algn="ctr">
                      <a:solidFill>
                        <a:srgbClr val="DEE2E6"/>
                      </a:solidFill>
                      <a:prstDash val="solid"/>
                      <a:round/>
                      <a:headEnd type="none" w="med" len="med"/>
                      <a:tailEnd type="none" w="med" len="med"/>
                    </a:lnB>
                    <a:solidFill>
                      <a:srgbClr val="F8F9FA">
                        <a:alpha val="100000"/>
                      </a:srgbClr>
                    </a:solidFill>
                  </a:tcPr>
                </a:tc>
                <a:extLst>
                  <a:ext uri="{0D108BD9-81ED-4DB2-BD59-A6C34878D82A}">
                    <a16:rowId xmlns:a16="http://schemas.microsoft.com/office/drawing/2014/main" val="10003"/>
                  </a:ext>
                </a:extLst>
              </a:tr>
              <a:tr h="635000">
                <a:tc>
                  <a:txBody>
                    <a:bodyPr/>
                    <a:lstStyle/>
                    <a:p>
                      <a:pPr indent="0" algn="ctr">
                        <a:lnSpc>
                          <a:spcPct val="100000"/>
                        </a:lnSpc>
                        <a:defRPr/>
                      </a:pPr>
                      <a:r>
                        <a:rPr lang="en-US" sz="1400" b="1" i="0" u="none" strike="noStrike">
                          <a:solidFill>
                            <a:srgbClr val="212529"/>
                          </a:solidFill>
                          <a:latin typeface="Noto Sans SC"/>
                          <a:ea typeface="Noto Sans SC"/>
                          <a:cs typeface="Noto Sans SC"/>
                          <a:sym typeface="Noto Sans SC"/>
                        </a:rPr>
                        <a:t>可维护性</a:t>
                      </a:r>
                      <a:endParaRPr lang="en-US" sz="1100"/>
                    </a:p>
                  </a:txBody>
                  <a:tcPr marL="101600" marR="101600" marT="101600" marB="101600" anchor="ctr">
                    <a:lnL>
                      <a:noFill/>
                    </a:lnL>
                    <a:lnR>
                      <a:noFill/>
                    </a:lnR>
                    <a:lnT w="12700" cap="flat" cmpd="sng" algn="ctr">
                      <a:solidFill>
                        <a:srgbClr val="DEE2E6"/>
                      </a:solidFill>
                      <a:prstDash val="solid"/>
                      <a:round/>
                      <a:headEnd type="none" w="med" len="med"/>
                      <a:tailEnd type="none" w="med" len="med"/>
                    </a:lnT>
                    <a:lnB w="12700" cap="flat" cmpd="sng" algn="ctr">
                      <a:solidFill>
                        <a:srgbClr val="DEE2E6"/>
                      </a:solidFill>
                      <a:prstDash val="solid"/>
                      <a:round/>
                      <a:headEnd type="none" w="med" len="med"/>
                      <a:tailEnd type="none" w="med" len="med"/>
                    </a:lnB>
                    <a:solidFill>
                      <a:srgbClr val="FFFFFF">
                        <a:alpha val="100000"/>
                      </a:srgbClr>
                    </a:solidFill>
                  </a:tcPr>
                </a:tc>
                <a:tc>
                  <a:txBody>
                    <a:bodyPr/>
                    <a:lstStyle/>
                    <a:p>
                      <a:pPr indent="0" algn="ctr">
                        <a:lnSpc>
                          <a:spcPct val="100000"/>
                        </a:lnSpc>
                        <a:defRPr/>
                      </a:pPr>
                      <a:r>
                        <a:rPr lang="en-US" sz="1400" b="1" i="0" u="none" strike="noStrike">
                          <a:solidFill>
                            <a:srgbClr val="16A34A"/>
                          </a:solidFill>
                          <a:latin typeface="Noto Sans SC"/>
                          <a:ea typeface="Noto Sans SC"/>
                          <a:cs typeface="Noto Sans SC"/>
                          <a:sym typeface="Noto Sans SC"/>
                        </a:rPr>
                        <a:t>正向</a:t>
                      </a:r>
                      <a:endParaRPr lang="en-US" sz="1100"/>
                    </a:p>
                  </a:txBody>
                  <a:tcPr marL="101600" marR="101600" marT="101600" marB="101600" anchor="ctr">
                    <a:lnL>
                      <a:noFill/>
                    </a:lnL>
                    <a:lnR>
                      <a:noFill/>
                    </a:lnR>
                    <a:lnT w="12700" cap="flat" cmpd="sng" algn="ctr">
                      <a:solidFill>
                        <a:srgbClr val="DEE2E6"/>
                      </a:solidFill>
                      <a:prstDash val="solid"/>
                      <a:round/>
                      <a:headEnd type="none" w="med" len="med"/>
                      <a:tailEnd type="none" w="med" len="med"/>
                    </a:lnT>
                    <a:lnB w="12700" cap="flat" cmpd="sng" algn="ctr">
                      <a:solidFill>
                        <a:srgbClr val="DEE2E6"/>
                      </a:solidFill>
                      <a:prstDash val="solid"/>
                      <a:round/>
                      <a:headEnd type="none" w="med" len="med"/>
                      <a:tailEnd type="none" w="med" len="med"/>
                    </a:lnB>
                    <a:solidFill>
                      <a:srgbClr val="FFFFFF">
                        <a:alpha val="100000"/>
                      </a:srgbClr>
                    </a:solidFill>
                  </a:tcPr>
                </a:tc>
                <a:tc>
                  <a:txBody>
                    <a:bodyPr/>
                    <a:lstStyle/>
                    <a:p>
                      <a:pPr indent="0" algn="l">
                        <a:lnSpc>
                          <a:spcPct val="100000"/>
                        </a:lnSpc>
                        <a:defRPr/>
                      </a:pPr>
                      <a:r>
                        <a:rPr lang="en-US" sz="1400" b="0" i="0" u="none" strike="noStrike">
                          <a:solidFill>
                            <a:srgbClr val="495057"/>
                          </a:solidFill>
                          <a:latin typeface="Noto Sans SC"/>
                          <a:ea typeface="Noto Sans SC"/>
                          <a:cs typeface="Noto Sans SC"/>
                          <a:sym typeface="Noto Sans SC"/>
                        </a:rPr>
                        <a:t>方案实现后代码的质量和后续维护的便利性，越高越好。</a:t>
                      </a:r>
                      <a:endParaRPr lang="en-US" sz="1100"/>
                    </a:p>
                  </a:txBody>
                  <a:tcPr marL="127000" marR="101600" marT="101600" marB="101600" anchor="ctr">
                    <a:lnL>
                      <a:noFill/>
                    </a:lnL>
                    <a:lnR>
                      <a:noFill/>
                    </a:lnR>
                    <a:lnT w="12700" cap="flat" cmpd="sng" algn="ctr">
                      <a:solidFill>
                        <a:srgbClr val="DEE2E6"/>
                      </a:solidFill>
                      <a:prstDash val="solid"/>
                      <a:round/>
                      <a:headEnd type="none" w="med" len="med"/>
                      <a:tailEnd type="none" w="med" len="med"/>
                    </a:lnT>
                    <a:lnB w="12700" cap="flat" cmpd="sng" algn="ctr">
                      <a:solidFill>
                        <a:srgbClr val="DEE2E6"/>
                      </a:solidFill>
                      <a:prstDash val="solid"/>
                      <a:round/>
                      <a:headEnd type="none" w="med" len="med"/>
                      <a:tailEnd type="none" w="med" len="med"/>
                    </a:lnB>
                    <a:solidFill>
                      <a:srgbClr val="FFFFFF">
                        <a:alpha val="100000"/>
                      </a:srgbClr>
                    </a:solidFill>
                  </a:tcPr>
                </a:tc>
                <a:extLst>
                  <a:ext uri="{0D108BD9-81ED-4DB2-BD59-A6C34878D82A}">
                    <a16:rowId xmlns:a16="http://schemas.microsoft.com/office/drawing/2014/main" val="10004"/>
                  </a:ext>
                </a:extLst>
              </a:tr>
            </a:tbl>
          </a:graphicData>
        </a:graphic>
      </p:graphicFrame>
      <p:sp>
        <p:nvSpPr>
          <p:cNvPr id="7" name="AutoShape 7"/>
          <p:cNvSpPr/>
          <p:nvPr/>
        </p:nvSpPr>
        <p:spPr>
          <a:xfrm>
            <a:off x="762000" y="5334000"/>
            <a:ext cx="10668000" cy="762000"/>
          </a:xfrm>
          <a:prstGeom prst="roundRect">
            <a:avLst>
              <a:gd name="adj" fmla="val 16666"/>
            </a:avLst>
          </a:prstGeom>
          <a:solidFill>
            <a:srgbClr val="EFF6FF">
              <a:alpha val="100000"/>
            </a:srgbClr>
          </a:solidFill>
          <a:ln w="12700" cap="flat" cmpd="sng">
            <a:solidFill>
              <a:srgbClr val="BFDBFE">
                <a:alpha val="100000"/>
              </a:srgbClr>
            </a:solidFill>
            <a:prstDash val="solid"/>
            <a:round/>
          </a:ln>
        </p:spPr>
        <p:txBody>
          <a:bodyPr vert="horz" wrap="square" lIns="254000" tIns="0" rIns="254000" bIns="0" rtlCol="0" anchor="ctr" anchorCtr="0"/>
          <a:lstStyle/>
          <a:p>
            <a:pPr indent="0" algn="ctr">
              <a:lnSpc>
                <a:spcPct val="125000"/>
              </a:lnSpc>
              <a:defRPr/>
            </a:pPr>
            <a:r>
              <a:rPr lang="en-US" sz="1400" b="1" i="0" u="none" strike="noStrike">
                <a:solidFill>
                  <a:srgbClr val="0D6EFD"/>
                </a:solidFill>
                <a:latin typeface="Noto Sans SC"/>
                <a:ea typeface="Noto Sans SC"/>
                <a:cs typeface="Noto Sans SC"/>
                <a:sym typeface="Noto Sans SC"/>
              </a:rPr>
              <a:t>总结：</a:t>
            </a:r>
            <a:r>
              <a:rPr lang="en-US" sz="1400" b="0" i="0" u="none" strike="noStrike">
                <a:solidFill>
                  <a:srgbClr val="495057"/>
                </a:solidFill>
                <a:latin typeface="Noto Sans SC"/>
                <a:ea typeface="Noto Sans SC"/>
                <a:cs typeface="Noto Sans SC"/>
                <a:sym typeface="Noto Sans SC"/>
              </a:rPr>
              <a:t>这些因子涵盖了业务、成本、风险和质量四个维度，能够全面评估一个技术方案的优劣，为后续决策提供量化依据。</a:t>
            </a:r>
            <a:endParaRPr lang="en-US" sz="1100"/>
          </a:p>
        </p:txBody>
      </p:sp>
      <p:pic>
        <p:nvPicPr>
          <p:cNvPr id="8" name="Picture 8"/>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125200" y="609600"/>
            <a:ext cx="304800" cy="3048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508000"/>
            <a:ext cx="106680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0D6EFD"/>
                </a:solidFill>
                <a:latin typeface="Noto Sans SC"/>
                <a:ea typeface="Noto Sans SC"/>
                <a:cs typeface="Noto Sans SC"/>
                <a:sym typeface="Noto Sans SC"/>
              </a:rPr>
              <a:t>AHP权重计算过程：KR1（前端开发）因子比较</a:t>
            </a:r>
            <a:endParaRPr lang="en-US" sz="1100"/>
          </a:p>
        </p:txBody>
      </p:sp>
      <p:sp>
        <p:nvSpPr>
          <p:cNvPr id="5" name="AutoShape 5"/>
          <p:cNvSpPr/>
          <p:nvPr/>
        </p:nvSpPr>
        <p:spPr>
          <a:xfrm>
            <a:off x="762000" y="1397000"/>
            <a:ext cx="508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D6EFD"/>
                </a:solidFill>
                <a:latin typeface="Noto Sans SC"/>
                <a:ea typeface="Noto Sans SC"/>
                <a:cs typeface="Noto Sans SC"/>
                <a:sym typeface="Noto Sans SC"/>
              </a:rPr>
              <a:t>两两比较结果（部分）</a:t>
            </a:r>
            <a:endParaRPr lang="en-US" sz="1100"/>
          </a:p>
        </p:txBody>
      </p:sp>
      <p:sp>
        <p:nvSpPr>
          <p:cNvPr id="6" name="AutoShape 6"/>
          <p:cNvSpPr/>
          <p:nvPr/>
        </p:nvSpPr>
        <p:spPr>
          <a:xfrm>
            <a:off x="762000" y="1905000"/>
            <a:ext cx="5080000" cy="762000"/>
          </a:xfrm>
          <a:prstGeom prst="roundRect">
            <a:avLst>
              <a:gd name="adj" fmla="val 16666"/>
            </a:avLst>
          </a:prstGeom>
          <a:solidFill>
            <a:srgbClr val="F8F9FA">
              <a:alpha val="100000"/>
            </a:srgbClr>
          </a:solidFill>
          <a:ln w="12700" cap="flat" cmpd="sng">
            <a:solidFill>
              <a:srgbClr val="DEE2E6">
                <a:alpha val="100000"/>
              </a:srgbClr>
            </a:solidFill>
            <a:prstDash val="solid"/>
            <a:round/>
          </a:ln>
        </p:spPr>
        <p:txBody>
          <a:bodyPr vert="horz" wrap="square" lIns="63500" tIns="63500" rIns="63500" bIns="63500" rtlCol="0" anchor="ctr"/>
          <a:lstStyle/>
          <a:p>
            <a:pPr algn="ctr">
              <a:defRPr/>
            </a:pPr>
            <a:endParaRPr/>
          </a:p>
        </p:txBody>
      </p:sp>
      <p:pic>
        <p:nvPicPr>
          <p:cNvPr id="7" name="Picture 7"/>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52500" y="2133600"/>
            <a:ext cx="304800" cy="304800"/>
          </a:xfrm>
          <a:prstGeom prst="rect">
            <a:avLst/>
          </a:prstGeom>
        </p:spPr>
      </p:pic>
      <p:sp>
        <p:nvSpPr>
          <p:cNvPr id="8" name="AutoShape 8"/>
          <p:cNvSpPr/>
          <p:nvPr/>
        </p:nvSpPr>
        <p:spPr>
          <a:xfrm>
            <a:off x="1397000" y="2032000"/>
            <a:ext cx="431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43A40"/>
                </a:solidFill>
                <a:latin typeface="Noto Sans SC"/>
                <a:ea typeface="Noto Sans SC"/>
                <a:cs typeface="Noto Sans SC"/>
                <a:sym typeface="Noto Sans SC"/>
              </a:rPr>
              <a:t>业务价值 vs 开发成本：3</a:t>
            </a:r>
            <a:endParaRPr lang="en-US" sz="1100"/>
          </a:p>
          <a:p>
            <a:pPr indent="0" algn="l">
              <a:lnSpc>
                <a:spcPct val="125000"/>
              </a:lnSpc>
            </a:pPr>
            <a:r>
              <a:rPr lang="en-US" sz="1200" b="0" i="0" u="none" strike="noStrike">
                <a:solidFill>
                  <a:srgbClr val="6C757D"/>
                </a:solidFill>
                <a:latin typeface="Noto Sans SC"/>
                <a:ea typeface="Noto Sans SC"/>
                <a:cs typeface="Noto Sans SC"/>
                <a:sym typeface="Noto Sans SC"/>
              </a:rPr>
              <a:t>（业务价值稍微重要）</a:t>
            </a:r>
          </a:p>
        </p:txBody>
      </p:sp>
      <p:sp>
        <p:nvSpPr>
          <p:cNvPr id="9" name="AutoShape 9"/>
          <p:cNvSpPr/>
          <p:nvPr/>
        </p:nvSpPr>
        <p:spPr>
          <a:xfrm>
            <a:off x="762000" y="2794000"/>
            <a:ext cx="5080000" cy="762000"/>
          </a:xfrm>
          <a:prstGeom prst="roundRect">
            <a:avLst>
              <a:gd name="adj" fmla="val 16666"/>
            </a:avLst>
          </a:prstGeom>
          <a:solidFill>
            <a:srgbClr val="F8F9FA">
              <a:alpha val="100000"/>
            </a:srgbClr>
          </a:solidFill>
          <a:ln w="12700" cap="flat" cmpd="sng">
            <a:solidFill>
              <a:srgbClr val="DEE2E6">
                <a:alpha val="100000"/>
              </a:srgbClr>
            </a:solid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52500" y="3022600"/>
            <a:ext cx="304800" cy="304800"/>
          </a:xfrm>
          <a:prstGeom prst="rect">
            <a:avLst/>
          </a:prstGeom>
        </p:spPr>
      </p:pic>
      <p:sp>
        <p:nvSpPr>
          <p:cNvPr id="11" name="AutoShape 11"/>
          <p:cNvSpPr/>
          <p:nvPr/>
        </p:nvSpPr>
        <p:spPr>
          <a:xfrm>
            <a:off x="1397000" y="2921000"/>
            <a:ext cx="431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43A40"/>
                </a:solidFill>
                <a:latin typeface="Noto Sans SC"/>
                <a:ea typeface="Noto Sans SC"/>
                <a:cs typeface="Noto Sans SC"/>
                <a:sym typeface="Noto Sans SC"/>
              </a:rPr>
              <a:t>业务价值 vs 技术风险：5</a:t>
            </a:r>
            <a:endParaRPr lang="en-US" sz="1100"/>
          </a:p>
          <a:p>
            <a:pPr indent="0" algn="l">
              <a:lnSpc>
                <a:spcPct val="125000"/>
              </a:lnSpc>
            </a:pPr>
            <a:r>
              <a:rPr lang="en-US" sz="1200" b="0" i="0" u="none" strike="noStrike">
                <a:solidFill>
                  <a:srgbClr val="6C757D"/>
                </a:solidFill>
                <a:latin typeface="Noto Sans SC"/>
                <a:ea typeface="Noto Sans SC"/>
                <a:cs typeface="Noto Sans SC"/>
                <a:sym typeface="Noto Sans SC"/>
              </a:rPr>
              <a:t>（业务价值明显重要）</a:t>
            </a:r>
          </a:p>
        </p:txBody>
      </p:sp>
      <p:sp>
        <p:nvSpPr>
          <p:cNvPr id="12" name="AutoShape 12"/>
          <p:cNvSpPr/>
          <p:nvPr/>
        </p:nvSpPr>
        <p:spPr>
          <a:xfrm>
            <a:off x="762000" y="3683000"/>
            <a:ext cx="5080000" cy="762000"/>
          </a:xfrm>
          <a:prstGeom prst="roundRect">
            <a:avLst>
              <a:gd name="adj" fmla="val 16666"/>
            </a:avLst>
          </a:prstGeom>
          <a:solidFill>
            <a:srgbClr val="F8F9FA">
              <a:alpha val="100000"/>
            </a:srgbClr>
          </a:solidFill>
          <a:ln w="12700" cap="flat" cmpd="sng">
            <a:solidFill>
              <a:srgbClr val="DEE2E6">
                <a:alpha val="100000"/>
              </a:srgbClr>
            </a:solidFill>
            <a:prstDash val="solid"/>
            <a:round/>
          </a:ln>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52500" y="3911600"/>
            <a:ext cx="304800" cy="304800"/>
          </a:xfrm>
          <a:prstGeom prst="rect">
            <a:avLst/>
          </a:prstGeom>
        </p:spPr>
      </p:pic>
      <p:sp>
        <p:nvSpPr>
          <p:cNvPr id="14" name="AutoShape 14"/>
          <p:cNvSpPr/>
          <p:nvPr/>
        </p:nvSpPr>
        <p:spPr>
          <a:xfrm>
            <a:off x="1397000" y="3810000"/>
            <a:ext cx="431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43A40"/>
                </a:solidFill>
                <a:latin typeface="Noto Sans SC"/>
                <a:ea typeface="Noto Sans SC"/>
                <a:cs typeface="Noto Sans SC"/>
                <a:sym typeface="Noto Sans SC"/>
              </a:rPr>
              <a:t>开发成本 vs 可维护性：1/3</a:t>
            </a:r>
            <a:endParaRPr lang="en-US" sz="1100"/>
          </a:p>
          <a:p>
            <a:pPr indent="0" algn="l">
              <a:lnSpc>
                <a:spcPct val="125000"/>
              </a:lnSpc>
            </a:pPr>
            <a:r>
              <a:rPr lang="en-US" sz="1200" b="0" i="0" u="none" strike="noStrike">
                <a:solidFill>
                  <a:srgbClr val="6C757D"/>
                </a:solidFill>
                <a:latin typeface="Noto Sans SC"/>
                <a:ea typeface="Noto Sans SC"/>
                <a:cs typeface="Noto Sans SC"/>
                <a:sym typeface="Noto Sans SC"/>
              </a:rPr>
              <a:t>（可维护性稍微重要）</a:t>
            </a:r>
          </a:p>
        </p:txBody>
      </p:sp>
      <p:sp>
        <p:nvSpPr>
          <p:cNvPr id="15" name="AutoShape 15"/>
          <p:cNvSpPr/>
          <p:nvPr/>
        </p:nvSpPr>
        <p:spPr>
          <a:xfrm>
            <a:off x="6350000" y="1397000"/>
            <a:ext cx="508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D6EFD"/>
                </a:solidFill>
                <a:latin typeface="Noto Sans SC"/>
                <a:ea typeface="Noto Sans SC"/>
                <a:cs typeface="Noto Sans SC"/>
                <a:sym typeface="Noto Sans SC"/>
              </a:rPr>
              <a:t>权重计算结果</a:t>
            </a:r>
            <a:endParaRPr lang="en-US" sz="1100"/>
          </a:p>
        </p:txBody>
      </p:sp>
      <p:pic>
        <p:nvPicPr>
          <p:cNvPr id="16" name="Picture 16"/>
          <p:cNvPicPr>
            <a:picLocks noChangeAspect="1"/>
          </p:cNvPicPr>
          <p:nvPr/>
        </p:nvPicPr>
        <p:blipFill>
          <a:blip r:embed="rId6"/>
          <a:stretch>
            <a:fillRect/>
          </a:stretch>
        </p:blipFill>
        <p:spPr>
          <a:xfrm>
            <a:off x="6350000" y="1778000"/>
            <a:ext cx="5080000" cy="2286000"/>
          </a:xfrm>
          <a:prstGeom prst="rect">
            <a:avLst/>
          </a:prstGeom>
        </p:spPr>
      </p:pic>
      <p:sp>
        <p:nvSpPr>
          <p:cNvPr id="17" name="AutoShape 17"/>
          <p:cNvSpPr/>
          <p:nvPr/>
        </p:nvSpPr>
        <p:spPr>
          <a:xfrm>
            <a:off x="6350000" y="4191000"/>
            <a:ext cx="508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D6EFD"/>
                </a:solidFill>
                <a:latin typeface="Noto Sans SC"/>
                <a:ea typeface="Noto Sans SC"/>
                <a:cs typeface="Noto Sans SC"/>
                <a:sym typeface="Noto Sans SC"/>
              </a:rPr>
              <a:t>一致性检验</a:t>
            </a:r>
            <a:endParaRPr lang="en-US" sz="1100"/>
          </a:p>
        </p:txBody>
      </p:sp>
      <p:sp>
        <p:nvSpPr>
          <p:cNvPr id="18" name="AutoShape 18"/>
          <p:cNvSpPr/>
          <p:nvPr/>
        </p:nvSpPr>
        <p:spPr>
          <a:xfrm>
            <a:off x="6350000" y="4699000"/>
            <a:ext cx="5080000" cy="1016000"/>
          </a:xfrm>
          <a:prstGeom prst="roundRect">
            <a:avLst>
              <a:gd name="adj" fmla="val 12500"/>
            </a:avLst>
          </a:prstGeom>
          <a:solidFill>
            <a:srgbClr val="EFF6FF">
              <a:alpha val="100000"/>
            </a:srgbClr>
          </a:solidFill>
          <a:ln w="12700" cap="flat" cmpd="sng">
            <a:solidFill>
              <a:srgbClr val="0D6EFD">
                <a:alpha val="100000"/>
              </a:srgbClr>
            </a:solidFill>
            <a:prstDash val="solid"/>
            <a:round/>
          </a:ln>
        </p:spPr>
        <p:txBody>
          <a:bodyPr vert="horz" wrap="square" lIns="63500" tIns="63500" rIns="63500" bIns="63500" rtlCol="0" anchor="ctr"/>
          <a:lstStyle/>
          <a:p>
            <a:pPr algn="ctr">
              <a:defRPr/>
            </a:pPr>
            <a:endParaRPr/>
          </a:p>
        </p:txBody>
      </p:sp>
      <p:pic>
        <p:nvPicPr>
          <p:cNvPr id="19" name="Picture 19"/>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540500" y="5003800"/>
            <a:ext cx="406400" cy="406400"/>
          </a:xfrm>
          <a:prstGeom prst="rect">
            <a:avLst/>
          </a:prstGeom>
        </p:spPr>
      </p:pic>
      <p:sp>
        <p:nvSpPr>
          <p:cNvPr id="20" name="AutoShape 20"/>
          <p:cNvSpPr/>
          <p:nvPr/>
        </p:nvSpPr>
        <p:spPr>
          <a:xfrm>
            <a:off x="7048500" y="4826000"/>
            <a:ext cx="4318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43A40"/>
                </a:solidFill>
                <a:latin typeface="Noto Sans SC"/>
                <a:ea typeface="Noto Sans SC"/>
                <a:cs typeface="Noto Sans SC"/>
                <a:sym typeface="Noto Sans SC"/>
              </a:rPr>
              <a:t>一致性比率 CR = 0.028 &lt; 0.1</a:t>
            </a:r>
            <a:endParaRPr lang="en-US" sz="1100"/>
          </a:p>
          <a:p>
            <a:pPr indent="0" algn="l">
              <a:lnSpc>
                <a:spcPct val="125000"/>
              </a:lnSpc>
            </a:pPr>
            <a:r>
              <a:rPr lang="en-US" sz="1400" b="0" i="0" u="none" strike="noStrike">
                <a:solidFill>
                  <a:srgbClr val="6C757D"/>
                </a:solidFill>
                <a:latin typeface="Noto Sans SC"/>
                <a:ea typeface="Noto Sans SC"/>
                <a:cs typeface="Noto Sans SC"/>
                <a:sym typeface="Noto Sans SC"/>
              </a:rPr>
              <a:t>通过检验，判断矩阵具有满意的一致性，结果可靠。</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20595" y="381000"/>
            <a:ext cx="12192000" cy="6858000"/>
          </a:xfrm>
          <a:prstGeom prst="roundRect">
            <a:avLst>
              <a:gd name="adj" fmla="val 0"/>
            </a:avLst>
          </a:prstGeom>
          <a:solidFill>
            <a:srgbClr val="FFFFFF">
              <a:alpha val="9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508000"/>
            <a:ext cx="106680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0D6EFD"/>
                </a:solidFill>
                <a:latin typeface="Noto Sans SC"/>
                <a:ea typeface="Noto Sans SC"/>
                <a:cs typeface="Noto Sans SC"/>
                <a:sym typeface="Noto Sans SC"/>
              </a:rPr>
              <a:t>方案评分与排序：KR1方案对比</a:t>
            </a:r>
            <a:endParaRPr lang="en-US" sz="1100"/>
          </a:p>
        </p:txBody>
      </p:sp>
      <p:graphicFrame>
        <p:nvGraphicFramePr>
          <p:cNvPr id="5" name="Table 5"/>
          <p:cNvGraphicFramePr>
            <a:graphicFrameLocks noGrp="1"/>
          </p:cNvGraphicFramePr>
          <p:nvPr/>
        </p:nvGraphicFramePr>
        <p:xfrm>
          <a:off x="762000" y="1397000"/>
          <a:ext cx="6096000" cy="2532380"/>
        </p:xfrm>
        <a:graphic>
          <a:graphicData uri="http://schemas.openxmlformats.org/drawingml/2006/table">
            <a:tbl>
              <a:tblPr>
                <a:effectLst/>
              </a:tblPr>
              <a:tblGrid>
                <a:gridCol w="1016000">
                  <a:extLst>
                    <a:ext uri="{9D8B030D-6E8A-4147-A177-3AD203B41FA5}">
                      <a16:colId xmlns:a16="http://schemas.microsoft.com/office/drawing/2014/main" val="20000"/>
                    </a:ext>
                  </a:extLst>
                </a:gridCol>
                <a:gridCol w="889000">
                  <a:extLst>
                    <a:ext uri="{9D8B030D-6E8A-4147-A177-3AD203B41FA5}">
                      <a16:colId xmlns:a16="http://schemas.microsoft.com/office/drawing/2014/main" val="20001"/>
                    </a:ext>
                  </a:extLst>
                </a:gridCol>
                <a:gridCol w="889000">
                  <a:extLst>
                    <a:ext uri="{9D8B030D-6E8A-4147-A177-3AD203B41FA5}">
                      <a16:colId xmlns:a16="http://schemas.microsoft.com/office/drawing/2014/main" val="20002"/>
                    </a:ext>
                  </a:extLst>
                </a:gridCol>
                <a:gridCol w="889000">
                  <a:extLst>
                    <a:ext uri="{9D8B030D-6E8A-4147-A177-3AD203B41FA5}">
                      <a16:colId xmlns:a16="http://schemas.microsoft.com/office/drawing/2014/main" val="20003"/>
                    </a:ext>
                  </a:extLst>
                </a:gridCol>
                <a:gridCol w="889000">
                  <a:extLst>
                    <a:ext uri="{9D8B030D-6E8A-4147-A177-3AD203B41FA5}">
                      <a16:colId xmlns:a16="http://schemas.microsoft.com/office/drawing/2014/main" val="20004"/>
                    </a:ext>
                  </a:extLst>
                </a:gridCol>
                <a:gridCol w="889000">
                  <a:extLst>
                    <a:ext uri="{9D8B030D-6E8A-4147-A177-3AD203B41FA5}">
                      <a16:colId xmlns:a16="http://schemas.microsoft.com/office/drawing/2014/main" val="20005"/>
                    </a:ext>
                  </a:extLst>
                </a:gridCol>
                <a:gridCol w="635000">
                  <a:extLst>
                    <a:ext uri="{9D8B030D-6E8A-4147-A177-3AD203B41FA5}">
                      <a16:colId xmlns:a16="http://schemas.microsoft.com/office/drawing/2014/main" val="20006"/>
                    </a:ext>
                  </a:extLst>
                </a:gridCol>
              </a:tblGrid>
              <a:tr h="508000">
                <a:tc>
                  <a:txBody>
                    <a:bodyPr/>
                    <a:lstStyle/>
                    <a:p>
                      <a:pPr indent="0" algn="ctr">
                        <a:lnSpc>
                          <a:spcPct val="100000"/>
                        </a:lnSpc>
                        <a:defRPr/>
                      </a:pPr>
                      <a:r>
                        <a:rPr lang="en-US" sz="1400" b="1" i="0" u="none" strike="noStrike">
                          <a:solidFill>
                            <a:srgbClr val="FFFFFF"/>
                          </a:solidFill>
                          <a:latin typeface="Noto Sans SC"/>
                          <a:ea typeface="Noto Sans SC"/>
                          <a:cs typeface="Noto Sans SC"/>
                          <a:sym typeface="Noto Sans SC"/>
                        </a:rPr>
                        <a:t>方案</a:t>
                      </a:r>
                      <a:endParaRPr lang="en-US" sz="1100"/>
                    </a:p>
                  </a:txBody>
                  <a:tcPr marL="101600" marR="101600" marT="101600" marB="101600" anchor="ctr">
                    <a:lnL>
                      <a:noFill/>
                    </a:lnL>
                    <a:lnR>
                      <a:noFill/>
                    </a:lnR>
                    <a:lnT>
                      <a:noFill/>
                    </a:lnT>
                    <a:lnB>
                      <a:noFill/>
                    </a:lnB>
                    <a:solidFill>
                      <a:srgbClr val="0D6EFD">
                        <a:alpha val="100000"/>
                      </a:srgbClr>
                    </a:solidFill>
                  </a:tcPr>
                </a:tc>
                <a:tc>
                  <a:txBody>
                    <a:bodyPr/>
                    <a:lstStyle/>
                    <a:p>
                      <a:pPr indent="0" algn="ctr">
                        <a:lnSpc>
                          <a:spcPct val="100000"/>
                        </a:lnSpc>
                        <a:defRPr/>
                      </a:pPr>
                      <a:r>
                        <a:rPr lang="en-US" sz="1400" b="1" i="0" u="none" strike="noStrike">
                          <a:solidFill>
                            <a:srgbClr val="FFFFFF"/>
                          </a:solidFill>
                          <a:latin typeface="Noto Sans SC"/>
                          <a:ea typeface="Noto Sans SC"/>
                          <a:cs typeface="Noto Sans SC"/>
                          <a:sym typeface="Noto Sans SC"/>
                        </a:rPr>
                        <a:t>业务价值</a:t>
                      </a:r>
                      <a:endParaRPr lang="en-US" sz="1100"/>
                    </a:p>
                  </a:txBody>
                  <a:tcPr marL="101600" marR="101600" marT="101600" marB="101600" anchor="ctr">
                    <a:lnL>
                      <a:noFill/>
                    </a:lnL>
                    <a:lnR>
                      <a:noFill/>
                    </a:lnR>
                    <a:lnT>
                      <a:noFill/>
                    </a:lnT>
                    <a:lnB>
                      <a:noFill/>
                    </a:lnB>
                    <a:solidFill>
                      <a:srgbClr val="0D6EFD">
                        <a:alpha val="100000"/>
                      </a:srgbClr>
                    </a:solidFill>
                  </a:tcPr>
                </a:tc>
                <a:tc>
                  <a:txBody>
                    <a:bodyPr/>
                    <a:lstStyle/>
                    <a:p>
                      <a:pPr indent="0" algn="ctr">
                        <a:lnSpc>
                          <a:spcPct val="100000"/>
                        </a:lnSpc>
                        <a:defRPr/>
                      </a:pPr>
                      <a:r>
                        <a:rPr lang="en-US" sz="1400" b="1" i="0" u="none" strike="noStrike">
                          <a:solidFill>
                            <a:srgbClr val="FFFFFF"/>
                          </a:solidFill>
                          <a:latin typeface="Noto Sans SC"/>
                          <a:ea typeface="Noto Sans SC"/>
                          <a:cs typeface="Noto Sans SC"/>
                          <a:sym typeface="Noto Sans SC"/>
                        </a:rPr>
                        <a:t>开发成本</a:t>
                      </a:r>
                      <a:endParaRPr lang="en-US" sz="1100"/>
                    </a:p>
                  </a:txBody>
                  <a:tcPr marL="101600" marR="101600" marT="101600" marB="101600" anchor="ctr">
                    <a:lnL>
                      <a:noFill/>
                    </a:lnL>
                    <a:lnR>
                      <a:noFill/>
                    </a:lnR>
                    <a:lnT>
                      <a:noFill/>
                    </a:lnT>
                    <a:lnB>
                      <a:noFill/>
                    </a:lnB>
                    <a:solidFill>
                      <a:srgbClr val="0D6EFD">
                        <a:alpha val="100000"/>
                      </a:srgbClr>
                    </a:solidFill>
                  </a:tcPr>
                </a:tc>
                <a:tc>
                  <a:txBody>
                    <a:bodyPr/>
                    <a:lstStyle/>
                    <a:p>
                      <a:pPr indent="0" algn="ctr">
                        <a:lnSpc>
                          <a:spcPct val="100000"/>
                        </a:lnSpc>
                        <a:defRPr/>
                      </a:pPr>
                      <a:r>
                        <a:rPr lang="en-US" sz="1400" b="1" i="0" u="none" strike="noStrike">
                          <a:solidFill>
                            <a:srgbClr val="FFFFFF"/>
                          </a:solidFill>
                          <a:latin typeface="Noto Sans SC"/>
                          <a:ea typeface="Noto Sans SC"/>
                          <a:cs typeface="Noto Sans SC"/>
                          <a:sym typeface="Noto Sans SC"/>
                        </a:rPr>
                        <a:t>技术风险</a:t>
                      </a:r>
                      <a:endParaRPr lang="en-US" sz="1100"/>
                    </a:p>
                  </a:txBody>
                  <a:tcPr marL="101600" marR="101600" marT="101600" marB="101600" anchor="ctr">
                    <a:lnL>
                      <a:noFill/>
                    </a:lnL>
                    <a:lnR>
                      <a:noFill/>
                    </a:lnR>
                    <a:lnT>
                      <a:noFill/>
                    </a:lnT>
                    <a:lnB>
                      <a:noFill/>
                    </a:lnB>
                    <a:solidFill>
                      <a:srgbClr val="0D6EFD">
                        <a:alpha val="100000"/>
                      </a:srgbClr>
                    </a:solidFill>
                  </a:tcPr>
                </a:tc>
                <a:tc>
                  <a:txBody>
                    <a:bodyPr/>
                    <a:lstStyle/>
                    <a:p>
                      <a:pPr indent="0" algn="ctr">
                        <a:lnSpc>
                          <a:spcPct val="100000"/>
                        </a:lnSpc>
                        <a:defRPr/>
                      </a:pPr>
                      <a:r>
                        <a:rPr lang="en-US" sz="1400" b="1" i="0" u="none" strike="noStrike">
                          <a:solidFill>
                            <a:srgbClr val="FFFFFF"/>
                          </a:solidFill>
                          <a:latin typeface="Noto Sans SC"/>
                          <a:ea typeface="Noto Sans SC"/>
                          <a:cs typeface="Noto Sans SC"/>
                          <a:sym typeface="Noto Sans SC"/>
                        </a:rPr>
                        <a:t>可维护性</a:t>
                      </a:r>
                      <a:endParaRPr lang="en-US" sz="1100"/>
                    </a:p>
                  </a:txBody>
                  <a:tcPr marL="101600" marR="101600" marT="101600" marB="101600" anchor="ctr">
                    <a:lnL>
                      <a:noFill/>
                    </a:lnL>
                    <a:lnR>
                      <a:noFill/>
                    </a:lnR>
                    <a:lnT>
                      <a:noFill/>
                    </a:lnT>
                    <a:lnB>
                      <a:noFill/>
                    </a:lnB>
                    <a:solidFill>
                      <a:srgbClr val="0D6EFD">
                        <a:alpha val="100000"/>
                      </a:srgbClr>
                    </a:solidFill>
                  </a:tcPr>
                </a:tc>
                <a:tc>
                  <a:txBody>
                    <a:bodyPr/>
                    <a:lstStyle/>
                    <a:p>
                      <a:pPr indent="0" algn="ctr">
                        <a:lnSpc>
                          <a:spcPct val="100000"/>
                        </a:lnSpc>
                        <a:defRPr/>
                      </a:pPr>
                      <a:r>
                        <a:rPr lang="en-US" sz="1400" b="1" i="0" u="none" strike="noStrike">
                          <a:solidFill>
                            <a:srgbClr val="FFFFFF"/>
                          </a:solidFill>
                          <a:latin typeface="Noto Sans SC"/>
                          <a:ea typeface="Noto Sans SC"/>
                          <a:cs typeface="Noto Sans SC"/>
                          <a:sym typeface="Noto Sans SC"/>
                        </a:rPr>
                        <a:t>总分</a:t>
                      </a:r>
                      <a:endParaRPr lang="en-US" sz="1100"/>
                    </a:p>
                  </a:txBody>
                  <a:tcPr marL="101600" marR="101600" marT="101600" marB="101600" anchor="ctr">
                    <a:lnL>
                      <a:noFill/>
                    </a:lnL>
                    <a:lnR>
                      <a:noFill/>
                    </a:lnR>
                    <a:lnT>
                      <a:noFill/>
                    </a:lnT>
                    <a:lnB>
                      <a:noFill/>
                    </a:lnB>
                    <a:solidFill>
                      <a:srgbClr val="0D6EFD">
                        <a:alpha val="100000"/>
                      </a:srgbClr>
                    </a:solidFill>
                  </a:tcPr>
                </a:tc>
                <a:tc>
                  <a:txBody>
                    <a:bodyPr/>
                    <a:lstStyle/>
                    <a:p>
                      <a:pPr indent="0" algn="ctr">
                        <a:lnSpc>
                          <a:spcPct val="100000"/>
                        </a:lnSpc>
                        <a:defRPr/>
                      </a:pPr>
                      <a:r>
                        <a:rPr lang="en-US" sz="1400" b="1" i="0" u="none" strike="noStrike">
                          <a:solidFill>
                            <a:srgbClr val="FFFFFF"/>
                          </a:solidFill>
                          <a:latin typeface="Noto Sans SC"/>
                          <a:ea typeface="Noto Sans SC"/>
                          <a:cs typeface="Noto Sans SC"/>
                          <a:sym typeface="Noto Sans SC"/>
                        </a:rPr>
                        <a:t>排名</a:t>
                      </a:r>
                      <a:endParaRPr lang="en-US" sz="1100"/>
                    </a:p>
                  </a:txBody>
                  <a:tcPr marL="101600" marR="101600" marT="101600" marB="101600" anchor="ctr">
                    <a:lnL>
                      <a:noFill/>
                    </a:lnL>
                    <a:lnR>
                      <a:noFill/>
                    </a:lnR>
                    <a:lnT>
                      <a:noFill/>
                    </a:lnT>
                    <a:lnB>
                      <a:noFill/>
                    </a:lnB>
                    <a:solidFill>
                      <a:srgbClr val="0D6EFD">
                        <a:alpha val="100000"/>
                      </a:srgbClr>
                    </a:solidFill>
                  </a:tcPr>
                </a:tc>
                <a:extLst>
                  <a:ext uri="{0D108BD9-81ED-4DB2-BD59-A6C34878D82A}">
                    <a16:rowId xmlns:a16="http://schemas.microsoft.com/office/drawing/2014/main" val="10000"/>
                  </a:ext>
                </a:extLst>
              </a:tr>
              <a:tr h="444500">
                <a:tc>
                  <a:txBody>
                    <a:bodyPr/>
                    <a:lstStyle/>
                    <a:p>
                      <a:pPr indent="0" algn="ctr">
                        <a:lnSpc>
                          <a:spcPct val="100000"/>
                        </a:lnSpc>
                        <a:defRPr/>
                      </a:pPr>
                      <a:r>
                        <a:rPr lang="en-US" sz="1200" b="0" i="0" u="none" strike="noStrike">
                          <a:solidFill>
                            <a:srgbClr val="1F2329"/>
                          </a:solidFill>
                          <a:latin typeface="Noto Sans SC"/>
                          <a:ea typeface="Noto Sans SC"/>
                          <a:cs typeface="Noto Sans SC"/>
                          <a:sym typeface="Noto Sans SC"/>
                        </a:rPr>
                        <a:t>A. React自研</a:t>
                      </a:r>
                      <a:endParaRPr lang="en-US" sz="1100"/>
                    </a:p>
                  </a:txBody>
                  <a:tcPr marL="101600" marR="101600" marT="101600" marB="101600" anchor="ctr">
                    <a:lnL>
                      <a:noFill/>
                    </a:lnL>
                    <a:lnR>
                      <a:noFill/>
                    </a:lnR>
                    <a:lnT>
                      <a:noFill/>
                    </a:lnT>
                    <a:lnB>
                      <a:noFill/>
                    </a:lnB>
                    <a:solidFill>
                      <a:srgbClr val="EFF6FF">
                        <a:alpha val="100000"/>
                      </a:srgbClr>
                    </a:solidFill>
                  </a:tcPr>
                </a:tc>
                <a:tc>
                  <a:txBody>
                    <a:bodyPr/>
                    <a:lstStyle/>
                    <a:p>
                      <a:pPr indent="0" algn="ctr">
                        <a:lnSpc>
                          <a:spcPct val="100000"/>
                        </a:lnSpc>
                        <a:defRPr/>
                      </a:pPr>
                      <a:r>
                        <a:rPr lang="en-US" sz="1200" b="0" i="0" u="none" strike="noStrike">
                          <a:solidFill>
                            <a:srgbClr val="1F2329"/>
                          </a:solidFill>
                          <a:latin typeface="Noto Sans SC"/>
                          <a:ea typeface="Noto Sans SC"/>
                          <a:cs typeface="Noto Sans SC"/>
                          <a:sym typeface="Noto Sans SC"/>
                        </a:rPr>
                        <a:t>9</a:t>
                      </a:r>
                      <a:endParaRPr lang="en-US" sz="1100"/>
                    </a:p>
                  </a:txBody>
                  <a:tcPr marL="101600" marR="101600" marT="101600" marB="101600" anchor="ctr">
                    <a:lnL>
                      <a:noFill/>
                    </a:lnL>
                    <a:lnR>
                      <a:noFill/>
                    </a:lnR>
                    <a:lnT>
                      <a:noFill/>
                    </a:lnT>
                    <a:lnB>
                      <a:noFill/>
                    </a:lnB>
                    <a:solidFill>
                      <a:srgbClr val="EFF6FF">
                        <a:alpha val="100000"/>
                      </a:srgbClr>
                    </a:solidFill>
                  </a:tcPr>
                </a:tc>
                <a:tc>
                  <a:txBody>
                    <a:bodyPr/>
                    <a:lstStyle/>
                    <a:p>
                      <a:pPr indent="0" algn="ctr">
                        <a:lnSpc>
                          <a:spcPct val="100000"/>
                        </a:lnSpc>
                        <a:defRPr/>
                      </a:pPr>
                      <a:r>
                        <a:rPr lang="en-US" sz="1200" b="0" i="0" u="none" strike="noStrike">
                          <a:solidFill>
                            <a:srgbClr val="1F2329"/>
                          </a:solidFill>
                          <a:latin typeface="Noto Sans SC"/>
                          <a:ea typeface="Noto Sans SC"/>
                          <a:cs typeface="Noto Sans SC"/>
                          <a:sym typeface="Noto Sans SC"/>
                        </a:rPr>
                        <a:t>3</a:t>
                      </a:r>
                      <a:endParaRPr lang="en-US" sz="1100"/>
                    </a:p>
                  </a:txBody>
                  <a:tcPr marL="101600" marR="101600" marT="101600" marB="101600" anchor="ctr">
                    <a:lnL>
                      <a:noFill/>
                    </a:lnL>
                    <a:lnR>
                      <a:noFill/>
                    </a:lnR>
                    <a:lnT>
                      <a:noFill/>
                    </a:lnT>
                    <a:lnB>
                      <a:noFill/>
                    </a:lnB>
                    <a:solidFill>
                      <a:srgbClr val="EFF6FF">
                        <a:alpha val="100000"/>
                      </a:srgbClr>
                    </a:solidFill>
                  </a:tcPr>
                </a:tc>
                <a:tc>
                  <a:txBody>
                    <a:bodyPr/>
                    <a:lstStyle/>
                    <a:p>
                      <a:pPr indent="0" algn="ctr">
                        <a:lnSpc>
                          <a:spcPct val="100000"/>
                        </a:lnSpc>
                        <a:defRPr/>
                      </a:pPr>
                      <a:r>
                        <a:rPr lang="en-US" sz="1200" b="0" i="0" u="none" strike="noStrike">
                          <a:solidFill>
                            <a:srgbClr val="1F2329"/>
                          </a:solidFill>
                          <a:latin typeface="Noto Sans SC"/>
                          <a:ea typeface="Noto Sans SC"/>
                          <a:cs typeface="Noto Sans SC"/>
                          <a:sym typeface="Noto Sans SC"/>
                        </a:rPr>
                        <a:t>4</a:t>
                      </a:r>
                      <a:endParaRPr lang="en-US" sz="1100"/>
                    </a:p>
                  </a:txBody>
                  <a:tcPr marL="101600" marR="101600" marT="101600" marB="101600" anchor="ctr">
                    <a:lnL>
                      <a:noFill/>
                    </a:lnL>
                    <a:lnR>
                      <a:noFill/>
                    </a:lnR>
                    <a:lnT>
                      <a:noFill/>
                    </a:lnT>
                    <a:lnB>
                      <a:noFill/>
                    </a:lnB>
                    <a:solidFill>
                      <a:srgbClr val="EFF6FF">
                        <a:alpha val="100000"/>
                      </a:srgbClr>
                    </a:solidFill>
                  </a:tcPr>
                </a:tc>
                <a:tc>
                  <a:txBody>
                    <a:bodyPr/>
                    <a:lstStyle/>
                    <a:p>
                      <a:pPr indent="0" algn="ctr">
                        <a:lnSpc>
                          <a:spcPct val="100000"/>
                        </a:lnSpc>
                        <a:defRPr/>
                      </a:pPr>
                      <a:r>
                        <a:rPr lang="en-US" sz="1200" b="0" i="0" u="none" strike="noStrike">
                          <a:solidFill>
                            <a:srgbClr val="1F2329"/>
                          </a:solidFill>
                          <a:latin typeface="Noto Sans SC"/>
                          <a:ea typeface="Noto Sans SC"/>
                          <a:cs typeface="Noto Sans SC"/>
                          <a:sym typeface="Noto Sans SC"/>
                        </a:rPr>
                        <a:t>8</a:t>
                      </a:r>
                      <a:endParaRPr lang="en-US" sz="1100"/>
                    </a:p>
                  </a:txBody>
                  <a:tcPr marL="101600" marR="101600" marT="101600" marB="101600" anchor="ctr">
                    <a:lnL>
                      <a:noFill/>
                    </a:lnL>
                    <a:lnR>
                      <a:noFill/>
                    </a:lnR>
                    <a:lnT>
                      <a:noFill/>
                    </a:lnT>
                    <a:lnB>
                      <a:noFill/>
                    </a:lnB>
                    <a:solidFill>
                      <a:srgbClr val="EFF6FF">
                        <a:alpha val="100000"/>
                      </a:srgbClr>
                    </a:solidFill>
                  </a:tcPr>
                </a:tc>
                <a:tc>
                  <a:txBody>
                    <a:bodyPr/>
                    <a:lstStyle/>
                    <a:p>
                      <a:pPr indent="0" algn="ctr">
                        <a:lnSpc>
                          <a:spcPct val="100000"/>
                        </a:lnSpc>
                        <a:defRPr/>
                      </a:pPr>
                      <a:r>
                        <a:rPr lang="en-US" sz="1200" b="1" i="0" u="none" strike="noStrike">
                          <a:solidFill>
                            <a:srgbClr val="1F2329"/>
                          </a:solidFill>
                          <a:latin typeface="Noto Sans SC"/>
                          <a:ea typeface="Noto Sans SC"/>
                          <a:cs typeface="Noto Sans SC"/>
                          <a:sym typeface="Noto Sans SC"/>
                        </a:rPr>
                        <a:t>6.12</a:t>
                      </a:r>
                      <a:endParaRPr lang="en-US" sz="1100"/>
                    </a:p>
                  </a:txBody>
                  <a:tcPr marL="101600" marR="101600" marT="101600" marB="101600" anchor="ctr">
                    <a:lnL>
                      <a:noFill/>
                    </a:lnL>
                    <a:lnR>
                      <a:noFill/>
                    </a:lnR>
                    <a:lnT>
                      <a:noFill/>
                    </a:lnT>
                    <a:lnB>
                      <a:noFill/>
                    </a:lnB>
                    <a:solidFill>
                      <a:srgbClr val="EFF6FF">
                        <a:alpha val="100000"/>
                      </a:srgbClr>
                    </a:solidFill>
                  </a:tcPr>
                </a:tc>
                <a:tc>
                  <a:txBody>
                    <a:bodyPr/>
                    <a:lstStyle/>
                    <a:p>
                      <a:pPr indent="0" algn="ctr">
                        <a:lnSpc>
                          <a:spcPct val="100000"/>
                        </a:lnSpc>
                        <a:defRPr/>
                      </a:pPr>
                      <a:r>
                        <a:rPr lang="en-US" sz="1200" b="1" i="0" u="none" strike="noStrike">
                          <a:solidFill>
                            <a:srgbClr val="0D6EFD"/>
                          </a:solidFill>
                          <a:latin typeface="Noto Sans SC"/>
                          <a:ea typeface="Noto Sans SC"/>
                          <a:cs typeface="Noto Sans SC"/>
                          <a:sym typeface="Noto Sans SC"/>
                        </a:rPr>
                        <a:t>1</a:t>
                      </a:r>
                      <a:endParaRPr lang="en-US" sz="1100"/>
                    </a:p>
                  </a:txBody>
                  <a:tcPr marL="101600" marR="101600" marT="101600" marB="101600" anchor="ctr">
                    <a:lnL>
                      <a:noFill/>
                    </a:lnL>
                    <a:lnR>
                      <a:noFill/>
                    </a:lnR>
                    <a:lnT>
                      <a:noFill/>
                    </a:lnT>
                    <a:lnB>
                      <a:noFill/>
                    </a:lnB>
                    <a:solidFill>
                      <a:srgbClr val="EFF6FF">
                        <a:alpha val="100000"/>
                      </a:srgbClr>
                    </a:solidFill>
                  </a:tcPr>
                </a:tc>
                <a:extLst>
                  <a:ext uri="{0D108BD9-81ED-4DB2-BD59-A6C34878D82A}">
                    <a16:rowId xmlns:a16="http://schemas.microsoft.com/office/drawing/2014/main" val="10001"/>
                  </a:ext>
                </a:extLst>
              </a:tr>
              <a:tr h="444500">
                <a:tc>
                  <a:txBody>
                    <a:bodyPr/>
                    <a:lstStyle/>
                    <a:p>
                      <a:pPr indent="0" algn="ctr">
                        <a:lnSpc>
                          <a:spcPct val="100000"/>
                        </a:lnSpc>
                        <a:defRPr/>
                      </a:pPr>
                      <a:r>
                        <a:rPr lang="en-US" sz="1200" b="0" i="0" u="none" strike="noStrike">
                          <a:solidFill>
                            <a:srgbClr val="1F2329"/>
                          </a:solidFill>
                          <a:latin typeface="Noto Sans SC"/>
                          <a:ea typeface="Noto Sans SC"/>
                          <a:cs typeface="Noto Sans SC"/>
                          <a:sym typeface="Noto Sans SC"/>
                        </a:rPr>
                        <a:t>B. Vue自研</a:t>
                      </a:r>
                      <a:endParaRPr lang="en-US" sz="1100"/>
                    </a:p>
                  </a:txBody>
                  <a:tcPr marL="101600" marR="101600" marT="101600" marB="101600" anchor="ctr">
                    <a:lnL>
                      <a:noFill/>
                    </a:lnL>
                    <a:lnR>
                      <a:noFill/>
                    </a:lnR>
                    <a:lnT>
                      <a:noFill/>
                    </a:lnT>
                    <a:lnB>
                      <a:noFill/>
                    </a:lnB>
                    <a:solidFill>
                      <a:srgbClr val="FFFFFF">
                        <a:alpha val="100000"/>
                      </a:srgbClr>
                    </a:solidFill>
                  </a:tcPr>
                </a:tc>
                <a:tc>
                  <a:txBody>
                    <a:bodyPr/>
                    <a:lstStyle/>
                    <a:p>
                      <a:pPr indent="0" algn="ctr">
                        <a:lnSpc>
                          <a:spcPct val="100000"/>
                        </a:lnSpc>
                        <a:defRPr/>
                      </a:pPr>
                      <a:r>
                        <a:rPr lang="en-US" sz="1200" b="0" i="0" u="none" strike="noStrike">
                          <a:solidFill>
                            <a:srgbClr val="1F2329"/>
                          </a:solidFill>
                          <a:latin typeface="Noto Sans SC"/>
                          <a:ea typeface="Noto Sans SC"/>
                          <a:cs typeface="Noto Sans SC"/>
                          <a:sym typeface="Noto Sans SC"/>
                        </a:rPr>
                        <a:t>8</a:t>
                      </a:r>
                      <a:endParaRPr lang="en-US" sz="1100"/>
                    </a:p>
                  </a:txBody>
                  <a:tcPr marL="101600" marR="101600" marT="101600" marB="101600" anchor="ctr">
                    <a:lnL>
                      <a:noFill/>
                    </a:lnL>
                    <a:lnR>
                      <a:noFill/>
                    </a:lnR>
                    <a:lnT>
                      <a:noFill/>
                    </a:lnT>
                    <a:lnB>
                      <a:noFill/>
                    </a:lnB>
                    <a:solidFill>
                      <a:srgbClr val="FFFFFF">
                        <a:alpha val="100000"/>
                      </a:srgbClr>
                    </a:solidFill>
                  </a:tcPr>
                </a:tc>
                <a:tc>
                  <a:txBody>
                    <a:bodyPr/>
                    <a:lstStyle/>
                    <a:p>
                      <a:pPr indent="0" algn="ctr">
                        <a:lnSpc>
                          <a:spcPct val="100000"/>
                        </a:lnSpc>
                        <a:defRPr/>
                      </a:pPr>
                      <a:r>
                        <a:rPr lang="en-US" sz="1200" b="0" i="0" u="none" strike="noStrike">
                          <a:solidFill>
                            <a:srgbClr val="1F2329"/>
                          </a:solidFill>
                          <a:latin typeface="Noto Sans SC"/>
                          <a:ea typeface="Noto Sans SC"/>
                          <a:cs typeface="Noto Sans SC"/>
                          <a:sym typeface="Noto Sans SC"/>
                        </a:rPr>
                        <a:t>4</a:t>
                      </a:r>
                      <a:endParaRPr lang="en-US" sz="1100"/>
                    </a:p>
                  </a:txBody>
                  <a:tcPr marL="101600" marR="101600" marT="101600" marB="101600" anchor="ctr">
                    <a:lnL>
                      <a:noFill/>
                    </a:lnL>
                    <a:lnR>
                      <a:noFill/>
                    </a:lnR>
                    <a:lnT>
                      <a:noFill/>
                    </a:lnT>
                    <a:lnB>
                      <a:noFill/>
                    </a:lnB>
                    <a:solidFill>
                      <a:srgbClr val="FFFFFF">
                        <a:alpha val="100000"/>
                      </a:srgbClr>
                    </a:solidFill>
                  </a:tcPr>
                </a:tc>
                <a:tc>
                  <a:txBody>
                    <a:bodyPr/>
                    <a:lstStyle/>
                    <a:p>
                      <a:pPr indent="0" algn="ctr">
                        <a:lnSpc>
                          <a:spcPct val="100000"/>
                        </a:lnSpc>
                        <a:defRPr/>
                      </a:pPr>
                      <a:r>
                        <a:rPr lang="en-US" sz="1200" b="0" i="0" u="none" strike="noStrike">
                          <a:solidFill>
                            <a:srgbClr val="1F2329"/>
                          </a:solidFill>
                          <a:latin typeface="Noto Sans SC"/>
                          <a:ea typeface="Noto Sans SC"/>
                          <a:cs typeface="Noto Sans SC"/>
                          <a:sym typeface="Noto Sans SC"/>
                        </a:rPr>
                        <a:t>3</a:t>
                      </a:r>
                      <a:endParaRPr lang="en-US" sz="1100"/>
                    </a:p>
                  </a:txBody>
                  <a:tcPr marL="101600" marR="101600" marT="101600" marB="101600" anchor="ctr">
                    <a:lnL>
                      <a:noFill/>
                    </a:lnL>
                    <a:lnR>
                      <a:noFill/>
                    </a:lnR>
                    <a:lnT>
                      <a:noFill/>
                    </a:lnT>
                    <a:lnB>
                      <a:noFill/>
                    </a:lnB>
                    <a:solidFill>
                      <a:srgbClr val="FFFFFF">
                        <a:alpha val="100000"/>
                      </a:srgbClr>
                    </a:solidFill>
                  </a:tcPr>
                </a:tc>
                <a:tc>
                  <a:txBody>
                    <a:bodyPr/>
                    <a:lstStyle/>
                    <a:p>
                      <a:pPr indent="0" algn="ctr">
                        <a:lnSpc>
                          <a:spcPct val="100000"/>
                        </a:lnSpc>
                        <a:defRPr/>
                      </a:pPr>
                      <a:r>
                        <a:rPr lang="en-US" sz="1200" b="0" i="0" u="none" strike="noStrike">
                          <a:solidFill>
                            <a:srgbClr val="1F2329"/>
                          </a:solidFill>
                          <a:latin typeface="Noto Sans SC"/>
                          <a:ea typeface="Noto Sans SC"/>
                          <a:cs typeface="Noto Sans SC"/>
                          <a:sym typeface="Noto Sans SC"/>
                        </a:rPr>
                        <a:t>8</a:t>
                      </a:r>
                      <a:endParaRPr lang="en-US" sz="1100"/>
                    </a:p>
                  </a:txBody>
                  <a:tcPr marL="101600" marR="101600" marT="101600" marB="101600" anchor="ctr">
                    <a:lnL>
                      <a:noFill/>
                    </a:lnL>
                    <a:lnR>
                      <a:noFill/>
                    </a:lnR>
                    <a:lnT>
                      <a:noFill/>
                    </a:lnT>
                    <a:lnB>
                      <a:noFill/>
                    </a:lnB>
                    <a:solidFill>
                      <a:srgbClr val="FFFFFF">
                        <a:alpha val="100000"/>
                      </a:srgbClr>
                    </a:solidFill>
                  </a:tcPr>
                </a:tc>
                <a:tc>
                  <a:txBody>
                    <a:bodyPr/>
                    <a:lstStyle/>
                    <a:p>
                      <a:pPr indent="0" algn="ctr">
                        <a:lnSpc>
                          <a:spcPct val="100000"/>
                        </a:lnSpc>
                        <a:defRPr/>
                      </a:pPr>
                      <a:r>
                        <a:rPr lang="en-US" sz="1200" b="0" i="0" u="none" strike="noStrike">
                          <a:solidFill>
                            <a:srgbClr val="1F2329"/>
                          </a:solidFill>
                          <a:latin typeface="Noto Sans SC"/>
                          <a:ea typeface="Noto Sans SC"/>
                          <a:cs typeface="Noto Sans SC"/>
                          <a:sym typeface="Noto Sans SC"/>
                        </a:rPr>
                        <a:t>5.73</a:t>
                      </a:r>
                      <a:endParaRPr lang="en-US" sz="1100"/>
                    </a:p>
                  </a:txBody>
                  <a:tcPr marL="101600" marR="101600" marT="101600" marB="101600" anchor="ctr">
                    <a:lnL>
                      <a:noFill/>
                    </a:lnL>
                    <a:lnR>
                      <a:noFill/>
                    </a:lnR>
                    <a:lnT>
                      <a:noFill/>
                    </a:lnT>
                    <a:lnB>
                      <a:noFill/>
                    </a:lnB>
                    <a:solidFill>
                      <a:srgbClr val="FFFFFF">
                        <a:alpha val="100000"/>
                      </a:srgbClr>
                    </a:solidFill>
                  </a:tcPr>
                </a:tc>
                <a:tc>
                  <a:txBody>
                    <a:bodyPr/>
                    <a:lstStyle/>
                    <a:p>
                      <a:pPr indent="0" algn="ctr">
                        <a:lnSpc>
                          <a:spcPct val="100000"/>
                        </a:lnSpc>
                        <a:defRPr/>
                      </a:pPr>
                      <a:r>
                        <a:rPr lang="en-US" sz="1200" b="0" i="0" u="none" strike="noStrike">
                          <a:solidFill>
                            <a:srgbClr val="1F2329"/>
                          </a:solidFill>
                          <a:latin typeface="Noto Sans SC"/>
                          <a:ea typeface="Noto Sans SC"/>
                          <a:cs typeface="Noto Sans SC"/>
                          <a:sym typeface="Noto Sans SC"/>
                        </a:rPr>
                        <a:t>2</a:t>
                      </a:r>
                      <a:endParaRPr lang="en-US" sz="1100"/>
                    </a:p>
                  </a:txBody>
                  <a:tcPr marL="101600" marR="101600" marT="101600" marB="101600" anchor="ctr">
                    <a:lnL>
                      <a:noFill/>
                    </a:lnL>
                    <a:lnR>
                      <a:noFill/>
                    </a:lnR>
                    <a:lnT>
                      <a:noFill/>
                    </a:lnT>
                    <a:lnB>
                      <a:noFill/>
                    </a:lnB>
                    <a:solidFill>
                      <a:srgbClr val="FFFFFF">
                        <a:alpha val="100000"/>
                      </a:srgbClr>
                    </a:solidFill>
                  </a:tcPr>
                </a:tc>
                <a:extLst>
                  <a:ext uri="{0D108BD9-81ED-4DB2-BD59-A6C34878D82A}">
                    <a16:rowId xmlns:a16="http://schemas.microsoft.com/office/drawing/2014/main" val="10002"/>
                  </a:ext>
                </a:extLst>
              </a:tr>
              <a:tr h="444500">
                <a:tc>
                  <a:txBody>
                    <a:bodyPr/>
                    <a:lstStyle/>
                    <a:p>
                      <a:pPr indent="0" algn="ctr">
                        <a:lnSpc>
                          <a:spcPct val="100000"/>
                        </a:lnSpc>
                        <a:defRPr/>
                      </a:pPr>
                      <a:r>
                        <a:rPr lang="en-US" sz="1200" b="0" i="0" u="none" strike="noStrike">
                          <a:solidFill>
                            <a:srgbClr val="1F2329"/>
                          </a:solidFill>
                          <a:latin typeface="Noto Sans SC"/>
                          <a:ea typeface="Noto Sans SC"/>
                          <a:cs typeface="Noto Sans SC"/>
                          <a:sym typeface="Noto Sans SC"/>
                        </a:rPr>
                        <a:t>C. 外包开发</a:t>
                      </a:r>
                      <a:endParaRPr lang="en-US" sz="1100"/>
                    </a:p>
                  </a:txBody>
                  <a:tcPr marL="101600" marR="101600" marT="101600" marB="101600" anchor="ctr">
                    <a:lnL>
                      <a:noFill/>
                    </a:lnL>
                    <a:lnR>
                      <a:noFill/>
                    </a:lnR>
                    <a:lnT>
                      <a:noFill/>
                    </a:lnT>
                    <a:lnB>
                      <a:noFill/>
                    </a:lnB>
                    <a:solidFill>
                      <a:srgbClr val="EFF6FF">
                        <a:alpha val="100000"/>
                      </a:srgbClr>
                    </a:solidFill>
                  </a:tcPr>
                </a:tc>
                <a:tc>
                  <a:txBody>
                    <a:bodyPr/>
                    <a:lstStyle/>
                    <a:p>
                      <a:pPr indent="0" algn="ctr">
                        <a:lnSpc>
                          <a:spcPct val="100000"/>
                        </a:lnSpc>
                        <a:defRPr/>
                      </a:pPr>
                      <a:r>
                        <a:rPr lang="en-US" sz="1200" b="0" i="0" u="none" strike="noStrike">
                          <a:solidFill>
                            <a:srgbClr val="1F2329"/>
                          </a:solidFill>
                          <a:latin typeface="Noto Sans SC"/>
                          <a:ea typeface="Noto Sans SC"/>
                          <a:cs typeface="Noto Sans SC"/>
                          <a:sym typeface="Noto Sans SC"/>
                        </a:rPr>
                        <a:t>6</a:t>
                      </a:r>
                      <a:endParaRPr lang="en-US" sz="1100"/>
                    </a:p>
                  </a:txBody>
                  <a:tcPr marL="101600" marR="101600" marT="101600" marB="101600" anchor="ctr">
                    <a:lnL>
                      <a:noFill/>
                    </a:lnL>
                    <a:lnR>
                      <a:noFill/>
                    </a:lnR>
                    <a:lnT>
                      <a:noFill/>
                    </a:lnT>
                    <a:lnB>
                      <a:noFill/>
                    </a:lnB>
                    <a:solidFill>
                      <a:srgbClr val="EFF6FF">
                        <a:alpha val="100000"/>
                      </a:srgbClr>
                    </a:solidFill>
                  </a:tcPr>
                </a:tc>
                <a:tc>
                  <a:txBody>
                    <a:bodyPr/>
                    <a:lstStyle/>
                    <a:p>
                      <a:pPr indent="0" algn="ctr">
                        <a:lnSpc>
                          <a:spcPct val="100000"/>
                        </a:lnSpc>
                        <a:defRPr/>
                      </a:pPr>
                      <a:r>
                        <a:rPr lang="en-US" sz="1200" b="0" i="0" u="none" strike="noStrike">
                          <a:solidFill>
                            <a:srgbClr val="1F2329"/>
                          </a:solidFill>
                          <a:latin typeface="Noto Sans SC"/>
                          <a:ea typeface="Noto Sans SC"/>
                          <a:cs typeface="Noto Sans SC"/>
                          <a:sym typeface="Noto Sans SC"/>
                        </a:rPr>
                        <a:t>7</a:t>
                      </a:r>
                      <a:endParaRPr lang="en-US" sz="1100"/>
                    </a:p>
                  </a:txBody>
                  <a:tcPr marL="101600" marR="101600" marT="101600" marB="101600" anchor="ctr">
                    <a:lnL>
                      <a:noFill/>
                    </a:lnL>
                    <a:lnR>
                      <a:noFill/>
                    </a:lnR>
                    <a:lnT>
                      <a:noFill/>
                    </a:lnT>
                    <a:lnB>
                      <a:noFill/>
                    </a:lnB>
                    <a:solidFill>
                      <a:srgbClr val="EFF6FF">
                        <a:alpha val="100000"/>
                      </a:srgbClr>
                    </a:solidFill>
                  </a:tcPr>
                </a:tc>
                <a:tc>
                  <a:txBody>
                    <a:bodyPr/>
                    <a:lstStyle/>
                    <a:p>
                      <a:pPr indent="0" algn="ctr">
                        <a:lnSpc>
                          <a:spcPct val="100000"/>
                        </a:lnSpc>
                        <a:defRPr/>
                      </a:pPr>
                      <a:r>
                        <a:rPr lang="en-US" sz="1200" b="0" i="0" u="none" strike="noStrike">
                          <a:solidFill>
                            <a:srgbClr val="1F2329"/>
                          </a:solidFill>
                          <a:latin typeface="Noto Sans SC"/>
                          <a:ea typeface="Noto Sans SC"/>
                          <a:cs typeface="Noto Sans SC"/>
                          <a:sym typeface="Noto Sans SC"/>
                        </a:rPr>
                        <a:t>2</a:t>
                      </a:r>
                      <a:endParaRPr lang="en-US" sz="1100"/>
                    </a:p>
                  </a:txBody>
                  <a:tcPr marL="101600" marR="101600" marT="101600" marB="101600" anchor="ctr">
                    <a:lnL>
                      <a:noFill/>
                    </a:lnL>
                    <a:lnR>
                      <a:noFill/>
                    </a:lnR>
                    <a:lnT>
                      <a:noFill/>
                    </a:lnT>
                    <a:lnB>
                      <a:noFill/>
                    </a:lnB>
                    <a:solidFill>
                      <a:srgbClr val="EFF6FF">
                        <a:alpha val="100000"/>
                      </a:srgbClr>
                    </a:solidFill>
                  </a:tcPr>
                </a:tc>
                <a:tc>
                  <a:txBody>
                    <a:bodyPr/>
                    <a:lstStyle/>
                    <a:p>
                      <a:pPr indent="0" algn="ctr">
                        <a:lnSpc>
                          <a:spcPct val="100000"/>
                        </a:lnSpc>
                        <a:defRPr/>
                      </a:pPr>
                      <a:r>
                        <a:rPr lang="en-US" sz="1200" b="0" i="0" u="none" strike="noStrike">
                          <a:solidFill>
                            <a:srgbClr val="1F2329"/>
                          </a:solidFill>
                          <a:latin typeface="Noto Sans SC"/>
                          <a:ea typeface="Noto Sans SC"/>
                          <a:cs typeface="Noto Sans SC"/>
                          <a:sym typeface="Noto Sans SC"/>
                        </a:rPr>
                        <a:t>5</a:t>
                      </a:r>
                      <a:endParaRPr lang="en-US" sz="1100"/>
                    </a:p>
                  </a:txBody>
                  <a:tcPr marL="101600" marR="101600" marT="101600" marB="101600" anchor="ctr">
                    <a:lnL>
                      <a:noFill/>
                    </a:lnL>
                    <a:lnR>
                      <a:noFill/>
                    </a:lnR>
                    <a:lnT>
                      <a:noFill/>
                    </a:lnT>
                    <a:lnB>
                      <a:noFill/>
                    </a:lnB>
                    <a:solidFill>
                      <a:srgbClr val="EFF6FF">
                        <a:alpha val="100000"/>
                      </a:srgbClr>
                    </a:solidFill>
                  </a:tcPr>
                </a:tc>
                <a:tc>
                  <a:txBody>
                    <a:bodyPr/>
                    <a:lstStyle/>
                    <a:p>
                      <a:pPr indent="0" algn="ctr">
                        <a:lnSpc>
                          <a:spcPct val="100000"/>
                        </a:lnSpc>
                        <a:defRPr/>
                      </a:pPr>
                      <a:r>
                        <a:rPr lang="en-US" sz="1200" b="0" i="0" u="none" strike="noStrike">
                          <a:solidFill>
                            <a:srgbClr val="1F2329"/>
                          </a:solidFill>
                          <a:latin typeface="Noto Sans SC"/>
                          <a:ea typeface="Noto Sans SC"/>
                          <a:cs typeface="Noto Sans SC"/>
                          <a:sym typeface="Noto Sans SC"/>
                        </a:rPr>
                        <a:t>5.41</a:t>
                      </a:r>
                      <a:endParaRPr lang="en-US" sz="1100"/>
                    </a:p>
                  </a:txBody>
                  <a:tcPr marL="101600" marR="101600" marT="101600" marB="101600" anchor="ctr">
                    <a:lnL>
                      <a:noFill/>
                    </a:lnL>
                    <a:lnR>
                      <a:noFill/>
                    </a:lnR>
                    <a:lnT>
                      <a:noFill/>
                    </a:lnT>
                    <a:lnB>
                      <a:noFill/>
                    </a:lnB>
                    <a:solidFill>
                      <a:srgbClr val="EFF6FF">
                        <a:alpha val="100000"/>
                      </a:srgbClr>
                    </a:solidFill>
                  </a:tcPr>
                </a:tc>
                <a:tc>
                  <a:txBody>
                    <a:bodyPr/>
                    <a:lstStyle/>
                    <a:p>
                      <a:pPr indent="0" algn="ctr">
                        <a:lnSpc>
                          <a:spcPct val="100000"/>
                        </a:lnSpc>
                        <a:defRPr/>
                      </a:pPr>
                      <a:r>
                        <a:rPr lang="en-US" sz="1200" b="0" i="0" u="none" strike="noStrike">
                          <a:solidFill>
                            <a:srgbClr val="1F2329"/>
                          </a:solidFill>
                          <a:latin typeface="Noto Sans SC"/>
                          <a:ea typeface="Noto Sans SC"/>
                          <a:cs typeface="Noto Sans SC"/>
                          <a:sym typeface="Noto Sans SC"/>
                        </a:rPr>
                        <a:t>3</a:t>
                      </a:r>
                      <a:endParaRPr lang="en-US" sz="1100"/>
                    </a:p>
                  </a:txBody>
                  <a:tcPr marL="101600" marR="101600" marT="101600" marB="101600" anchor="ctr">
                    <a:lnL>
                      <a:noFill/>
                    </a:lnL>
                    <a:lnR>
                      <a:noFill/>
                    </a:lnR>
                    <a:lnT>
                      <a:noFill/>
                    </a:lnT>
                    <a:lnB>
                      <a:noFill/>
                    </a:lnB>
                    <a:solidFill>
                      <a:srgbClr val="EFF6FF">
                        <a:alpha val="100000"/>
                      </a:srgbClr>
                    </a:solidFill>
                  </a:tcPr>
                </a:tc>
                <a:extLst>
                  <a:ext uri="{0D108BD9-81ED-4DB2-BD59-A6C34878D82A}">
                    <a16:rowId xmlns:a16="http://schemas.microsoft.com/office/drawing/2014/main" val="10003"/>
                  </a:ext>
                </a:extLst>
              </a:tr>
              <a:tr h="444500">
                <a:tc>
                  <a:txBody>
                    <a:bodyPr/>
                    <a:lstStyle/>
                    <a:p>
                      <a:pPr indent="0" algn="ctr">
                        <a:lnSpc>
                          <a:spcPct val="100000"/>
                        </a:lnSpc>
                        <a:defRPr/>
                      </a:pPr>
                      <a:r>
                        <a:rPr lang="en-US" sz="1200" b="0" i="0" u="none" strike="noStrike">
                          <a:solidFill>
                            <a:srgbClr val="1F2329"/>
                          </a:solidFill>
                          <a:latin typeface="Noto Sans SC"/>
                          <a:ea typeface="Noto Sans SC"/>
                          <a:cs typeface="Noto Sans SC"/>
                          <a:sym typeface="Noto Sans SC"/>
                        </a:rPr>
                        <a:t>D. 购买模板</a:t>
                      </a:r>
                      <a:endParaRPr lang="en-US" sz="1100"/>
                    </a:p>
                  </a:txBody>
                  <a:tcPr marL="101600" marR="101600" marT="101600" marB="101600" anchor="ctr">
                    <a:lnL>
                      <a:noFill/>
                    </a:lnL>
                    <a:lnR>
                      <a:noFill/>
                    </a:lnR>
                    <a:lnT>
                      <a:noFill/>
                    </a:lnT>
                    <a:lnB>
                      <a:noFill/>
                    </a:lnB>
                    <a:solidFill>
                      <a:srgbClr val="FFFFFF">
                        <a:alpha val="100000"/>
                      </a:srgbClr>
                    </a:solidFill>
                  </a:tcPr>
                </a:tc>
                <a:tc>
                  <a:txBody>
                    <a:bodyPr/>
                    <a:lstStyle/>
                    <a:p>
                      <a:pPr indent="0" algn="ctr">
                        <a:lnSpc>
                          <a:spcPct val="100000"/>
                        </a:lnSpc>
                        <a:defRPr/>
                      </a:pPr>
                      <a:r>
                        <a:rPr lang="en-US" sz="1200" b="0" i="0" u="none" strike="noStrike">
                          <a:solidFill>
                            <a:srgbClr val="1F2329"/>
                          </a:solidFill>
                          <a:latin typeface="Noto Sans SC"/>
                          <a:ea typeface="Noto Sans SC"/>
                          <a:cs typeface="Noto Sans SC"/>
                          <a:sym typeface="Noto Sans SC"/>
                        </a:rPr>
                        <a:t>4</a:t>
                      </a:r>
                      <a:endParaRPr lang="en-US" sz="1100"/>
                    </a:p>
                  </a:txBody>
                  <a:tcPr marL="101600" marR="101600" marT="101600" marB="101600" anchor="ctr">
                    <a:lnL>
                      <a:noFill/>
                    </a:lnL>
                    <a:lnR>
                      <a:noFill/>
                    </a:lnR>
                    <a:lnT>
                      <a:noFill/>
                    </a:lnT>
                    <a:lnB>
                      <a:noFill/>
                    </a:lnB>
                    <a:solidFill>
                      <a:srgbClr val="FFFFFF">
                        <a:alpha val="100000"/>
                      </a:srgbClr>
                    </a:solidFill>
                  </a:tcPr>
                </a:tc>
                <a:tc>
                  <a:txBody>
                    <a:bodyPr/>
                    <a:lstStyle/>
                    <a:p>
                      <a:pPr indent="0" algn="ctr">
                        <a:lnSpc>
                          <a:spcPct val="100000"/>
                        </a:lnSpc>
                        <a:defRPr/>
                      </a:pPr>
                      <a:r>
                        <a:rPr lang="en-US" sz="1200" b="0" i="0" u="none" strike="noStrike">
                          <a:solidFill>
                            <a:srgbClr val="1F2329"/>
                          </a:solidFill>
                          <a:latin typeface="Noto Sans SC"/>
                          <a:ea typeface="Noto Sans SC"/>
                          <a:cs typeface="Noto Sans SC"/>
                          <a:sym typeface="Noto Sans SC"/>
                        </a:rPr>
                        <a:t>8</a:t>
                      </a:r>
                      <a:endParaRPr lang="en-US" sz="1100"/>
                    </a:p>
                  </a:txBody>
                  <a:tcPr marL="101600" marR="101600" marT="101600" marB="101600" anchor="ctr">
                    <a:lnL>
                      <a:noFill/>
                    </a:lnL>
                    <a:lnR>
                      <a:noFill/>
                    </a:lnR>
                    <a:lnT>
                      <a:noFill/>
                    </a:lnT>
                    <a:lnB>
                      <a:noFill/>
                    </a:lnB>
                    <a:solidFill>
                      <a:srgbClr val="FFFFFF">
                        <a:alpha val="100000"/>
                      </a:srgbClr>
                    </a:solidFill>
                  </a:tcPr>
                </a:tc>
                <a:tc>
                  <a:txBody>
                    <a:bodyPr/>
                    <a:lstStyle/>
                    <a:p>
                      <a:pPr indent="0" algn="ctr">
                        <a:lnSpc>
                          <a:spcPct val="100000"/>
                        </a:lnSpc>
                        <a:defRPr/>
                      </a:pPr>
                      <a:r>
                        <a:rPr lang="en-US" sz="1200" b="0" i="0" u="none" strike="noStrike">
                          <a:solidFill>
                            <a:srgbClr val="1F2329"/>
                          </a:solidFill>
                          <a:latin typeface="Noto Sans SC"/>
                          <a:ea typeface="Noto Sans SC"/>
                          <a:cs typeface="Noto Sans SC"/>
                          <a:sym typeface="Noto Sans SC"/>
                        </a:rPr>
                        <a:t>2</a:t>
                      </a:r>
                      <a:endParaRPr lang="en-US" sz="1100"/>
                    </a:p>
                  </a:txBody>
                  <a:tcPr marL="101600" marR="101600" marT="101600" marB="101600" anchor="ctr">
                    <a:lnL>
                      <a:noFill/>
                    </a:lnL>
                    <a:lnR>
                      <a:noFill/>
                    </a:lnR>
                    <a:lnT>
                      <a:noFill/>
                    </a:lnT>
                    <a:lnB>
                      <a:noFill/>
                    </a:lnB>
                    <a:solidFill>
                      <a:srgbClr val="FFFFFF">
                        <a:alpha val="100000"/>
                      </a:srgbClr>
                    </a:solidFill>
                  </a:tcPr>
                </a:tc>
                <a:tc>
                  <a:txBody>
                    <a:bodyPr/>
                    <a:lstStyle/>
                    <a:p>
                      <a:pPr indent="0" algn="ctr">
                        <a:lnSpc>
                          <a:spcPct val="100000"/>
                        </a:lnSpc>
                        <a:defRPr/>
                      </a:pPr>
                      <a:r>
                        <a:rPr lang="en-US" sz="1200" b="0" i="0" u="none" strike="noStrike">
                          <a:solidFill>
                            <a:srgbClr val="1F2329"/>
                          </a:solidFill>
                          <a:latin typeface="Noto Sans SC"/>
                          <a:ea typeface="Noto Sans SC"/>
                          <a:cs typeface="Noto Sans SC"/>
                          <a:sym typeface="Noto Sans SC"/>
                        </a:rPr>
                        <a:t>3</a:t>
                      </a:r>
                      <a:endParaRPr lang="en-US" sz="1100"/>
                    </a:p>
                  </a:txBody>
                  <a:tcPr marL="101600" marR="101600" marT="101600" marB="101600" anchor="ctr">
                    <a:lnL>
                      <a:noFill/>
                    </a:lnL>
                    <a:lnR>
                      <a:noFill/>
                    </a:lnR>
                    <a:lnT>
                      <a:noFill/>
                    </a:lnT>
                    <a:lnB>
                      <a:noFill/>
                    </a:lnB>
                    <a:solidFill>
                      <a:srgbClr val="FFFFFF">
                        <a:alpha val="100000"/>
                      </a:srgbClr>
                    </a:solidFill>
                  </a:tcPr>
                </a:tc>
                <a:tc>
                  <a:txBody>
                    <a:bodyPr/>
                    <a:lstStyle/>
                    <a:p>
                      <a:pPr indent="0" algn="ctr">
                        <a:lnSpc>
                          <a:spcPct val="100000"/>
                        </a:lnSpc>
                        <a:defRPr/>
                      </a:pPr>
                      <a:r>
                        <a:rPr lang="en-US" sz="1200" b="0" i="0" u="none" strike="noStrike">
                          <a:solidFill>
                            <a:srgbClr val="1F2329"/>
                          </a:solidFill>
                          <a:latin typeface="Noto Sans SC"/>
                          <a:ea typeface="Noto Sans SC"/>
                          <a:cs typeface="Noto Sans SC"/>
                          <a:sym typeface="Noto Sans SC"/>
                        </a:rPr>
                        <a:t>4.93</a:t>
                      </a:r>
                      <a:endParaRPr lang="en-US" sz="1100"/>
                    </a:p>
                  </a:txBody>
                  <a:tcPr marL="101600" marR="101600" marT="101600" marB="101600" anchor="ctr">
                    <a:lnL>
                      <a:noFill/>
                    </a:lnL>
                    <a:lnR>
                      <a:noFill/>
                    </a:lnR>
                    <a:lnT>
                      <a:noFill/>
                    </a:lnT>
                    <a:lnB>
                      <a:noFill/>
                    </a:lnB>
                    <a:solidFill>
                      <a:srgbClr val="FFFFFF">
                        <a:alpha val="100000"/>
                      </a:srgbClr>
                    </a:solidFill>
                  </a:tcPr>
                </a:tc>
                <a:tc>
                  <a:txBody>
                    <a:bodyPr/>
                    <a:lstStyle/>
                    <a:p>
                      <a:pPr indent="0" algn="ctr">
                        <a:lnSpc>
                          <a:spcPct val="100000"/>
                        </a:lnSpc>
                        <a:defRPr/>
                      </a:pPr>
                      <a:r>
                        <a:rPr lang="en-US" sz="1200" b="0" i="0" u="none" strike="noStrike">
                          <a:solidFill>
                            <a:srgbClr val="1F2329"/>
                          </a:solidFill>
                          <a:latin typeface="Noto Sans SC"/>
                          <a:ea typeface="Noto Sans SC"/>
                          <a:cs typeface="Noto Sans SC"/>
                          <a:sym typeface="Noto Sans SC"/>
                        </a:rPr>
                        <a:t>4</a:t>
                      </a:r>
                      <a:endParaRPr lang="en-US" sz="1100"/>
                    </a:p>
                  </a:txBody>
                  <a:tcPr marL="101600" marR="101600" marT="101600" marB="101600" anchor="ctr">
                    <a:lnL>
                      <a:noFill/>
                    </a:lnL>
                    <a:lnR>
                      <a:noFill/>
                    </a:lnR>
                    <a:lnT>
                      <a:noFill/>
                    </a:lnT>
                    <a:lnB>
                      <a:noFill/>
                    </a:lnB>
                    <a:solidFill>
                      <a:srgbClr val="FFFFFF">
                        <a:alpha val="100000"/>
                      </a:srgbClr>
                    </a:solidFill>
                  </a:tcPr>
                </a:tc>
                <a:extLst>
                  <a:ext uri="{0D108BD9-81ED-4DB2-BD59-A6C34878D82A}">
                    <a16:rowId xmlns:a16="http://schemas.microsoft.com/office/drawing/2014/main" val="10004"/>
                  </a:ext>
                </a:extLst>
              </a:tr>
            </a:tbl>
          </a:graphicData>
        </a:graphic>
      </p:graphicFrame>
      <p:sp>
        <p:nvSpPr>
          <p:cNvPr id="6" name="AutoShape 6"/>
          <p:cNvSpPr/>
          <p:nvPr/>
        </p:nvSpPr>
        <p:spPr>
          <a:xfrm>
            <a:off x="7035800" y="1346200"/>
            <a:ext cx="4826000" cy="1651000"/>
          </a:xfrm>
          <a:prstGeom prst="roundRect">
            <a:avLst>
              <a:gd name="adj" fmla="val 7692"/>
            </a:avLst>
          </a:prstGeom>
          <a:solidFill>
            <a:srgbClr val="F8F9FA">
              <a:alpha val="100000"/>
            </a:srgbClr>
          </a:solidFill>
          <a:ln w="12700" cap="flat" cmpd="sng">
            <a:solidFill>
              <a:srgbClr val="DEE2E6">
                <a:alpha val="100000"/>
              </a:srgbClr>
            </a:solid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7162800" y="1447800"/>
            <a:ext cx="4572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D6EFD"/>
                </a:solidFill>
                <a:latin typeface="Noto Sans SC"/>
                <a:ea typeface="Noto Sans SC"/>
                <a:cs typeface="Noto Sans SC"/>
                <a:sym typeface="Noto Sans SC"/>
              </a:rPr>
              <a:t>计算示例（方案A）</a:t>
            </a:r>
            <a:endParaRPr lang="en-US" sz="1100"/>
          </a:p>
        </p:txBody>
      </p:sp>
      <p:sp>
        <p:nvSpPr>
          <p:cNvPr id="8" name="AutoShape 8"/>
          <p:cNvSpPr/>
          <p:nvPr/>
        </p:nvSpPr>
        <p:spPr>
          <a:xfrm>
            <a:off x="7162800" y="1790700"/>
            <a:ext cx="4572000" cy="1143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0" i="0" u="none" strike="noStrike" dirty="0">
                <a:solidFill>
                  <a:srgbClr val="6C757D"/>
                </a:solidFill>
                <a:latin typeface="Noto Sans SC"/>
                <a:ea typeface="Noto Sans SC"/>
                <a:cs typeface="Noto Sans SC"/>
                <a:sym typeface="Noto Sans SC"/>
              </a:rPr>
              <a:t>业务价值：9 × 47.3% = 4.26 | </a:t>
            </a:r>
            <a:r>
              <a:rPr lang="en-US" sz="1200" b="0" i="0" u="none" strike="noStrike" dirty="0" err="1">
                <a:solidFill>
                  <a:srgbClr val="6C757D"/>
                </a:solidFill>
                <a:latin typeface="Noto Sans SC"/>
                <a:ea typeface="Noto Sans SC"/>
                <a:cs typeface="Noto Sans SC"/>
                <a:sym typeface="Noto Sans SC"/>
              </a:rPr>
              <a:t>开发成本</a:t>
            </a:r>
            <a:r>
              <a:rPr lang="en-US" sz="1200" b="0" i="0" u="none" strike="noStrike" dirty="0">
                <a:solidFill>
                  <a:srgbClr val="6C757D"/>
                </a:solidFill>
                <a:latin typeface="Noto Sans SC"/>
                <a:ea typeface="Noto Sans SC"/>
                <a:cs typeface="Noto Sans SC"/>
                <a:sym typeface="Noto Sans SC"/>
              </a:rPr>
              <a:t>：(10-3) × 26.0% = 1.82</a:t>
            </a:r>
            <a:endParaRPr lang="en-US" sz="1100" dirty="0"/>
          </a:p>
          <a:p>
            <a:pPr indent="0" algn="l">
              <a:lnSpc>
                <a:spcPct val="100000"/>
              </a:lnSpc>
            </a:pPr>
            <a:r>
              <a:rPr lang="en-US" sz="1200" b="0" i="0" u="none" strike="noStrike" dirty="0" err="1">
                <a:solidFill>
                  <a:srgbClr val="6C757D"/>
                </a:solidFill>
                <a:latin typeface="Noto Sans SC"/>
                <a:ea typeface="Noto Sans SC"/>
                <a:cs typeface="Noto Sans SC"/>
                <a:sym typeface="Noto Sans SC"/>
              </a:rPr>
              <a:t>技术风险</a:t>
            </a:r>
            <a:r>
              <a:rPr lang="en-US" sz="1200" b="0" i="0" u="none" strike="noStrike" dirty="0">
                <a:solidFill>
                  <a:srgbClr val="6C757D"/>
                </a:solidFill>
                <a:latin typeface="Noto Sans SC"/>
                <a:ea typeface="Noto Sans SC"/>
                <a:cs typeface="Noto Sans SC"/>
                <a:sym typeface="Noto Sans SC"/>
              </a:rPr>
              <a:t>：(10-4) × 15.1% = 0.91 | 可维护性：8 × 11.6% = 0.93</a:t>
            </a:r>
          </a:p>
          <a:p>
            <a:pPr indent="0" algn="l">
              <a:lnSpc>
                <a:spcPct val="100000"/>
              </a:lnSpc>
            </a:pPr>
            <a:r>
              <a:rPr lang="en-US" sz="1200" b="0" i="0" u="none" strike="noStrike" dirty="0" err="1">
                <a:solidFill>
                  <a:srgbClr val="6C757D"/>
                </a:solidFill>
                <a:latin typeface="Noto Sans SC"/>
                <a:ea typeface="Noto Sans SC"/>
                <a:cs typeface="Noto Sans SC"/>
                <a:sym typeface="Noto Sans SC"/>
              </a:rPr>
              <a:t>总分</a:t>
            </a:r>
            <a:r>
              <a:rPr lang="en-US" sz="1200" b="0" i="0" u="none" strike="noStrike" dirty="0">
                <a:solidFill>
                  <a:srgbClr val="6C757D"/>
                </a:solidFill>
                <a:latin typeface="Noto Sans SC"/>
                <a:ea typeface="Noto Sans SC"/>
                <a:cs typeface="Noto Sans SC"/>
                <a:sym typeface="Noto Sans SC"/>
              </a:rPr>
              <a:t> = 4.26 + 1.82 + 0.91 + 0.93 =</a:t>
            </a:r>
            <a:r>
              <a:rPr lang="en-US" sz="1400" b="1" i="0" u="none" strike="noStrike" dirty="0">
                <a:solidFill>
                  <a:srgbClr val="0D6EFD"/>
                </a:solidFill>
                <a:latin typeface="Noto Sans SC"/>
                <a:ea typeface="Noto Sans SC"/>
                <a:cs typeface="Noto Sans SC"/>
                <a:sym typeface="Noto Sans SC"/>
              </a:rPr>
              <a:t>6.12</a:t>
            </a:r>
          </a:p>
        </p:txBody>
      </p:sp>
      <p:sp>
        <p:nvSpPr>
          <p:cNvPr id="9" name="AutoShape 9"/>
          <p:cNvSpPr/>
          <p:nvPr/>
        </p:nvSpPr>
        <p:spPr>
          <a:xfrm>
            <a:off x="6604000" y="3175000"/>
            <a:ext cx="4826000" cy="635000"/>
          </a:xfrm>
          <a:prstGeom prst="roundRect">
            <a:avLst>
              <a:gd name="adj" fmla="val 20000"/>
            </a:avLst>
          </a:prstGeom>
          <a:solidFill>
            <a:srgbClr val="EFF6FF">
              <a:alpha val="100000"/>
            </a:srgbClr>
          </a:solidFill>
          <a:ln w="12700" cap="flat" cmpd="sng">
            <a:solidFill>
              <a:srgbClr val="0D6EFD">
                <a:alpha val="30000"/>
              </a:srgbClr>
            </a:solid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731000" y="3340100"/>
            <a:ext cx="304800" cy="304800"/>
          </a:xfrm>
          <a:prstGeom prst="rect">
            <a:avLst/>
          </a:prstGeom>
        </p:spPr>
      </p:pic>
      <p:sp>
        <p:nvSpPr>
          <p:cNvPr id="11" name="AutoShape 11"/>
          <p:cNvSpPr/>
          <p:nvPr/>
        </p:nvSpPr>
        <p:spPr>
          <a:xfrm>
            <a:off x="7112000" y="3302000"/>
            <a:ext cx="419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dirty="0" err="1">
                <a:solidFill>
                  <a:srgbClr val="0D6EFD"/>
                </a:solidFill>
                <a:latin typeface="Noto Sans SC"/>
                <a:ea typeface="Noto Sans SC"/>
                <a:cs typeface="Noto Sans SC"/>
                <a:sym typeface="Noto Sans SC"/>
              </a:rPr>
              <a:t>结论：系统推荐方案A（React自研）作为最优方案</a:t>
            </a:r>
            <a:endParaRPr lang="en-US" sz="1100" dirty="0"/>
          </a:p>
        </p:txBody>
      </p:sp>
      <p:pic>
        <p:nvPicPr>
          <p:cNvPr id="12" name="Picture 12"/>
          <p:cNvPicPr>
            <a:picLocks noChangeAspect="1"/>
          </p:cNvPicPr>
          <p:nvPr/>
        </p:nvPicPr>
        <p:blipFill>
          <a:blip r:embed="rId6"/>
          <a:srcRect l="100" r="100"/>
          <a:stretch>
            <a:fillRect/>
          </a:stretch>
        </p:blipFill>
        <p:spPr>
          <a:xfrm>
            <a:off x="7620000" y="3937000"/>
            <a:ext cx="2794000" cy="1574800"/>
          </a:xfrm>
          <a:prstGeom prst="roundRect">
            <a:avLst>
              <a:gd name="adj" fmla="val 8064"/>
            </a:avLst>
          </a:prstGeom>
          <a:noFill/>
          <a:ln w="25400" cap="flat" cmpd="sng">
            <a:noFill/>
            <a:prstDash val="solid"/>
            <a:round/>
          </a:ln>
          <a:effectLst>
            <a:outerShdw blurRad="127000" dist="50800" dir="2700000" algn="tl" rotWithShape="0">
              <a:srgbClr val="000000">
                <a:alpha val="15000"/>
              </a:srgbClr>
            </a:outerShdw>
          </a:effec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395416"/>
            <a:ext cx="12192000" cy="68580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508000"/>
            <a:ext cx="70485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0D6EFD"/>
                </a:solidFill>
                <a:latin typeface="Noto Sans SC"/>
                <a:ea typeface="Noto Sans SC"/>
                <a:cs typeface="Noto Sans SC"/>
                <a:sym typeface="Noto Sans SC"/>
              </a:rPr>
              <a:t>决策结果汇总：全部KR最优方案</a:t>
            </a:r>
            <a:endParaRPr lang="en-US" sz="1100"/>
          </a:p>
        </p:txBody>
      </p:sp>
      <p:sp>
        <p:nvSpPr>
          <p:cNvPr id="5" name="AutoShape 5"/>
          <p:cNvSpPr/>
          <p:nvPr/>
        </p:nvSpPr>
        <p:spPr>
          <a:xfrm>
            <a:off x="762000" y="1397000"/>
            <a:ext cx="508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74151"/>
                </a:solidFill>
                <a:latin typeface="Noto Sans SC"/>
                <a:ea typeface="Noto Sans SC"/>
                <a:cs typeface="Noto Sans SC"/>
                <a:sym typeface="Noto Sans SC"/>
              </a:rPr>
              <a:t>方案详情汇总</a:t>
            </a:r>
            <a:endParaRPr lang="en-US" sz="1100"/>
          </a:p>
        </p:txBody>
      </p:sp>
      <p:graphicFrame>
        <p:nvGraphicFramePr>
          <p:cNvPr id="6" name="Table 6"/>
          <p:cNvGraphicFramePr>
            <a:graphicFrameLocks noGrp="1"/>
          </p:cNvGraphicFramePr>
          <p:nvPr/>
        </p:nvGraphicFramePr>
        <p:xfrm>
          <a:off x="762000" y="1905000"/>
          <a:ext cx="5080000" cy="2413000"/>
        </p:xfrm>
        <a:graphic>
          <a:graphicData uri="http://schemas.openxmlformats.org/drawingml/2006/table">
            <a:tbl>
              <a:tblPr>
                <a:effectLst/>
              </a:tblPr>
              <a:tblGrid>
                <a:gridCol w="1270000">
                  <a:extLst>
                    <a:ext uri="{9D8B030D-6E8A-4147-A177-3AD203B41FA5}">
                      <a16:colId xmlns:a16="http://schemas.microsoft.com/office/drawing/2014/main" val="20000"/>
                    </a:ext>
                  </a:extLst>
                </a:gridCol>
                <a:gridCol w="1270000">
                  <a:extLst>
                    <a:ext uri="{9D8B030D-6E8A-4147-A177-3AD203B41FA5}">
                      <a16:colId xmlns:a16="http://schemas.microsoft.com/office/drawing/2014/main" val="20001"/>
                    </a:ext>
                  </a:extLst>
                </a:gridCol>
                <a:gridCol w="762000">
                  <a:extLst>
                    <a:ext uri="{9D8B030D-6E8A-4147-A177-3AD203B41FA5}">
                      <a16:colId xmlns:a16="http://schemas.microsoft.com/office/drawing/2014/main" val="20002"/>
                    </a:ext>
                  </a:extLst>
                </a:gridCol>
                <a:gridCol w="1778000">
                  <a:extLst>
                    <a:ext uri="{9D8B030D-6E8A-4147-A177-3AD203B41FA5}">
                      <a16:colId xmlns:a16="http://schemas.microsoft.com/office/drawing/2014/main" val="20003"/>
                    </a:ext>
                  </a:extLst>
                </a:gridCol>
              </a:tblGrid>
              <a:tr h="508000">
                <a:tc>
                  <a:txBody>
                    <a:bodyPr/>
                    <a:lstStyle/>
                    <a:p>
                      <a:pPr indent="0" algn="ctr">
                        <a:lnSpc>
                          <a:spcPct val="100000"/>
                        </a:lnSpc>
                        <a:defRPr/>
                      </a:pPr>
                      <a:r>
                        <a:rPr lang="en-US" sz="1400" b="1" i="0" u="none" strike="noStrike">
                          <a:solidFill>
                            <a:srgbClr val="FFFFFF"/>
                          </a:solidFill>
                          <a:latin typeface="Noto Sans SC"/>
                          <a:ea typeface="Noto Sans SC"/>
                          <a:cs typeface="Noto Sans SC"/>
                          <a:sym typeface="Noto Sans SC"/>
                        </a:rPr>
                        <a:t>KR</a:t>
                      </a:r>
                      <a:endParaRPr lang="en-US" sz="1100"/>
                    </a:p>
                  </a:txBody>
                  <a:tcPr marL="101600" marR="101600" marT="101600" marB="101600" anchor="ctr">
                    <a:lnL>
                      <a:noFill/>
                    </a:lnL>
                    <a:lnR>
                      <a:noFill/>
                    </a:lnR>
                    <a:lnT>
                      <a:noFill/>
                    </a:lnT>
                    <a:lnB>
                      <a:noFill/>
                    </a:lnB>
                    <a:solidFill>
                      <a:srgbClr val="0D6EFD">
                        <a:alpha val="100000"/>
                      </a:srgbClr>
                    </a:solidFill>
                  </a:tcPr>
                </a:tc>
                <a:tc>
                  <a:txBody>
                    <a:bodyPr/>
                    <a:lstStyle/>
                    <a:p>
                      <a:pPr indent="0" algn="ctr">
                        <a:lnSpc>
                          <a:spcPct val="100000"/>
                        </a:lnSpc>
                        <a:defRPr/>
                      </a:pPr>
                      <a:r>
                        <a:rPr lang="en-US" sz="1400" b="1" i="0" u="none" strike="noStrike">
                          <a:solidFill>
                            <a:srgbClr val="FFFFFF"/>
                          </a:solidFill>
                          <a:latin typeface="Noto Sans SC"/>
                          <a:ea typeface="Noto Sans SC"/>
                          <a:cs typeface="Noto Sans SC"/>
                          <a:sym typeface="Noto Sans SC"/>
                        </a:rPr>
                        <a:t>最优方案</a:t>
                      </a:r>
                      <a:endParaRPr lang="en-US" sz="1100"/>
                    </a:p>
                  </a:txBody>
                  <a:tcPr marL="101600" marR="101600" marT="101600" marB="101600" anchor="ctr">
                    <a:lnL>
                      <a:noFill/>
                    </a:lnL>
                    <a:lnR>
                      <a:noFill/>
                    </a:lnR>
                    <a:lnT>
                      <a:noFill/>
                    </a:lnT>
                    <a:lnB>
                      <a:noFill/>
                    </a:lnB>
                    <a:solidFill>
                      <a:srgbClr val="0D6EFD">
                        <a:alpha val="100000"/>
                      </a:srgbClr>
                    </a:solidFill>
                  </a:tcPr>
                </a:tc>
                <a:tc>
                  <a:txBody>
                    <a:bodyPr/>
                    <a:lstStyle/>
                    <a:p>
                      <a:pPr indent="0" algn="ctr">
                        <a:lnSpc>
                          <a:spcPct val="100000"/>
                        </a:lnSpc>
                        <a:defRPr/>
                      </a:pPr>
                      <a:r>
                        <a:rPr lang="en-US" sz="1400" b="1" i="0" u="none" strike="noStrike">
                          <a:solidFill>
                            <a:srgbClr val="FFFFFF"/>
                          </a:solidFill>
                          <a:latin typeface="Noto Sans SC"/>
                          <a:ea typeface="Noto Sans SC"/>
                          <a:cs typeface="Noto Sans SC"/>
                          <a:sym typeface="Noto Sans SC"/>
                        </a:rPr>
                        <a:t>总分</a:t>
                      </a:r>
                      <a:endParaRPr lang="en-US" sz="1100"/>
                    </a:p>
                  </a:txBody>
                  <a:tcPr marL="101600" marR="101600" marT="101600" marB="101600" anchor="ctr">
                    <a:lnL>
                      <a:noFill/>
                    </a:lnL>
                    <a:lnR>
                      <a:noFill/>
                    </a:lnR>
                    <a:lnT>
                      <a:noFill/>
                    </a:lnT>
                    <a:lnB>
                      <a:noFill/>
                    </a:lnB>
                    <a:solidFill>
                      <a:srgbClr val="0D6EFD">
                        <a:alpha val="100000"/>
                      </a:srgbClr>
                    </a:solidFill>
                  </a:tcPr>
                </a:tc>
                <a:tc>
                  <a:txBody>
                    <a:bodyPr/>
                    <a:lstStyle/>
                    <a:p>
                      <a:pPr indent="0" algn="ctr">
                        <a:lnSpc>
                          <a:spcPct val="100000"/>
                        </a:lnSpc>
                        <a:defRPr/>
                      </a:pPr>
                      <a:r>
                        <a:rPr lang="en-US" sz="1400" b="1" i="0" u="none" strike="noStrike">
                          <a:solidFill>
                            <a:srgbClr val="FFFFFF"/>
                          </a:solidFill>
                          <a:latin typeface="Noto Sans SC"/>
                          <a:ea typeface="Noto Sans SC"/>
                          <a:cs typeface="Noto Sans SC"/>
                          <a:sym typeface="Noto Sans SC"/>
                        </a:rPr>
                        <a:t>核心优势</a:t>
                      </a:r>
                      <a:endParaRPr lang="en-US" sz="1100"/>
                    </a:p>
                  </a:txBody>
                  <a:tcPr marL="101600" marR="101600" marT="101600" marB="101600" anchor="ctr">
                    <a:lnL>
                      <a:noFill/>
                    </a:lnL>
                    <a:lnR>
                      <a:noFill/>
                    </a:lnR>
                    <a:lnT>
                      <a:noFill/>
                    </a:lnT>
                    <a:lnB>
                      <a:noFill/>
                    </a:lnB>
                    <a:solidFill>
                      <a:srgbClr val="0D6EFD">
                        <a:alpha val="100000"/>
                      </a:srgbClr>
                    </a:solidFill>
                  </a:tcPr>
                </a:tc>
                <a:extLst>
                  <a:ext uri="{0D108BD9-81ED-4DB2-BD59-A6C34878D82A}">
                    <a16:rowId xmlns:a16="http://schemas.microsoft.com/office/drawing/2014/main" val="10000"/>
                  </a:ext>
                </a:extLst>
              </a:tr>
              <a:tr h="635000">
                <a:tc>
                  <a:txBody>
                    <a:bodyPr/>
                    <a:lstStyle/>
                    <a:p>
                      <a:pPr indent="0" algn="ctr">
                        <a:lnSpc>
                          <a:spcPct val="100000"/>
                        </a:lnSpc>
                        <a:defRPr/>
                      </a:pPr>
                      <a:r>
                        <a:rPr lang="en-US" sz="1300" b="1" i="0" u="none" strike="noStrike">
                          <a:solidFill>
                            <a:srgbClr val="1F2329"/>
                          </a:solidFill>
                          <a:latin typeface="Noto Sans SC"/>
                          <a:ea typeface="Noto Sans SC"/>
                          <a:cs typeface="Noto Sans SC"/>
                          <a:sym typeface="Noto Sans SC"/>
                        </a:rPr>
                        <a:t>KR1:前端</a:t>
                      </a:r>
                      <a:endParaRPr lang="en-US" sz="1100"/>
                    </a:p>
                  </a:txBody>
                  <a:tcPr marL="101600" marR="101600" marT="101600" marB="101600" anchor="ctr">
                    <a:lnL>
                      <a:noFill/>
                    </a:lnL>
                    <a:lnR>
                      <a:noFill/>
                    </a:lnR>
                    <a:lnT>
                      <a:noFill/>
                    </a:lnT>
                    <a:lnB>
                      <a:noFill/>
                    </a:lnB>
                    <a:solidFill>
                      <a:srgbClr val="EFF6FF">
                        <a:alpha val="100000"/>
                      </a:srgbClr>
                    </a:solidFill>
                  </a:tcPr>
                </a:tc>
                <a:tc>
                  <a:txBody>
                    <a:bodyPr/>
                    <a:lstStyle/>
                    <a:p>
                      <a:pPr indent="0" algn="ctr">
                        <a:lnSpc>
                          <a:spcPct val="100000"/>
                        </a:lnSpc>
                        <a:defRPr/>
                      </a:pPr>
                      <a:r>
                        <a:rPr lang="en-US" sz="1300" b="0" i="0" u="none" strike="noStrike" dirty="0" err="1">
                          <a:solidFill>
                            <a:srgbClr val="1F2329"/>
                          </a:solidFill>
                          <a:latin typeface="Noto Sans SC"/>
                          <a:ea typeface="Noto Sans SC"/>
                          <a:cs typeface="Noto Sans SC"/>
                          <a:sym typeface="Noto Sans SC"/>
                        </a:rPr>
                        <a:t>React自研</a:t>
                      </a:r>
                      <a:endParaRPr lang="en-US" sz="1100" dirty="0"/>
                    </a:p>
                  </a:txBody>
                  <a:tcPr marL="101600" marR="101600" marT="101600" marB="101600" anchor="ctr">
                    <a:lnL>
                      <a:noFill/>
                    </a:lnL>
                    <a:lnR>
                      <a:noFill/>
                    </a:lnR>
                    <a:lnT>
                      <a:noFill/>
                    </a:lnT>
                    <a:lnB>
                      <a:noFill/>
                    </a:lnB>
                    <a:solidFill>
                      <a:srgbClr val="EFF6FF">
                        <a:alpha val="100000"/>
                      </a:srgbClr>
                    </a:solidFill>
                  </a:tcPr>
                </a:tc>
                <a:tc>
                  <a:txBody>
                    <a:bodyPr/>
                    <a:lstStyle/>
                    <a:p>
                      <a:pPr indent="0" algn="ctr">
                        <a:lnSpc>
                          <a:spcPct val="100000"/>
                        </a:lnSpc>
                        <a:defRPr/>
                      </a:pPr>
                      <a:r>
                        <a:rPr lang="en-US" sz="1300" b="0" i="0" u="none" strike="noStrike">
                          <a:solidFill>
                            <a:srgbClr val="1F2329"/>
                          </a:solidFill>
                          <a:latin typeface="Noto Sans SC"/>
                          <a:ea typeface="Noto Sans SC"/>
                          <a:cs typeface="Noto Sans SC"/>
                          <a:sym typeface="Noto Sans SC"/>
                        </a:rPr>
                        <a:t>6.12</a:t>
                      </a:r>
                      <a:endParaRPr lang="en-US" sz="1100"/>
                    </a:p>
                  </a:txBody>
                  <a:tcPr marL="101600" marR="101600" marT="101600" marB="101600" anchor="ctr">
                    <a:lnL>
                      <a:noFill/>
                    </a:lnL>
                    <a:lnR>
                      <a:noFill/>
                    </a:lnR>
                    <a:lnT>
                      <a:noFill/>
                    </a:lnT>
                    <a:lnB>
                      <a:noFill/>
                    </a:lnB>
                    <a:solidFill>
                      <a:srgbClr val="EFF6FF">
                        <a:alpha val="100000"/>
                      </a:srgbClr>
                    </a:solidFill>
                  </a:tcPr>
                </a:tc>
                <a:tc>
                  <a:txBody>
                    <a:bodyPr/>
                    <a:lstStyle/>
                    <a:p>
                      <a:pPr indent="0" algn="ctr">
                        <a:lnSpc>
                          <a:spcPct val="100000"/>
                        </a:lnSpc>
                        <a:defRPr/>
                      </a:pPr>
                      <a:r>
                        <a:rPr lang="en-US" sz="1200" b="0" i="0" u="none" strike="noStrike">
                          <a:solidFill>
                            <a:srgbClr val="6C757D"/>
                          </a:solidFill>
                          <a:latin typeface="Noto Sans SC"/>
                          <a:ea typeface="Noto Sans SC"/>
                          <a:cs typeface="Noto Sans SC"/>
                          <a:sym typeface="Noto Sans SC"/>
                        </a:rPr>
                        <a:t>业务价值高、可维护性好</a:t>
                      </a:r>
                      <a:endParaRPr lang="en-US" sz="1100"/>
                    </a:p>
                  </a:txBody>
                  <a:tcPr marL="101600" marR="101600" marT="101600" marB="101600" anchor="ctr">
                    <a:lnL>
                      <a:noFill/>
                    </a:lnL>
                    <a:lnR>
                      <a:noFill/>
                    </a:lnR>
                    <a:lnT>
                      <a:noFill/>
                    </a:lnT>
                    <a:lnB>
                      <a:noFill/>
                    </a:lnB>
                    <a:solidFill>
                      <a:srgbClr val="EFF6FF">
                        <a:alpha val="100000"/>
                      </a:srgbClr>
                    </a:solidFill>
                  </a:tcPr>
                </a:tc>
                <a:extLst>
                  <a:ext uri="{0D108BD9-81ED-4DB2-BD59-A6C34878D82A}">
                    <a16:rowId xmlns:a16="http://schemas.microsoft.com/office/drawing/2014/main" val="10001"/>
                  </a:ext>
                </a:extLst>
              </a:tr>
              <a:tr h="635000">
                <a:tc>
                  <a:txBody>
                    <a:bodyPr/>
                    <a:lstStyle/>
                    <a:p>
                      <a:pPr indent="0" algn="ctr">
                        <a:lnSpc>
                          <a:spcPct val="100000"/>
                        </a:lnSpc>
                        <a:defRPr/>
                      </a:pPr>
                      <a:r>
                        <a:rPr lang="en-US" sz="1300" b="1" i="0" u="none" strike="noStrike">
                          <a:solidFill>
                            <a:srgbClr val="1F2329"/>
                          </a:solidFill>
                          <a:latin typeface="Noto Sans SC"/>
                          <a:ea typeface="Noto Sans SC"/>
                          <a:cs typeface="Noto Sans SC"/>
                          <a:sym typeface="Noto Sans SC"/>
                        </a:rPr>
                        <a:t>KR2:后端</a:t>
                      </a:r>
                      <a:endParaRPr lang="en-US" sz="1100"/>
                    </a:p>
                  </a:txBody>
                  <a:tcPr marL="101600" marR="101600" marT="101600" marB="101600" anchor="ctr">
                    <a:lnL>
                      <a:noFill/>
                    </a:lnL>
                    <a:lnR>
                      <a:noFill/>
                    </a:lnR>
                    <a:lnT>
                      <a:noFill/>
                    </a:lnT>
                    <a:lnB>
                      <a:noFill/>
                    </a:lnB>
                    <a:solidFill>
                      <a:srgbClr val="FFFFFF">
                        <a:alpha val="100000"/>
                      </a:srgbClr>
                    </a:solidFill>
                  </a:tcPr>
                </a:tc>
                <a:tc>
                  <a:txBody>
                    <a:bodyPr/>
                    <a:lstStyle/>
                    <a:p>
                      <a:pPr indent="0" algn="ctr">
                        <a:lnSpc>
                          <a:spcPct val="100000"/>
                        </a:lnSpc>
                        <a:defRPr/>
                      </a:pPr>
                      <a:r>
                        <a:rPr lang="en-US" sz="1300" b="0" i="0" u="none" strike="noStrike">
                          <a:solidFill>
                            <a:srgbClr val="1F2329"/>
                          </a:solidFill>
                          <a:latin typeface="Noto Sans SC"/>
                          <a:ea typeface="Noto Sans SC"/>
                          <a:cs typeface="Noto Sans SC"/>
                          <a:sym typeface="Noto Sans SC"/>
                        </a:rPr>
                        <a:t>Node.js自研</a:t>
                      </a:r>
                      <a:endParaRPr lang="en-US" sz="1100"/>
                    </a:p>
                  </a:txBody>
                  <a:tcPr marL="101600" marR="101600" marT="101600" marB="101600" anchor="ctr">
                    <a:lnL>
                      <a:noFill/>
                    </a:lnL>
                    <a:lnR>
                      <a:noFill/>
                    </a:lnR>
                    <a:lnT>
                      <a:noFill/>
                    </a:lnT>
                    <a:lnB>
                      <a:noFill/>
                    </a:lnB>
                    <a:solidFill>
                      <a:srgbClr val="FFFFFF">
                        <a:alpha val="100000"/>
                      </a:srgbClr>
                    </a:solidFill>
                  </a:tcPr>
                </a:tc>
                <a:tc>
                  <a:txBody>
                    <a:bodyPr/>
                    <a:lstStyle/>
                    <a:p>
                      <a:pPr indent="0" algn="ctr">
                        <a:lnSpc>
                          <a:spcPct val="100000"/>
                        </a:lnSpc>
                        <a:defRPr/>
                      </a:pPr>
                      <a:r>
                        <a:rPr lang="en-US" sz="1300" b="0" i="0" u="none" strike="noStrike">
                          <a:solidFill>
                            <a:srgbClr val="1F2329"/>
                          </a:solidFill>
                          <a:latin typeface="Noto Sans SC"/>
                          <a:ea typeface="Noto Sans SC"/>
                          <a:cs typeface="Noto Sans SC"/>
                          <a:sym typeface="Noto Sans SC"/>
                        </a:rPr>
                        <a:t>5.89</a:t>
                      </a:r>
                      <a:endParaRPr lang="en-US" sz="1100"/>
                    </a:p>
                  </a:txBody>
                  <a:tcPr marL="101600" marR="101600" marT="101600" marB="101600" anchor="ctr">
                    <a:lnL>
                      <a:noFill/>
                    </a:lnL>
                    <a:lnR>
                      <a:noFill/>
                    </a:lnR>
                    <a:lnT>
                      <a:noFill/>
                    </a:lnT>
                    <a:lnB>
                      <a:noFill/>
                    </a:lnB>
                    <a:solidFill>
                      <a:srgbClr val="FFFFFF">
                        <a:alpha val="100000"/>
                      </a:srgbClr>
                    </a:solidFill>
                  </a:tcPr>
                </a:tc>
                <a:tc>
                  <a:txBody>
                    <a:bodyPr/>
                    <a:lstStyle/>
                    <a:p>
                      <a:pPr indent="0" algn="ctr">
                        <a:lnSpc>
                          <a:spcPct val="100000"/>
                        </a:lnSpc>
                        <a:defRPr/>
                      </a:pPr>
                      <a:r>
                        <a:rPr lang="en-US" sz="1200" b="0" i="0" u="none" strike="noStrike">
                          <a:solidFill>
                            <a:srgbClr val="6C757D"/>
                          </a:solidFill>
                          <a:latin typeface="Noto Sans SC"/>
                          <a:ea typeface="Noto Sans SC"/>
                          <a:cs typeface="Noto Sans SC"/>
                          <a:sym typeface="Noto Sans SC"/>
                        </a:rPr>
                        <a:t>技术栈统一、成本可控</a:t>
                      </a:r>
                      <a:endParaRPr lang="en-US" sz="1100"/>
                    </a:p>
                  </a:txBody>
                  <a:tcPr marL="101600" marR="101600" marT="101600" marB="101600" anchor="ctr">
                    <a:lnL>
                      <a:noFill/>
                    </a:lnL>
                    <a:lnR>
                      <a:noFill/>
                    </a:lnR>
                    <a:lnT>
                      <a:noFill/>
                    </a:lnT>
                    <a:lnB>
                      <a:noFill/>
                    </a:lnB>
                    <a:solidFill>
                      <a:srgbClr val="FFFFFF">
                        <a:alpha val="100000"/>
                      </a:srgbClr>
                    </a:solidFill>
                  </a:tcPr>
                </a:tc>
                <a:extLst>
                  <a:ext uri="{0D108BD9-81ED-4DB2-BD59-A6C34878D82A}">
                    <a16:rowId xmlns:a16="http://schemas.microsoft.com/office/drawing/2014/main" val="10002"/>
                  </a:ext>
                </a:extLst>
              </a:tr>
              <a:tr h="635000">
                <a:tc>
                  <a:txBody>
                    <a:bodyPr/>
                    <a:lstStyle/>
                    <a:p>
                      <a:pPr indent="0" algn="ctr">
                        <a:lnSpc>
                          <a:spcPct val="100000"/>
                        </a:lnSpc>
                        <a:defRPr/>
                      </a:pPr>
                      <a:r>
                        <a:rPr lang="en-US" sz="1300" b="1" i="0" u="none" strike="noStrike">
                          <a:solidFill>
                            <a:srgbClr val="1F2329"/>
                          </a:solidFill>
                          <a:latin typeface="Noto Sans SC"/>
                          <a:ea typeface="Noto Sans SC"/>
                          <a:cs typeface="Noto Sans SC"/>
                          <a:sym typeface="Noto Sans SC"/>
                        </a:rPr>
                        <a:t>KR3:数据库</a:t>
                      </a:r>
                      <a:endParaRPr lang="en-US" sz="1100"/>
                    </a:p>
                  </a:txBody>
                  <a:tcPr marL="101600" marR="101600" marT="101600" marB="101600" anchor="ctr">
                    <a:lnL>
                      <a:noFill/>
                    </a:lnL>
                    <a:lnR>
                      <a:noFill/>
                    </a:lnR>
                    <a:lnT>
                      <a:noFill/>
                    </a:lnT>
                    <a:lnB>
                      <a:noFill/>
                    </a:lnB>
                    <a:solidFill>
                      <a:srgbClr val="EFF6FF">
                        <a:alpha val="100000"/>
                      </a:srgbClr>
                    </a:solidFill>
                  </a:tcPr>
                </a:tc>
                <a:tc>
                  <a:txBody>
                    <a:bodyPr/>
                    <a:lstStyle/>
                    <a:p>
                      <a:pPr indent="0" algn="ctr">
                        <a:lnSpc>
                          <a:spcPct val="100000"/>
                        </a:lnSpc>
                        <a:defRPr/>
                      </a:pPr>
                      <a:r>
                        <a:rPr lang="en-US" sz="1300" b="0" i="0" u="none" strike="noStrike">
                          <a:solidFill>
                            <a:srgbClr val="1F2329"/>
                          </a:solidFill>
                          <a:latin typeface="Noto Sans SC"/>
                          <a:ea typeface="Noto Sans SC"/>
                          <a:cs typeface="Noto Sans SC"/>
                          <a:sym typeface="Noto Sans SC"/>
                        </a:rPr>
                        <a:t>MySQL</a:t>
                      </a:r>
                      <a:endParaRPr lang="en-US" sz="1100"/>
                    </a:p>
                  </a:txBody>
                  <a:tcPr marL="101600" marR="101600" marT="101600" marB="101600" anchor="ctr">
                    <a:lnL>
                      <a:noFill/>
                    </a:lnL>
                    <a:lnR>
                      <a:noFill/>
                    </a:lnR>
                    <a:lnT>
                      <a:noFill/>
                    </a:lnT>
                    <a:lnB>
                      <a:noFill/>
                    </a:lnB>
                    <a:solidFill>
                      <a:srgbClr val="EFF6FF">
                        <a:alpha val="100000"/>
                      </a:srgbClr>
                    </a:solidFill>
                  </a:tcPr>
                </a:tc>
                <a:tc>
                  <a:txBody>
                    <a:bodyPr/>
                    <a:lstStyle/>
                    <a:p>
                      <a:pPr indent="0" algn="ctr">
                        <a:lnSpc>
                          <a:spcPct val="100000"/>
                        </a:lnSpc>
                        <a:defRPr/>
                      </a:pPr>
                      <a:r>
                        <a:rPr lang="en-US" sz="1300" b="0" i="0" u="none" strike="noStrike">
                          <a:solidFill>
                            <a:srgbClr val="1F2329"/>
                          </a:solidFill>
                          <a:latin typeface="Noto Sans SC"/>
                          <a:ea typeface="Noto Sans SC"/>
                          <a:cs typeface="Noto Sans SC"/>
                          <a:sym typeface="Noto Sans SC"/>
                        </a:rPr>
                        <a:t>6.35</a:t>
                      </a:r>
                      <a:endParaRPr lang="en-US" sz="1100"/>
                    </a:p>
                  </a:txBody>
                  <a:tcPr marL="101600" marR="101600" marT="101600" marB="101600" anchor="ctr">
                    <a:lnL>
                      <a:noFill/>
                    </a:lnL>
                    <a:lnR>
                      <a:noFill/>
                    </a:lnR>
                    <a:lnT>
                      <a:noFill/>
                    </a:lnT>
                    <a:lnB>
                      <a:noFill/>
                    </a:lnB>
                    <a:solidFill>
                      <a:srgbClr val="EFF6FF">
                        <a:alpha val="100000"/>
                      </a:srgbClr>
                    </a:solidFill>
                  </a:tcPr>
                </a:tc>
                <a:tc>
                  <a:txBody>
                    <a:bodyPr/>
                    <a:lstStyle/>
                    <a:p>
                      <a:pPr indent="0" algn="ctr">
                        <a:lnSpc>
                          <a:spcPct val="100000"/>
                        </a:lnSpc>
                        <a:defRPr/>
                      </a:pPr>
                      <a:r>
                        <a:rPr lang="en-US" sz="1200" b="0" i="0" u="none" strike="noStrike" dirty="0" err="1">
                          <a:solidFill>
                            <a:srgbClr val="6C757D"/>
                          </a:solidFill>
                          <a:latin typeface="Noto Sans SC"/>
                          <a:ea typeface="Noto Sans SC"/>
                          <a:cs typeface="Noto Sans SC"/>
                          <a:sym typeface="Noto Sans SC"/>
                        </a:rPr>
                        <a:t>成熟稳定、风险低</a:t>
                      </a:r>
                      <a:endParaRPr lang="en-US" sz="1100" dirty="0"/>
                    </a:p>
                  </a:txBody>
                  <a:tcPr marL="101600" marR="101600" marT="101600" marB="101600" anchor="ctr">
                    <a:lnL>
                      <a:noFill/>
                    </a:lnL>
                    <a:lnR>
                      <a:noFill/>
                    </a:lnR>
                    <a:lnT>
                      <a:noFill/>
                    </a:lnT>
                    <a:lnB>
                      <a:noFill/>
                    </a:lnB>
                    <a:solidFill>
                      <a:srgbClr val="EFF6FF">
                        <a:alpha val="100000"/>
                      </a:srgbClr>
                    </a:solidFill>
                  </a:tcPr>
                </a:tc>
                <a:extLst>
                  <a:ext uri="{0D108BD9-81ED-4DB2-BD59-A6C34878D82A}">
                    <a16:rowId xmlns:a16="http://schemas.microsoft.com/office/drawing/2014/main" val="10003"/>
                  </a:ext>
                </a:extLst>
              </a:tr>
            </a:tbl>
          </a:graphicData>
        </a:graphic>
      </p:graphicFrame>
      <p:sp>
        <p:nvSpPr>
          <p:cNvPr id="7" name="AutoShape 7"/>
          <p:cNvSpPr/>
          <p:nvPr/>
        </p:nvSpPr>
        <p:spPr>
          <a:xfrm>
            <a:off x="6604000" y="1397000"/>
            <a:ext cx="457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74151"/>
                </a:solidFill>
                <a:latin typeface="Noto Sans SC"/>
                <a:ea typeface="Noto Sans SC"/>
                <a:cs typeface="Noto Sans SC"/>
                <a:sym typeface="Noto Sans SC"/>
              </a:rPr>
              <a:t>方案多维能力对比</a:t>
            </a:r>
            <a:endParaRPr lang="en-US" sz="1100"/>
          </a:p>
        </p:txBody>
      </p:sp>
      <p:pic>
        <p:nvPicPr>
          <p:cNvPr id="8" name="Picture 8"/>
          <p:cNvPicPr>
            <a:picLocks noChangeAspect="1"/>
          </p:cNvPicPr>
          <p:nvPr/>
        </p:nvPicPr>
        <p:blipFill>
          <a:blip r:embed="rId4"/>
          <a:srcRect/>
          <a:stretch>
            <a:fillRect/>
          </a:stretch>
        </p:blipFill>
        <p:spPr>
          <a:xfrm>
            <a:off x="6858000" y="1905000"/>
            <a:ext cx="4064000" cy="2286000"/>
          </a:xfrm>
          <a:prstGeom prst="rect">
            <a:avLst/>
          </a:prstGeom>
          <a:noFill/>
          <a:ln w="12700" cap="flat" cmpd="sng">
            <a:solidFill>
              <a:srgbClr val="E5E7EB">
                <a:alpha val="100000"/>
              </a:srgbClr>
            </a:solidFill>
            <a:prstDash val="solid"/>
            <a:round/>
          </a:ln>
          <a:effectLst>
            <a:outerShdw blurRad="127000" dist="50800" dir="5400000" algn="tl" rotWithShape="0">
              <a:srgbClr val="000000">
                <a:alpha val="10000"/>
              </a:srgbClr>
            </a:outerShdw>
          </a:effectLst>
        </p:spPr>
      </p:pic>
      <p:sp>
        <p:nvSpPr>
          <p:cNvPr id="9" name="AutoShape 9"/>
          <p:cNvSpPr/>
          <p:nvPr/>
        </p:nvSpPr>
        <p:spPr>
          <a:xfrm>
            <a:off x="6858000" y="4381500"/>
            <a:ext cx="4064000" cy="1016000"/>
          </a:xfrm>
          <a:prstGeom prst="roundRect">
            <a:avLst>
              <a:gd name="adj" fmla="val 12500"/>
            </a:avLst>
          </a:prstGeom>
          <a:solidFill>
            <a:srgbClr val="F3F4F6">
              <a:alpha val="100000"/>
            </a:srgbClr>
          </a:solidFill>
          <a:ln w="25400" cap="flat" cmpd="sng">
            <a:noFill/>
            <a:prstDash val="solid"/>
            <a:round/>
          </a:ln>
        </p:spPr>
        <p:txBody>
          <a:bodyPr vert="horz" wrap="square" lIns="127000" tIns="127000" rIns="127000" bIns="127000" rtlCol="0" anchor="ctr" anchorCtr="0"/>
          <a:lstStyle/>
          <a:p>
            <a:pPr indent="0" algn="ctr">
              <a:lnSpc>
                <a:spcPct val="125000"/>
              </a:lnSpc>
              <a:defRPr/>
            </a:pPr>
            <a:r>
              <a:rPr lang="en-US" sz="1300" b="1" i="0" u="none" strike="noStrike">
                <a:solidFill>
                  <a:srgbClr val="4B5563"/>
                </a:solidFill>
                <a:latin typeface="Noto Sans SC"/>
                <a:ea typeface="Noto Sans SC"/>
                <a:cs typeface="Noto Sans SC"/>
                <a:sym typeface="Noto Sans SC"/>
              </a:rPr>
              <a:t>图表解读：</a:t>
            </a:r>
            <a:endParaRPr lang="en-US" sz="1100"/>
          </a:p>
          <a:p>
            <a:pPr indent="0" algn="ctr">
              <a:lnSpc>
                <a:spcPct val="125000"/>
              </a:lnSpc>
            </a:pPr>
            <a:r>
              <a:rPr lang="en-US" sz="1200" b="0" i="0" u="none" strike="noStrike">
                <a:solidFill>
                  <a:srgbClr val="6B7280"/>
                </a:solidFill>
                <a:latin typeface="Noto Sans SC"/>
                <a:ea typeface="Noto Sans SC"/>
                <a:cs typeface="Noto Sans SC"/>
                <a:sym typeface="Noto Sans SC"/>
              </a:rPr>
              <a:t>雷达图直观展示了三个方案在业务价值、开发成本、技术风险及可维护性四个维度的综合表现，帮助团队快速识别各方案的优劣。</a:t>
            </a:r>
          </a:p>
        </p:txBody>
      </p:sp>
      <p:sp>
        <p:nvSpPr>
          <p:cNvPr id="10" name="AutoShape 10"/>
          <p:cNvSpPr/>
          <p:nvPr/>
        </p:nvSpPr>
        <p:spPr>
          <a:xfrm>
            <a:off x="0" y="6807200"/>
            <a:ext cx="12192000" cy="50800"/>
          </a:xfrm>
          <a:prstGeom prst="roundRect">
            <a:avLst>
              <a:gd name="adj" fmla="val 0"/>
            </a:avLst>
          </a:prstGeom>
          <a:solidFill>
            <a:srgbClr val="0D6EFD">
              <a:alpha val="100000"/>
            </a:srgbClr>
          </a:solidFill>
          <a:ln w="25400" cap="flat" cmpd="sng">
            <a:noFill/>
            <a:prstDash val="solid"/>
            <a:round/>
          </a:ln>
        </p:spPr>
        <p:txBody>
          <a:bodyPr vert="horz" wrap="square" lIns="63500" tIns="63500" rIns="63500" bIns="63500" rtlCol="0" anchor="ctr"/>
          <a:lstStyle/>
          <a:p>
            <a:pPr algn="ctr">
              <a:defRPr/>
            </a:pP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762000" y="508000"/>
            <a:ext cx="106680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0D6EFD"/>
                </a:solidFill>
                <a:latin typeface="Noto Sans SC"/>
                <a:ea typeface="Noto Sans SC"/>
                <a:cs typeface="Noto Sans SC"/>
                <a:sym typeface="Noto Sans SC"/>
              </a:rPr>
              <a:t>实验设计：评估维度与方法</a:t>
            </a:r>
            <a:endParaRPr lang="en-US" sz="1100"/>
          </a:p>
        </p:txBody>
      </p:sp>
      <p:graphicFrame>
        <p:nvGraphicFramePr>
          <p:cNvPr id="4" name="Table 4"/>
          <p:cNvGraphicFramePr>
            <a:graphicFrameLocks noGrp="1"/>
          </p:cNvGraphicFramePr>
          <p:nvPr/>
        </p:nvGraphicFramePr>
        <p:xfrm>
          <a:off x="762000" y="1397000"/>
          <a:ext cx="10160000" cy="2794000"/>
        </p:xfrm>
        <a:graphic>
          <a:graphicData uri="http://schemas.openxmlformats.org/drawingml/2006/table">
            <a:tbl>
              <a:tblPr>
                <a:effectLst/>
              </a:tblPr>
              <a:tblGrid>
                <a:gridCol w="1778000">
                  <a:extLst>
                    <a:ext uri="{9D8B030D-6E8A-4147-A177-3AD203B41FA5}">
                      <a16:colId xmlns:a16="http://schemas.microsoft.com/office/drawing/2014/main" val="20000"/>
                    </a:ext>
                  </a:extLst>
                </a:gridCol>
                <a:gridCol w="1778000">
                  <a:extLst>
                    <a:ext uri="{9D8B030D-6E8A-4147-A177-3AD203B41FA5}">
                      <a16:colId xmlns:a16="http://schemas.microsoft.com/office/drawing/2014/main" val="20001"/>
                    </a:ext>
                  </a:extLst>
                </a:gridCol>
                <a:gridCol w="6604000">
                  <a:extLst>
                    <a:ext uri="{9D8B030D-6E8A-4147-A177-3AD203B41FA5}">
                      <a16:colId xmlns:a16="http://schemas.microsoft.com/office/drawing/2014/main" val="20002"/>
                    </a:ext>
                  </a:extLst>
                </a:gridCol>
              </a:tblGrid>
              <a:tr h="508000">
                <a:tc>
                  <a:txBody>
                    <a:bodyPr/>
                    <a:lstStyle/>
                    <a:p>
                      <a:pPr indent="0" algn="ctr">
                        <a:lnSpc>
                          <a:spcPct val="100000"/>
                        </a:lnSpc>
                        <a:defRPr/>
                      </a:pPr>
                      <a:r>
                        <a:rPr lang="en-US" sz="1600" b="1" i="0" u="none" strike="noStrike">
                          <a:solidFill>
                            <a:srgbClr val="FFFFFF"/>
                          </a:solidFill>
                          <a:latin typeface="Noto Sans SC"/>
                          <a:ea typeface="Noto Sans SC"/>
                          <a:cs typeface="Noto Sans SC"/>
                          <a:sym typeface="Noto Sans SC"/>
                        </a:rPr>
                        <a:t>评估维度</a:t>
                      </a:r>
                      <a:endParaRPr lang="en-US" sz="1100"/>
                    </a:p>
                  </a:txBody>
                  <a:tcPr marL="101600" marR="101600" marT="101600" marB="101600" anchor="ctr">
                    <a:lnL>
                      <a:noFill/>
                    </a:lnL>
                    <a:lnR>
                      <a:noFill/>
                    </a:lnR>
                    <a:lnT>
                      <a:noFill/>
                    </a:lnT>
                    <a:lnB>
                      <a:noFill/>
                    </a:lnB>
                    <a:solidFill>
                      <a:srgbClr val="0D6EFD">
                        <a:alpha val="100000"/>
                      </a:srgbClr>
                    </a:solidFill>
                  </a:tcPr>
                </a:tc>
                <a:tc>
                  <a:txBody>
                    <a:bodyPr/>
                    <a:lstStyle/>
                    <a:p>
                      <a:pPr indent="0" algn="ctr">
                        <a:lnSpc>
                          <a:spcPct val="100000"/>
                        </a:lnSpc>
                        <a:defRPr/>
                      </a:pPr>
                      <a:r>
                        <a:rPr lang="en-US" sz="1600" b="1" i="0" u="none" strike="noStrike">
                          <a:solidFill>
                            <a:srgbClr val="FFFFFF"/>
                          </a:solidFill>
                          <a:latin typeface="Noto Sans SC"/>
                          <a:ea typeface="Noto Sans SC"/>
                          <a:cs typeface="Noto Sans SC"/>
                          <a:sym typeface="Noto Sans SC"/>
                        </a:rPr>
                        <a:t>评估方法</a:t>
                      </a:r>
                      <a:endParaRPr lang="en-US" sz="1100"/>
                    </a:p>
                  </a:txBody>
                  <a:tcPr marL="101600" marR="101600" marT="101600" marB="101600" anchor="ctr">
                    <a:lnL>
                      <a:noFill/>
                    </a:lnL>
                    <a:lnR>
                      <a:noFill/>
                    </a:lnR>
                    <a:lnT>
                      <a:noFill/>
                    </a:lnT>
                    <a:lnB>
                      <a:noFill/>
                    </a:lnB>
                    <a:solidFill>
                      <a:srgbClr val="0D6EFD">
                        <a:alpha val="100000"/>
                      </a:srgbClr>
                    </a:solidFill>
                  </a:tcPr>
                </a:tc>
                <a:tc>
                  <a:txBody>
                    <a:bodyPr/>
                    <a:lstStyle/>
                    <a:p>
                      <a:pPr indent="0" algn="ctr">
                        <a:lnSpc>
                          <a:spcPct val="100000"/>
                        </a:lnSpc>
                        <a:defRPr/>
                      </a:pPr>
                      <a:r>
                        <a:rPr lang="en-US" sz="1600" b="1" i="0" u="none" strike="noStrike">
                          <a:solidFill>
                            <a:srgbClr val="FFFFFF"/>
                          </a:solidFill>
                          <a:latin typeface="Noto Sans SC"/>
                          <a:ea typeface="Noto Sans SC"/>
                          <a:cs typeface="Noto Sans SC"/>
                          <a:sym typeface="Noto Sans SC"/>
                        </a:rPr>
                        <a:t>评估指标</a:t>
                      </a:r>
                      <a:endParaRPr lang="en-US" sz="1100"/>
                    </a:p>
                  </a:txBody>
                  <a:tcPr marL="101600" marR="101600" marT="101600" marB="101600" anchor="ctr">
                    <a:lnL>
                      <a:noFill/>
                    </a:lnL>
                    <a:lnR>
                      <a:noFill/>
                    </a:lnR>
                    <a:lnT>
                      <a:noFill/>
                    </a:lnT>
                    <a:lnB>
                      <a:noFill/>
                    </a:lnB>
                    <a:solidFill>
                      <a:srgbClr val="0D6EFD">
                        <a:alpha val="100000"/>
                      </a:srgbClr>
                    </a:solidFill>
                  </a:tcPr>
                </a:tc>
                <a:extLst>
                  <a:ext uri="{0D108BD9-81ED-4DB2-BD59-A6C34878D82A}">
                    <a16:rowId xmlns:a16="http://schemas.microsoft.com/office/drawing/2014/main" val="10000"/>
                  </a:ext>
                </a:extLst>
              </a:tr>
              <a:tr h="571500">
                <a:tc>
                  <a:txBody>
                    <a:bodyPr/>
                    <a:lstStyle/>
                    <a:p>
                      <a:pPr indent="0" algn="ctr">
                        <a:lnSpc>
                          <a:spcPct val="100000"/>
                        </a:lnSpc>
                        <a:defRPr/>
                      </a:pPr>
                      <a:r>
                        <a:rPr lang="en-US" sz="1400" b="1" i="0" u="none" strike="noStrike">
                          <a:solidFill>
                            <a:srgbClr val="212529"/>
                          </a:solidFill>
                          <a:latin typeface="Noto Sans SC"/>
                          <a:ea typeface="Noto Sans SC"/>
                          <a:cs typeface="Noto Sans SC"/>
                          <a:sym typeface="Noto Sans SC"/>
                        </a:rPr>
                        <a:t>易用性</a:t>
                      </a:r>
                      <a:endParaRPr lang="en-US" sz="1100"/>
                    </a:p>
                  </a:txBody>
                  <a:tcPr marL="101600" marR="101600" marT="101600" marB="101600" anchor="ctr">
                    <a:lnL>
                      <a:noFill/>
                    </a:lnL>
                    <a:lnR>
                      <a:noFill/>
                    </a:lnR>
                    <a:lnT>
                      <a:noFill/>
                    </a:lnT>
                    <a:lnB w="12700" cap="flat" cmpd="sng" algn="ctr">
                      <a:solidFill>
                        <a:srgbClr val="E5E7EB"/>
                      </a:solidFill>
                      <a:prstDash val="solid"/>
                      <a:round/>
                      <a:headEnd type="none" w="med" len="med"/>
                      <a:tailEnd type="none" w="med" len="med"/>
                    </a:lnB>
                    <a:solidFill>
                      <a:srgbClr val="FFFFFF">
                        <a:alpha val="90000"/>
                      </a:srgbClr>
                    </a:solidFill>
                  </a:tcPr>
                </a:tc>
                <a:tc>
                  <a:txBody>
                    <a:bodyPr/>
                    <a:lstStyle/>
                    <a:p>
                      <a:pPr indent="0" algn="ctr">
                        <a:lnSpc>
                          <a:spcPct val="100000"/>
                        </a:lnSpc>
                        <a:defRPr/>
                      </a:pPr>
                      <a:r>
                        <a:rPr lang="en-US" sz="1400" b="0" i="0" u="none" strike="noStrike">
                          <a:solidFill>
                            <a:srgbClr val="212529"/>
                          </a:solidFill>
                          <a:latin typeface="Noto Sans SC"/>
                          <a:ea typeface="Noto Sans SC"/>
                          <a:cs typeface="Noto Sans SC"/>
                          <a:sym typeface="Noto Sans SC"/>
                        </a:rPr>
                        <a:t>用户测试</a:t>
                      </a:r>
                      <a:endParaRPr lang="en-US" sz="1100"/>
                    </a:p>
                  </a:txBody>
                  <a:tcPr marL="101600" marR="101600" marT="101600" marB="101600" anchor="ctr">
                    <a:lnL>
                      <a:noFill/>
                    </a:lnL>
                    <a:lnR>
                      <a:noFill/>
                    </a:lnR>
                    <a:lnT>
                      <a:noFill/>
                    </a:lnT>
                    <a:lnB w="12700" cap="flat" cmpd="sng" algn="ctr">
                      <a:solidFill>
                        <a:srgbClr val="E5E7EB"/>
                      </a:solidFill>
                      <a:prstDash val="solid"/>
                      <a:round/>
                      <a:headEnd type="none" w="med" len="med"/>
                      <a:tailEnd type="none" w="med" len="med"/>
                    </a:lnB>
                    <a:solidFill>
                      <a:srgbClr val="FFFFFF">
                        <a:alpha val="90000"/>
                      </a:srgbClr>
                    </a:solidFill>
                  </a:tcPr>
                </a:tc>
                <a:tc>
                  <a:txBody>
                    <a:bodyPr/>
                    <a:lstStyle/>
                    <a:p>
                      <a:pPr indent="0" algn="l">
                        <a:lnSpc>
                          <a:spcPct val="100000"/>
                        </a:lnSpc>
                        <a:defRPr/>
                      </a:pPr>
                      <a:r>
                        <a:rPr lang="en-US" sz="1400" b="0" i="0" u="none" strike="noStrike">
                          <a:solidFill>
                            <a:srgbClr val="212529"/>
                          </a:solidFill>
                          <a:latin typeface="Noto Sans SC"/>
                          <a:ea typeface="Noto Sans SC"/>
                          <a:cs typeface="Noto Sans SC"/>
                          <a:sym typeface="Noto Sans SC"/>
                        </a:rPr>
                        <a:t>任务完成率、平均完成用时、用户满意度（SUS评分）</a:t>
                      </a:r>
                      <a:endParaRPr lang="en-US" sz="1100"/>
                    </a:p>
                  </a:txBody>
                  <a:tcPr marL="127000" marR="101600" marT="101600" marB="101600" anchor="ctr">
                    <a:lnL>
                      <a:noFill/>
                    </a:lnL>
                    <a:lnR>
                      <a:noFill/>
                    </a:lnR>
                    <a:lnT>
                      <a:noFill/>
                    </a:lnT>
                    <a:lnB w="12700" cap="flat" cmpd="sng" algn="ctr">
                      <a:solidFill>
                        <a:srgbClr val="E5E7EB"/>
                      </a:solidFill>
                      <a:prstDash val="solid"/>
                      <a:round/>
                      <a:headEnd type="none" w="med" len="med"/>
                      <a:tailEnd type="none" w="med" len="med"/>
                    </a:lnB>
                    <a:solidFill>
                      <a:srgbClr val="FFFFFF">
                        <a:alpha val="90000"/>
                      </a:srgbClr>
                    </a:solidFill>
                  </a:tcPr>
                </a:tc>
                <a:extLst>
                  <a:ext uri="{0D108BD9-81ED-4DB2-BD59-A6C34878D82A}">
                    <a16:rowId xmlns:a16="http://schemas.microsoft.com/office/drawing/2014/main" val="10001"/>
                  </a:ext>
                </a:extLst>
              </a:tr>
              <a:tr h="571500">
                <a:tc>
                  <a:txBody>
                    <a:bodyPr/>
                    <a:lstStyle/>
                    <a:p>
                      <a:pPr indent="0" algn="ctr">
                        <a:lnSpc>
                          <a:spcPct val="100000"/>
                        </a:lnSpc>
                        <a:defRPr/>
                      </a:pPr>
                      <a:r>
                        <a:rPr lang="en-US" sz="1400" b="1" i="0" u="none" strike="noStrike">
                          <a:solidFill>
                            <a:srgbClr val="212529"/>
                          </a:solidFill>
                          <a:latin typeface="Noto Sans SC"/>
                          <a:ea typeface="Noto Sans SC"/>
                          <a:cs typeface="Noto Sans SC"/>
                          <a:sym typeface="Noto Sans SC"/>
                        </a:rPr>
                        <a:t>准确性</a:t>
                      </a:r>
                      <a:endParaRPr lang="en-US" sz="1100"/>
                    </a:p>
                  </a:txBody>
                  <a:tcPr marL="101600" marR="101600" marT="101600" marB="101600" anchor="ctr">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8F9FA">
                        <a:alpha val="90000"/>
                      </a:srgbClr>
                    </a:solidFill>
                  </a:tcPr>
                </a:tc>
                <a:tc>
                  <a:txBody>
                    <a:bodyPr/>
                    <a:lstStyle/>
                    <a:p>
                      <a:pPr indent="0" algn="ctr">
                        <a:lnSpc>
                          <a:spcPct val="100000"/>
                        </a:lnSpc>
                        <a:defRPr/>
                      </a:pPr>
                      <a:r>
                        <a:rPr lang="en-US" sz="1400" b="0" i="0" u="none" strike="noStrike">
                          <a:solidFill>
                            <a:srgbClr val="212529"/>
                          </a:solidFill>
                          <a:latin typeface="Noto Sans SC"/>
                          <a:ea typeface="Noto Sans SC"/>
                          <a:cs typeface="Noto Sans SC"/>
                          <a:sym typeface="Noto Sans SC"/>
                        </a:rPr>
                        <a:t>对比实验</a:t>
                      </a:r>
                      <a:endParaRPr lang="en-US" sz="1100"/>
                    </a:p>
                  </a:txBody>
                  <a:tcPr marL="101600" marR="101600" marT="101600" marB="101600" anchor="ctr">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8F9FA">
                        <a:alpha val="90000"/>
                      </a:srgbClr>
                    </a:solidFill>
                  </a:tcPr>
                </a:tc>
                <a:tc>
                  <a:txBody>
                    <a:bodyPr/>
                    <a:lstStyle/>
                    <a:p>
                      <a:pPr indent="0" algn="l">
                        <a:lnSpc>
                          <a:spcPct val="100000"/>
                        </a:lnSpc>
                        <a:defRPr/>
                      </a:pPr>
                      <a:r>
                        <a:rPr lang="en-US" sz="1400" b="0" i="0" u="none" strike="noStrike">
                          <a:solidFill>
                            <a:srgbClr val="212529"/>
                          </a:solidFill>
                          <a:latin typeface="Noto Sans SC"/>
                          <a:ea typeface="Noto Sans SC"/>
                          <a:cs typeface="Noto Sans SC"/>
                          <a:sym typeface="Noto Sans SC"/>
                        </a:rPr>
                        <a:t>工具推荐结果与领域专家决策结果的一致性</a:t>
                      </a:r>
                      <a:endParaRPr lang="en-US" sz="1100"/>
                    </a:p>
                  </a:txBody>
                  <a:tcPr marL="127000" marR="101600" marT="101600" marB="101600" anchor="ctr">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8F9FA">
                        <a:alpha val="90000"/>
                      </a:srgbClr>
                    </a:solidFill>
                  </a:tcPr>
                </a:tc>
                <a:extLst>
                  <a:ext uri="{0D108BD9-81ED-4DB2-BD59-A6C34878D82A}">
                    <a16:rowId xmlns:a16="http://schemas.microsoft.com/office/drawing/2014/main" val="10002"/>
                  </a:ext>
                </a:extLst>
              </a:tr>
              <a:tr h="571500">
                <a:tc>
                  <a:txBody>
                    <a:bodyPr/>
                    <a:lstStyle/>
                    <a:p>
                      <a:pPr indent="0" algn="ctr">
                        <a:lnSpc>
                          <a:spcPct val="100000"/>
                        </a:lnSpc>
                        <a:defRPr/>
                      </a:pPr>
                      <a:r>
                        <a:rPr lang="en-US" sz="1400" b="1" i="0" u="none" strike="noStrike">
                          <a:solidFill>
                            <a:srgbClr val="212529"/>
                          </a:solidFill>
                          <a:latin typeface="Noto Sans SC"/>
                          <a:ea typeface="Noto Sans SC"/>
                          <a:cs typeface="Noto Sans SC"/>
                          <a:sym typeface="Noto Sans SC"/>
                        </a:rPr>
                        <a:t>效率</a:t>
                      </a:r>
                      <a:endParaRPr lang="en-US" sz="1100"/>
                    </a:p>
                  </a:txBody>
                  <a:tcPr marL="101600" marR="101600" marT="101600" marB="101600" anchor="ctr">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alpha val="90000"/>
                      </a:srgbClr>
                    </a:solidFill>
                  </a:tcPr>
                </a:tc>
                <a:tc>
                  <a:txBody>
                    <a:bodyPr/>
                    <a:lstStyle/>
                    <a:p>
                      <a:pPr indent="0" algn="ctr">
                        <a:lnSpc>
                          <a:spcPct val="100000"/>
                        </a:lnSpc>
                        <a:defRPr/>
                      </a:pPr>
                      <a:r>
                        <a:rPr lang="en-US" sz="1400" b="0" i="0" u="none" strike="noStrike">
                          <a:solidFill>
                            <a:srgbClr val="212529"/>
                          </a:solidFill>
                          <a:latin typeface="Noto Sans SC"/>
                          <a:ea typeface="Noto Sans SC"/>
                          <a:cs typeface="Noto Sans SC"/>
                          <a:sym typeface="Noto Sans SC"/>
                        </a:rPr>
                        <a:t>时间测量</a:t>
                      </a:r>
                      <a:endParaRPr lang="en-US" sz="1100"/>
                    </a:p>
                  </a:txBody>
                  <a:tcPr marL="101600" marR="101600" marT="101600" marB="101600" anchor="ctr">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alpha val="90000"/>
                      </a:srgbClr>
                    </a:solidFill>
                  </a:tcPr>
                </a:tc>
                <a:tc>
                  <a:txBody>
                    <a:bodyPr/>
                    <a:lstStyle/>
                    <a:p>
                      <a:pPr indent="0" algn="l">
                        <a:lnSpc>
                          <a:spcPct val="100000"/>
                        </a:lnSpc>
                        <a:defRPr/>
                      </a:pPr>
                      <a:r>
                        <a:rPr lang="en-US" sz="1400" b="0" i="0" u="none" strike="noStrike">
                          <a:solidFill>
                            <a:srgbClr val="212529"/>
                          </a:solidFill>
                          <a:latin typeface="Noto Sans SC"/>
                          <a:ea typeface="Noto Sans SC"/>
                          <a:cs typeface="Noto Sans SC"/>
                          <a:sym typeface="Noto Sans SC"/>
                        </a:rPr>
                        <a:t>使用工具与使用传统方法（如会议讨论）的决策耗时对比</a:t>
                      </a:r>
                      <a:endParaRPr lang="en-US" sz="1100"/>
                    </a:p>
                  </a:txBody>
                  <a:tcPr marL="127000" marR="101600" marT="101600" marB="101600" anchor="ctr">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alpha val="90000"/>
                      </a:srgbClr>
                    </a:solidFill>
                  </a:tcPr>
                </a:tc>
                <a:extLst>
                  <a:ext uri="{0D108BD9-81ED-4DB2-BD59-A6C34878D82A}">
                    <a16:rowId xmlns:a16="http://schemas.microsoft.com/office/drawing/2014/main" val="10003"/>
                  </a:ext>
                </a:extLst>
              </a:tr>
              <a:tr h="571500">
                <a:tc>
                  <a:txBody>
                    <a:bodyPr/>
                    <a:lstStyle/>
                    <a:p>
                      <a:pPr indent="0" algn="ctr">
                        <a:lnSpc>
                          <a:spcPct val="100000"/>
                        </a:lnSpc>
                        <a:defRPr/>
                      </a:pPr>
                      <a:r>
                        <a:rPr lang="en-US" sz="1400" b="1" i="0" u="none" strike="noStrike">
                          <a:solidFill>
                            <a:srgbClr val="212529"/>
                          </a:solidFill>
                          <a:latin typeface="Noto Sans SC"/>
                          <a:ea typeface="Noto Sans SC"/>
                          <a:cs typeface="Noto Sans SC"/>
                          <a:sym typeface="Noto Sans SC"/>
                        </a:rPr>
                        <a:t>满意度</a:t>
                      </a:r>
                      <a:endParaRPr lang="en-US" sz="1100"/>
                    </a:p>
                  </a:txBody>
                  <a:tcPr marL="101600" marR="101600" marT="101600" marB="101600" anchor="ctr">
                    <a:lnL>
                      <a:noFill/>
                    </a:lnL>
                    <a:lnR>
                      <a:noFill/>
                    </a:lnR>
                    <a:lnT w="12700" cap="flat" cmpd="sng" algn="ctr">
                      <a:solidFill>
                        <a:srgbClr val="E5E7EB"/>
                      </a:solidFill>
                      <a:prstDash val="solid"/>
                      <a:round/>
                      <a:headEnd type="none" w="med" len="med"/>
                      <a:tailEnd type="none" w="med" len="med"/>
                    </a:lnT>
                    <a:lnB>
                      <a:noFill/>
                    </a:lnB>
                    <a:solidFill>
                      <a:srgbClr val="F8F9FA">
                        <a:alpha val="90000"/>
                      </a:srgbClr>
                    </a:solidFill>
                  </a:tcPr>
                </a:tc>
                <a:tc>
                  <a:txBody>
                    <a:bodyPr/>
                    <a:lstStyle/>
                    <a:p>
                      <a:pPr indent="0" algn="ctr">
                        <a:lnSpc>
                          <a:spcPct val="100000"/>
                        </a:lnSpc>
                        <a:defRPr/>
                      </a:pPr>
                      <a:r>
                        <a:rPr lang="en-US" sz="1400" b="0" i="0" u="none" strike="noStrike">
                          <a:solidFill>
                            <a:srgbClr val="212529"/>
                          </a:solidFill>
                          <a:latin typeface="Noto Sans SC"/>
                          <a:ea typeface="Noto Sans SC"/>
                          <a:cs typeface="Noto Sans SC"/>
                          <a:sym typeface="Noto Sans SC"/>
                        </a:rPr>
                        <a:t>问卷调查</a:t>
                      </a:r>
                      <a:endParaRPr lang="en-US" sz="1100"/>
                    </a:p>
                  </a:txBody>
                  <a:tcPr marL="101600" marR="101600" marT="101600" marB="101600" anchor="ctr">
                    <a:lnL>
                      <a:noFill/>
                    </a:lnL>
                    <a:lnR>
                      <a:noFill/>
                    </a:lnR>
                    <a:lnT w="12700" cap="flat" cmpd="sng" algn="ctr">
                      <a:solidFill>
                        <a:srgbClr val="E5E7EB"/>
                      </a:solidFill>
                      <a:prstDash val="solid"/>
                      <a:round/>
                      <a:headEnd type="none" w="med" len="med"/>
                      <a:tailEnd type="none" w="med" len="med"/>
                    </a:lnT>
                    <a:lnB>
                      <a:noFill/>
                    </a:lnB>
                    <a:solidFill>
                      <a:srgbClr val="F8F9FA">
                        <a:alpha val="90000"/>
                      </a:srgbClr>
                    </a:solidFill>
                  </a:tcPr>
                </a:tc>
                <a:tc>
                  <a:txBody>
                    <a:bodyPr/>
                    <a:lstStyle/>
                    <a:p>
                      <a:pPr indent="0" algn="l">
                        <a:lnSpc>
                          <a:spcPct val="100000"/>
                        </a:lnSpc>
                        <a:defRPr/>
                      </a:pPr>
                      <a:r>
                        <a:rPr lang="en-US" sz="1400" b="0" i="0" u="none" strike="noStrike">
                          <a:solidFill>
                            <a:srgbClr val="212529"/>
                          </a:solidFill>
                          <a:latin typeface="Noto Sans SC"/>
                          <a:ea typeface="Noto Sans SC"/>
                          <a:cs typeface="Noto Sans SC"/>
                          <a:sym typeface="Noto Sans SC"/>
                        </a:rPr>
                        <a:t>系统可用性量表（SUS）评分</a:t>
                      </a:r>
                      <a:endParaRPr lang="en-US" sz="1100"/>
                    </a:p>
                  </a:txBody>
                  <a:tcPr marL="127000" marR="101600" marT="101600" marB="101600" anchor="ctr">
                    <a:lnL>
                      <a:noFill/>
                    </a:lnL>
                    <a:lnR>
                      <a:noFill/>
                    </a:lnR>
                    <a:lnT w="12700" cap="flat" cmpd="sng" algn="ctr">
                      <a:solidFill>
                        <a:srgbClr val="E5E7EB"/>
                      </a:solidFill>
                      <a:prstDash val="solid"/>
                      <a:round/>
                      <a:headEnd type="none" w="med" len="med"/>
                      <a:tailEnd type="none" w="med" len="med"/>
                    </a:lnT>
                    <a:lnB>
                      <a:noFill/>
                    </a:lnB>
                    <a:solidFill>
                      <a:srgbClr val="F8F9FA">
                        <a:alpha val="90000"/>
                      </a:srgbClr>
                    </a:solidFill>
                  </a:tcPr>
                </a:tc>
                <a:extLst>
                  <a:ext uri="{0D108BD9-81ED-4DB2-BD59-A6C34878D82A}">
                    <a16:rowId xmlns:a16="http://schemas.microsoft.com/office/drawing/2014/main" val="10004"/>
                  </a:ext>
                </a:extLst>
              </a:tr>
            </a:tbl>
          </a:graphicData>
        </a:graphic>
      </p:graphicFrame>
      <p:sp>
        <p:nvSpPr>
          <p:cNvPr id="5" name="AutoShape 5"/>
          <p:cNvSpPr/>
          <p:nvPr/>
        </p:nvSpPr>
        <p:spPr>
          <a:xfrm>
            <a:off x="762000" y="4445000"/>
            <a:ext cx="1066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D6EFD"/>
                </a:solidFill>
                <a:latin typeface="Noto Sans SC"/>
                <a:ea typeface="Noto Sans SC"/>
                <a:cs typeface="Noto Sans SC"/>
                <a:sym typeface="Noto Sans SC"/>
              </a:rPr>
              <a:t>实验对象分组设计</a:t>
            </a:r>
            <a:endParaRPr lang="en-US" sz="1100"/>
          </a:p>
        </p:txBody>
      </p:sp>
      <p:sp>
        <p:nvSpPr>
          <p:cNvPr id="6" name="AutoShape 6"/>
          <p:cNvSpPr/>
          <p:nvPr/>
        </p:nvSpPr>
        <p:spPr>
          <a:xfrm>
            <a:off x="762000" y="4953000"/>
            <a:ext cx="5207000" cy="1143000"/>
          </a:xfrm>
          <a:prstGeom prst="roundRect">
            <a:avLst>
              <a:gd name="adj" fmla="val 11111"/>
            </a:avLst>
          </a:prstGeom>
          <a:solidFill>
            <a:srgbClr val="EFF6FF">
              <a:alpha val="90000"/>
            </a:srgbClr>
          </a:solidFill>
          <a:ln w="12700" cap="flat" cmpd="sng">
            <a:solidFill>
              <a:srgbClr val="BFDBFE">
                <a:alpha val="100000"/>
              </a:srgbClr>
            </a:solidFill>
            <a:prstDash val="solid"/>
            <a:round/>
          </a:ln>
        </p:spPr>
        <p:txBody>
          <a:bodyPr vert="horz" wrap="square" lIns="63500" tIns="63500" rIns="63500" bIns="63500" rtlCol="0" anchor="ctr"/>
          <a:lstStyle/>
          <a:p>
            <a:pPr algn="ctr">
              <a:defRPr/>
            </a:pPr>
            <a:endParaRPr/>
          </a:p>
        </p:txBody>
      </p:sp>
      <p:pic>
        <p:nvPicPr>
          <p:cNvPr id="7" name="Picture 7"/>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5321300"/>
            <a:ext cx="406400" cy="406400"/>
          </a:xfrm>
          <a:prstGeom prst="rect">
            <a:avLst/>
          </a:prstGeom>
        </p:spPr>
      </p:pic>
      <p:sp>
        <p:nvSpPr>
          <p:cNvPr id="8" name="AutoShape 8"/>
          <p:cNvSpPr/>
          <p:nvPr/>
        </p:nvSpPr>
        <p:spPr>
          <a:xfrm>
            <a:off x="1524000" y="5080000"/>
            <a:ext cx="419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212529"/>
                </a:solidFill>
                <a:latin typeface="Noto Sans SC"/>
                <a:ea typeface="Noto Sans SC"/>
                <a:cs typeface="Noto Sans SC"/>
                <a:sym typeface="Noto Sans SC"/>
              </a:rPr>
              <a:t>实验组 (20人)</a:t>
            </a:r>
            <a:endParaRPr lang="en-US" sz="1100"/>
          </a:p>
        </p:txBody>
      </p:sp>
      <p:sp>
        <p:nvSpPr>
          <p:cNvPr id="9" name="AutoShape 9"/>
          <p:cNvSpPr/>
          <p:nvPr/>
        </p:nvSpPr>
        <p:spPr>
          <a:xfrm>
            <a:off x="1524000" y="5461000"/>
            <a:ext cx="4191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6C757D"/>
                </a:solidFill>
                <a:latin typeface="Noto Sans SC"/>
                <a:ea typeface="Noto Sans SC"/>
                <a:cs typeface="Noto Sans SC"/>
                <a:sym typeface="Noto Sans SC"/>
              </a:rPr>
              <a:t>具备项目管理经验的用户，使用本工具进行决策。</a:t>
            </a:r>
            <a:endParaRPr lang="en-US" sz="1100"/>
          </a:p>
        </p:txBody>
      </p:sp>
      <p:sp>
        <p:nvSpPr>
          <p:cNvPr id="10" name="AutoShape 10"/>
          <p:cNvSpPr/>
          <p:nvPr/>
        </p:nvSpPr>
        <p:spPr>
          <a:xfrm>
            <a:off x="6223000" y="4953000"/>
            <a:ext cx="5207000" cy="1143000"/>
          </a:xfrm>
          <a:prstGeom prst="roundRect">
            <a:avLst>
              <a:gd name="adj" fmla="val 11111"/>
            </a:avLst>
          </a:prstGeom>
          <a:solidFill>
            <a:srgbClr val="F8F9FA">
              <a:alpha val="90000"/>
            </a:srgbClr>
          </a:solidFill>
          <a:ln w="12700" cap="flat" cmpd="sng">
            <a:solidFill>
              <a:srgbClr val="DEE2E6">
                <a:alpha val="100000"/>
              </a:srgbClr>
            </a:solidFill>
            <a:prstDash val="solid"/>
            <a:round/>
          </a:ln>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477000" y="5321300"/>
            <a:ext cx="406400" cy="406400"/>
          </a:xfrm>
          <a:prstGeom prst="rect">
            <a:avLst/>
          </a:prstGeom>
        </p:spPr>
      </p:pic>
      <p:sp>
        <p:nvSpPr>
          <p:cNvPr id="12" name="AutoShape 12"/>
          <p:cNvSpPr/>
          <p:nvPr/>
        </p:nvSpPr>
        <p:spPr>
          <a:xfrm>
            <a:off x="6985000" y="5080000"/>
            <a:ext cx="419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212529"/>
                </a:solidFill>
                <a:latin typeface="Noto Sans SC"/>
                <a:ea typeface="Noto Sans SC"/>
                <a:cs typeface="Noto Sans SC"/>
                <a:sym typeface="Noto Sans SC"/>
              </a:rPr>
              <a:t>对照组 (20人)</a:t>
            </a:r>
            <a:endParaRPr lang="en-US" sz="1100"/>
          </a:p>
        </p:txBody>
      </p:sp>
      <p:sp>
        <p:nvSpPr>
          <p:cNvPr id="13" name="AutoShape 13"/>
          <p:cNvSpPr/>
          <p:nvPr/>
        </p:nvSpPr>
        <p:spPr>
          <a:xfrm>
            <a:off x="6985000" y="5461000"/>
            <a:ext cx="4191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6C757D"/>
                </a:solidFill>
                <a:latin typeface="Noto Sans SC"/>
                <a:ea typeface="Noto Sans SC"/>
                <a:cs typeface="Noto Sans SC"/>
                <a:sym typeface="Noto Sans SC"/>
              </a:rPr>
              <a:t>背景相似的用户，使用传统方法（如会议讨论）进行决策。</a:t>
            </a:r>
            <a:endParaRPr lang="en-US" sz="11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508000"/>
            <a:ext cx="106680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0D6EFD"/>
                </a:solidFill>
                <a:latin typeface="Noto Sans SC"/>
                <a:ea typeface="Noto Sans SC"/>
                <a:cs typeface="Noto Sans SC"/>
                <a:sym typeface="Noto Sans SC"/>
              </a:rPr>
              <a:t>易用性评估结果：任务完成情况</a:t>
            </a:r>
            <a:endParaRPr lang="en-US" sz="1100"/>
          </a:p>
        </p:txBody>
      </p:sp>
      <p:sp>
        <p:nvSpPr>
          <p:cNvPr id="5" name="AutoShape 5"/>
          <p:cNvSpPr/>
          <p:nvPr/>
        </p:nvSpPr>
        <p:spPr>
          <a:xfrm>
            <a:off x="762000" y="1397000"/>
            <a:ext cx="533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329"/>
                </a:solidFill>
                <a:latin typeface="Noto Sans SC"/>
                <a:ea typeface="Noto Sans SC"/>
                <a:cs typeface="Noto Sans SC"/>
                <a:sym typeface="Noto Sans SC"/>
              </a:rPr>
              <a:t>任务完成详情统计</a:t>
            </a:r>
            <a:endParaRPr lang="en-US" sz="1100"/>
          </a:p>
        </p:txBody>
      </p:sp>
      <p:graphicFrame>
        <p:nvGraphicFramePr>
          <p:cNvPr id="6" name="Table 6"/>
          <p:cNvGraphicFramePr>
            <a:graphicFrameLocks noGrp="1"/>
          </p:cNvGraphicFramePr>
          <p:nvPr/>
        </p:nvGraphicFramePr>
        <p:xfrm>
          <a:off x="762000" y="1905000"/>
          <a:ext cx="5334000" cy="2661920"/>
        </p:xfrm>
        <a:graphic>
          <a:graphicData uri="http://schemas.openxmlformats.org/drawingml/2006/table">
            <a:tbl>
              <a:tblPr>
                <a:effectLst/>
              </a:tblPr>
              <a:tblGrid>
                <a:gridCol w="1397000">
                  <a:extLst>
                    <a:ext uri="{9D8B030D-6E8A-4147-A177-3AD203B41FA5}">
                      <a16:colId xmlns:a16="http://schemas.microsoft.com/office/drawing/2014/main" val="20000"/>
                    </a:ext>
                  </a:extLst>
                </a:gridCol>
                <a:gridCol w="889000">
                  <a:extLst>
                    <a:ext uri="{9D8B030D-6E8A-4147-A177-3AD203B41FA5}">
                      <a16:colId xmlns:a16="http://schemas.microsoft.com/office/drawing/2014/main" val="20001"/>
                    </a:ext>
                  </a:extLst>
                </a:gridCol>
                <a:gridCol w="889000">
                  <a:extLst>
                    <a:ext uri="{9D8B030D-6E8A-4147-A177-3AD203B41FA5}">
                      <a16:colId xmlns:a16="http://schemas.microsoft.com/office/drawing/2014/main" val="20002"/>
                    </a:ext>
                  </a:extLst>
                </a:gridCol>
                <a:gridCol w="2159000">
                  <a:extLst>
                    <a:ext uri="{9D8B030D-6E8A-4147-A177-3AD203B41FA5}">
                      <a16:colId xmlns:a16="http://schemas.microsoft.com/office/drawing/2014/main" val="20003"/>
                    </a:ext>
                  </a:extLst>
                </a:gridCol>
              </a:tblGrid>
              <a:tr h="457200">
                <a:tc>
                  <a:txBody>
                    <a:bodyPr/>
                    <a:lstStyle/>
                    <a:p>
                      <a:pPr indent="0" algn="ctr">
                        <a:lnSpc>
                          <a:spcPct val="100000"/>
                        </a:lnSpc>
                        <a:defRPr/>
                      </a:pPr>
                      <a:r>
                        <a:rPr lang="en-US" sz="1400" b="1" i="0" u="none" strike="noStrike">
                          <a:solidFill>
                            <a:srgbClr val="0D6EFD"/>
                          </a:solidFill>
                          <a:latin typeface="Noto Sans SC"/>
                          <a:ea typeface="Noto Sans SC"/>
                          <a:cs typeface="Noto Sans SC"/>
                          <a:sym typeface="Noto Sans SC"/>
                        </a:rPr>
                        <a:t>测试任务</a:t>
                      </a:r>
                      <a:endParaRPr lang="en-US" sz="1100"/>
                    </a:p>
                  </a:txBody>
                  <a:tcPr marL="101600" marR="101600" marT="101600" marB="101600" anchor="ctr">
                    <a:lnL>
                      <a:noFill/>
                    </a:lnL>
                    <a:lnR>
                      <a:noFill/>
                    </a:lnR>
                    <a:lnT>
                      <a:noFill/>
                    </a:lnT>
                    <a:lnB w="25400" cap="flat" cmpd="sng" algn="ctr">
                      <a:solidFill>
                        <a:srgbClr val="0D6EFD"/>
                      </a:solidFill>
                      <a:prstDash val="solid"/>
                      <a:round/>
                      <a:headEnd type="none" w="med" len="med"/>
                      <a:tailEnd type="none" w="med" len="med"/>
                    </a:lnB>
                    <a:solidFill>
                      <a:srgbClr val="0D6EFD">
                        <a:alpha val="10000"/>
                      </a:srgbClr>
                    </a:solidFill>
                  </a:tcPr>
                </a:tc>
                <a:tc>
                  <a:txBody>
                    <a:bodyPr/>
                    <a:lstStyle/>
                    <a:p>
                      <a:pPr indent="0" algn="ctr">
                        <a:lnSpc>
                          <a:spcPct val="100000"/>
                        </a:lnSpc>
                        <a:defRPr/>
                      </a:pPr>
                      <a:r>
                        <a:rPr lang="en-US" sz="1400" b="1" i="0" u="none" strike="noStrike">
                          <a:solidFill>
                            <a:srgbClr val="0D6EFD"/>
                          </a:solidFill>
                          <a:latin typeface="Noto Sans SC"/>
                          <a:ea typeface="Noto Sans SC"/>
                          <a:cs typeface="Noto Sans SC"/>
                          <a:sym typeface="Noto Sans SC"/>
                        </a:rPr>
                        <a:t>完成率</a:t>
                      </a:r>
                      <a:endParaRPr lang="en-US" sz="1100"/>
                    </a:p>
                  </a:txBody>
                  <a:tcPr marL="101600" marR="101600" marT="101600" marB="101600" anchor="ctr">
                    <a:lnL>
                      <a:noFill/>
                    </a:lnL>
                    <a:lnR>
                      <a:noFill/>
                    </a:lnR>
                    <a:lnT>
                      <a:noFill/>
                    </a:lnT>
                    <a:lnB w="25400" cap="flat" cmpd="sng" algn="ctr">
                      <a:solidFill>
                        <a:srgbClr val="0D6EFD"/>
                      </a:solidFill>
                      <a:prstDash val="solid"/>
                      <a:round/>
                      <a:headEnd type="none" w="med" len="med"/>
                      <a:tailEnd type="none" w="med" len="med"/>
                    </a:lnB>
                    <a:solidFill>
                      <a:srgbClr val="0D6EFD">
                        <a:alpha val="10000"/>
                      </a:srgbClr>
                    </a:solidFill>
                  </a:tcPr>
                </a:tc>
                <a:tc>
                  <a:txBody>
                    <a:bodyPr/>
                    <a:lstStyle/>
                    <a:p>
                      <a:pPr indent="0" algn="ctr">
                        <a:lnSpc>
                          <a:spcPct val="100000"/>
                        </a:lnSpc>
                        <a:defRPr/>
                      </a:pPr>
                      <a:r>
                        <a:rPr lang="en-US" sz="1400" b="1" i="0" u="none" strike="noStrike">
                          <a:solidFill>
                            <a:srgbClr val="0D6EFD"/>
                          </a:solidFill>
                          <a:latin typeface="Noto Sans SC"/>
                          <a:ea typeface="Noto Sans SC"/>
                          <a:cs typeface="Noto Sans SC"/>
                          <a:sym typeface="Noto Sans SC"/>
                        </a:rPr>
                        <a:t>平均用时</a:t>
                      </a:r>
                      <a:endParaRPr lang="en-US" sz="1100"/>
                    </a:p>
                  </a:txBody>
                  <a:tcPr marL="101600" marR="101600" marT="101600" marB="101600" anchor="ctr">
                    <a:lnL>
                      <a:noFill/>
                    </a:lnL>
                    <a:lnR>
                      <a:noFill/>
                    </a:lnR>
                    <a:lnT>
                      <a:noFill/>
                    </a:lnT>
                    <a:lnB w="25400" cap="flat" cmpd="sng" algn="ctr">
                      <a:solidFill>
                        <a:srgbClr val="0D6EFD"/>
                      </a:solidFill>
                      <a:prstDash val="solid"/>
                      <a:round/>
                      <a:headEnd type="none" w="med" len="med"/>
                      <a:tailEnd type="none" w="med" len="med"/>
                    </a:lnB>
                    <a:solidFill>
                      <a:srgbClr val="0D6EFD">
                        <a:alpha val="10000"/>
                      </a:srgbClr>
                    </a:solidFill>
                  </a:tcPr>
                </a:tc>
                <a:tc>
                  <a:txBody>
                    <a:bodyPr/>
                    <a:lstStyle/>
                    <a:p>
                      <a:pPr indent="0" algn="ctr">
                        <a:lnSpc>
                          <a:spcPct val="100000"/>
                        </a:lnSpc>
                        <a:defRPr/>
                      </a:pPr>
                      <a:r>
                        <a:rPr lang="en-US" sz="1400" b="1" i="0" u="none" strike="noStrike">
                          <a:solidFill>
                            <a:srgbClr val="0D6EFD"/>
                          </a:solidFill>
                          <a:latin typeface="Noto Sans SC"/>
                          <a:ea typeface="Noto Sans SC"/>
                          <a:cs typeface="Noto Sans SC"/>
                          <a:sym typeface="Noto Sans SC"/>
                        </a:rPr>
                        <a:t>困难点</a:t>
                      </a:r>
                      <a:endParaRPr lang="en-US" sz="1100"/>
                    </a:p>
                  </a:txBody>
                  <a:tcPr marL="101600" marR="101600" marT="101600" marB="101600" anchor="ctr">
                    <a:lnL>
                      <a:noFill/>
                    </a:lnL>
                    <a:lnR>
                      <a:noFill/>
                    </a:lnR>
                    <a:lnT>
                      <a:noFill/>
                    </a:lnT>
                    <a:lnB w="25400" cap="flat" cmpd="sng" algn="ctr">
                      <a:solidFill>
                        <a:srgbClr val="0D6EFD"/>
                      </a:solidFill>
                      <a:prstDash val="solid"/>
                      <a:round/>
                      <a:headEnd type="none" w="med" len="med"/>
                      <a:tailEnd type="none" w="med" len="med"/>
                    </a:lnB>
                    <a:solidFill>
                      <a:srgbClr val="0D6EFD">
                        <a:alpha val="10000"/>
                      </a:srgbClr>
                    </a:solidFill>
                  </a:tcPr>
                </a:tc>
                <a:extLst>
                  <a:ext uri="{0D108BD9-81ED-4DB2-BD59-A6C34878D82A}">
                    <a16:rowId xmlns:a16="http://schemas.microsoft.com/office/drawing/2014/main" val="10000"/>
                  </a:ext>
                </a:extLst>
              </a:tr>
              <a:tr h="406400">
                <a:tc>
                  <a:txBody>
                    <a:bodyPr/>
                    <a:lstStyle/>
                    <a:p>
                      <a:pPr indent="0" algn="ctr">
                        <a:lnSpc>
                          <a:spcPct val="100000"/>
                        </a:lnSpc>
                        <a:defRPr/>
                      </a:pPr>
                      <a:r>
                        <a:rPr lang="en-US" sz="1200" b="0" i="0" u="none" strike="noStrike">
                          <a:solidFill>
                            <a:srgbClr val="374151"/>
                          </a:solidFill>
                          <a:latin typeface="Noto Sans SC"/>
                          <a:ea typeface="Noto Sans SC"/>
                          <a:cs typeface="Noto Sans SC"/>
                          <a:sym typeface="Noto Sans SC"/>
                        </a:rPr>
                        <a:t>添加影响因子</a:t>
                      </a:r>
                      <a:endParaRPr lang="en-US" sz="1100"/>
                    </a:p>
                  </a:txBody>
                  <a:tcPr marL="101600" marR="101600" marT="101600" marB="101600" anchor="ctr">
                    <a:lnL>
                      <a:noFill/>
                    </a:lnL>
                    <a:lnR>
                      <a:noFill/>
                    </a:lnR>
                    <a:lnT w="25400" cap="flat" cmpd="sng" algn="ctr">
                      <a:solidFill>
                        <a:srgbClr val="0D6EFD"/>
                      </a:solidFill>
                      <a:prstDash val="solid"/>
                      <a:round/>
                      <a:headEnd type="none" w="med" len="med"/>
                      <a:tailEnd type="none" w="med" len="med"/>
                    </a:lnT>
                    <a:lnB>
                      <a:noFill/>
                    </a:lnB>
                    <a:noFill/>
                  </a:tcPr>
                </a:tc>
                <a:tc>
                  <a:txBody>
                    <a:bodyPr/>
                    <a:lstStyle/>
                    <a:p>
                      <a:pPr indent="0" algn="ctr">
                        <a:lnSpc>
                          <a:spcPct val="100000"/>
                        </a:lnSpc>
                        <a:defRPr/>
                      </a:pPr>
                      <a:r>
                        <a:rPr lang="en-US" sz="1200" b="0" i="0" u="none" strike="noStrike">
                          <a:solidFill>
                            <a:srgbClr val="374151"/>
                          </a:solidFill>
                          <a:latin typeface="Noto Sans SC"/>
                          <a:ea typeface="Noto Sans SC"/>
                          <a:cs typeface="Noto Sans SC"/>
                          <a:sym typeface="Noto Sans SC"/>
                        </a:rPr>
                        <a:t>100%</a:t>
                      </a:r>
                      <a:endParaRPr lang="en-US" sz="1100"/>
                    </a:p>
                  </a:txBody>
                  <a:tcPr marL="101600" marR="101600" marT="101600" marB="101600" anchor="ctr">
                    <a:lnL>
                      <a:noFill/>
                    </a:lnL>
                    <a:lnR>
                      <a:noFill/>
                    </a:lnR>
                    <a:lnT w="25400" cap="flat" cmpd="sng" algn="ctr">
                      <a:solidFill>
                        <a:srgbClr val="0D6EFD"/>
                      </a:solidFill>
                      <a:prstDash val="solid"/>
                      <a:round/>
                      <a:headEnd type="none" w="med" len="med"/>
                      <a:tailEnd type="none" w="med" len="med"/>
                    </a:lnT>
                    <a:lnB>
                      <a:noFill/>
                    </a:lnB>
                    <a:noFill/>
                  </a:tcPr>
                </a:tc>
                <a:tc>
                  <a:txBody>
                    <a:bodyPr/>
                    <a:lstStyle/>
                    <a:p>
                      <a:pPr indent="0" algn="ctr">
                        <a:lnSpc>
                          <a:spcPct val="100000"/>
                        </a:lnSpc>
                        <a:defRPr/>
                      </a:pPr>
                      <a:r>
                        <a:rPr lang="en-US" sz="1200" b="0" i="0" u="none" strike="noStrike">
                          <a:solidFill>
                            <a:srgbClr val="374151"/>
                          </a:solidFill>
                          <a:latin typeface="Noto Sans SC"/>
                          <a:ea typeface="Noto Sans SC"/>
                          <a:cs typeface="Noto Sans SC"/>
                          <a:sym typeface="Noto Sans SC"/>
                        </a:rPr>
                        <a:t>45秒</a:t>
                      </a:r>
                      <a:endParaRPr lang="en-US" sz="1100"/>
                    </a:p>
                  </a:txBody>
                  <a:tcPr marL="101600" marR="101600" marT="101600" marB="101600" anchor="ctr">
                    <a:lnL>
                      <a:noFill/>
                    </a:lnL>
                    <a:lnR>
                      <a:noFill/>
                    </a:lnR>
                    <a:lnT w="25400" cap="flat" cmpd="sng" algn="ctr">
                      <a:solidFill>
                        <a:srgbClr val="0D6EFD"/>
                      </a:solidFill>
                      <a:prstDash val="solid"/>
                      <a:round/>
                      <a:headEnd type="none" w="med" len="med"/>
                      <a:tailEnd type="none" w="med" len="med"/>
                    </a:lnT>
                    <a:lnB>
                      <a:noFill/>
                    </a:lnB>
                    <a:noFill/>
                  </a:tcPr>
                </a:tc>
                <a:tc>
                  <a:txBody>
                    <a:bodyPr/>
                    <a:lstStyle/>
                    <a:p>
                      <a:pPr indent="0" algn="ctr">
                        <a:lnSpc>
                          <a:spcPct val="100000"/>
                        </a:lnSpc>
                        <a:defRPr/>
                      </a:pPr>
                      <a:r>
                        <a:rPr lang="en-US" sz="1200" b="0" i="0" u="none" strike="noStrike">
                          <a:solidFill>
                            <a:srgbClr val="374151"/>
                          </a:solidFill>
                          <a:latin typeface="Noto Sans SC"/>
                          <a:ea typeface="Noto Sans SC"/>
                          <a:cs typeface="Noto Sans SC"/>
                          <a:sym typeface="Noto Sans SC"/>
                        </a:rPr>
                        <a:t>无</a:t>
                      </a:r>
                      <a:endParaRPr lang="en-US" sz="1100"/>
                    </a:p>
                  </a:txBody>
                  <a:tcPr marL="101600" marR="101600" marT="101600" marB="101600" anchor="ctr">
                    <a:lnL>
                      <a:noFill/>
                    </a:lnL>
                    <a:lnR>
                      <a:noFill/>
                    </a:lnR>
                    <a:lnT w="25400" cap="flat" cmpd="sng" algn="ctr">
                      <a:solidFill>
                        <a:srgbClr val="0D6EFD"/>
                      </a:solidFill>
                      <a:prstDash val="solid"/>
                      <a:round/>
                      <a:headEnd type="none" w="med" len="med"/>
                      <a:tailEnd type="none" w="med" len="med"/>
                    </a:lnT>
                    <a:lnB>
                      <a:noFill/>
                    </a:lnB>
                    <a:noFill/>
                  </a:tcPr>
                </a:tc>
                <a:extLst>
                  <a:ext uri="{0D108BD9-81ED-4DB2-BD59-A6C34878D82A}">
                    <a16:rowId xmlns:a16="http://schemas.microsoft.com/office/drawing/2014/main" val="10001"/>
                  </a:ext>
                </a:extLst>
              </a:tr>
              <a:tr h="406400">
                <a:tc>
                  <a:txBody>
                    <a:bodyPr/>
                    <a:lstStyle/>
                    <a:p>
                      <a:pPr indent="0" algn="ctr">
                        <a:lnSpc>
                          <a:spcPct val="100000"/>
                        </a:lnSpc>
                        <a:defRPr/>
                      </a:pPr>
                      <a:r>
                        <a:rPr lang="en-US" sz="1200" b="0" i="0" u="none" strike="noStrike">
                          <a:solidFill>
                            <a:srgbClr val="374151"/>
                          </a:solidFill>
                          <a:latin typeface="Noto Sans SC"/>
                          <a:ea typeface="Noto Sans SC"/>
                          <a:cs typeface="Noto Sans SC"/>
                          <a:sym typeface="Noto Sans SC"/>
                        </a:rPr>
                        <a:t>AHP权重配置</a:t>
                      </a:r>
                      <a:endParaRPr lang="en-US" sz="1100"/>
                    </a:p>
                  </a:txBody>
                  <a:tcPr marL="101600" marR="101600" marT="101600" marB="101600" anchor="ctr">
                    <a:lnL>
                      <a:noFill/>
                    </a:lnL>
                    <a:lnR>
                      <a:noFill/>
                    </a:lnR>
                    <a:lnT>
                      <a:noFill/>
                    </a:lnT>
                    <a:lnB>
                      <a:noFill/>
                    </a:lnB>
                    <a:noFill/>
                  </a:tcPr>
                </a:tc>
                <a:tc>
                  <a:txBody>
                    <a:bodyPr/>
                    <a:lstStyle/>
                    <a:p>
                      <a:pPr indent="0" algn="ctr">
                        <a:lnSpc>
                          <a:spcPct val="100000"/>
                        </a:lnSpc>
                        <a:defRPr/>
                      </a:pPr>
                      <a:r>
                        <a:rPr lang="en-US" sz="1200" b="0" i="0" u="none" strike="noStrike">
                          <a:solidFill>
                            <a:srgbClr val="374151"/>
                          </a:solidFill>
                          <a:latin typeface="Noto Sans SC"/>
                          <a:ea typeface="Noto Sans SC"/>
                          <a:cs typeface="Noto Sans SC"/>
                          <a:sym typeface="Noto Sans SC"/>
                        </a:rPr>
                        <a:t>95%</a:t>
                      </a:r>
                      <a:endParaRPr lang="en-US" sz="1100"/>
                    </a:p>
                  </a:txBody>
                  <a:tcPr marL="101600" marR="101600" marT="101600" marB="101600" anchor="ctr">
                    <a:lnL>
                      <a:noFill/>
                    </a:lnL>
                    <a:lnR>
                      <a:noFill/>
                    </a:lnR>
                    <a:lnT>
                      <a:noFill/>
                    </a:lnT>
                    <a:lnB>
                      <a:noFill/>
                    </a:lnB>
                    <a:noFill/>
                  </a:tcPr>
                </a:tc>
                <a:tc>
                  <a:txBody>
                    <a:bodyPr/>
                    <a:lstStyle/>
                    <a:p>
                      <a:pPr indent="0" algn="ctr">
                        <a:lnSpc>
                          <a:spcPct val="100000"/>
                        </a:lnSpc>
                        <a:defRPr/>
                      </a:pPr>
                      <a:r>
                        <a:rPr lang="en-US" sz="1200" b="0" i="0" u="none" strike="noStrike">
                          <a:solidFill>
                            <a:srgbClr val="374151"/>
                          </a:solidFill>
                          <a:latin typeface="Noto Sans SC"/>
                          <a:ea typeface="Noto Sans SC"/>
                          <a:cs typeface="Noto Sans SC"/>
                          <a:sym typeface="Noto Sans SC"/>
                        </a:rPr>
                        <a:t>3分钟</a:t>
                      </a:r>
                      <a:endParaRPr lang="en-US" sz="1100"/>
                    </a:p>
                  </a:txBody>
                  <a:tcPr marL="101600" marR="101600" marT="101600" marB="101600" anchor="ctr">
                    <a:lnL>
                      <a:noFill/>
                    </a:lnL>
                    <a:lnR>
                      <a:noFill/>
                    </a:lnR>
                    <a:lnT>
                      <a:noFill/>
                    </a:lnT>
                    <a:lnB>
                      <a:noFill/>
                    </a:lnB>
                    <a:noFill/>
                  </a:tcPr>
                </a:tc>
                <a:tc>
                  <a:txBody>
                    <a:bodyPr/>
                    <a:lstStyle/>
                    <a:p>
                      <a:pPr indent="0" algn="ctr">
                        <a:lnSpc>
                          <a:spcPct val="100000"/>
                        </a:lnSpc>
                        <a:defRPr/>
                      </a:pPr>
                      <a:r>
                        <a:rPr lang="en-US" sz="1200" b="0" i="0" u="none" strike="noStrike">
                          <a:solidFill>
                            <a:srgbClr val="374151"/>
                          </a:solidFill>
                          <a:latin typeface="Noto Sans SC"/>
                          <a:ea typeface="Noto Sans SC"/>
                          <a:cs typeface="Noto Sans SC"/>
                          <a:sym typeface="Noto Sans SC"/>
                        </a:rPr>
                        <a:t>滑块含义理解稍慢</a:t>
                      </a:r>
                      <a:endParaRPr lang="en-US" sz="1100"/>
                    </a:p>
                  </a:txBody>
                  <a:tcPr marL="101600" marR="101600" marT="101600" marB="101600" anchor="ctr">
                    <a:lnL>
                      <a:noFill/>
                    </a:lnL>
                    <a:lnR>
                      <a:noFill/>
                    </a:lnR>
                    <a:lnT>
                      <a:noFill/>
                    </a:lnT>
                    <a:lnB>
                      <a:noFill/>
                    </a:lnB>
                    <a:noFill/>
                  </a:tcPr>
                </a:tc>
                <a:extLst>
                  <a:ext uri="{0D108BD9-81ED-4DB2-BD59-A6C34878D82A}">
                    <a16:rowId xmlns:a16="http://schemas.microsoft.com/office/drawing/2014/main" val="10002"/>
                  </a:ext>
                </a:extLst>
              </a:tr>
              <a:tr h="406400">
                <a:tc>
                  <a:txBody>
                    <a:bodyPr/>
                    <a:lstStyle/>
                    <a:p>
                      <a:pPr indent="0" algn="ctr">
                        <a:lnSpc>
                          <a:spcPct val="100000"/>
                        </a:lnSpc>
                        <a:defRPr/>
                      </a:pPr>
                      <a:r>
                        <a:rPr lang="en-US" sz="1200" b="0" i="0" u="none" strike="noStrike">
                          <a:solidFill>
                            <a:srgbClr val="374151"/>
                          </a:solidFill>
                          <a:latin typeface="Noto Sans SC"/>
                          <a:ea typeface="Noto Sans SC"/>
                          <a:cs typeface="Noto Sans SC"/>
                          <a:sym typeface="Noto Sans SC"/>
                        </a:rPr>
                        <a:t>创建OKR和KR</a:t>
                      </a:r>
                      <a:endParaRPr lang="en-US" sz="1100"/>
                    </a:p>
                  </a:txBody>
                  <a:tcPr marL="101600" marR="101600" marT="101600" marB="101600" anchor="ctr">
                    <a:lnL>
                      <a:noFill/>
                    </a:lnL>
                    <a:lnR>
                      <a:noFill/>
                    </a:lnR>
                    <a:lnT>
                      <a:noFill/>
                    </a:lnT>
                    <a:lnB>
                      <a:noFill/>
                    </a:lnB>
                    <a:noFill/>
                  </a:tcPr>
                </a:tc>
                <a:tc>
                  <a:txBody>
                    <a:bodyPr/>
                    <a:lstStyle/>
                    <a:p>
                      <a:pPr indent="0" algn="ctr">
                        <a:lnSpc>
                          <a:spcPct val="100000"/>
                        </a:lnSpc>
                        <a:defRPr/>
                      </a:pPr>
                      <a:r>
                        <a:rPr lang="en-US" sz="1200" b="0" i="0" u="none" strike="noStrike">
                          <a:solidFill>
                            <a:srgbClr val="374151"/>
                          </a:solidFill>
                          <a:latin typeface="Noto Sans SC"/>
                          <a:ea typeface="Noto Sans SC"/>
                          <a:cs typeface="Noto Sans SC"/>
                          <a:sym typeface="Noto Sans SC"/>
                        </a:rPr>
                        <a:t>100%</a:t>
                      </a:r>
                      <a:endParaRPr lang="en-US" sz="1100"/>
                    </a:p>
                  </a:txBody>
                  <a:tcPr marL="101600" marR="101600" marT="101600" marB="101600" anchor="ctr">
                    <a:lnL>
                      <a:noFill/>
                    </a:lnL>
                    <a:lnR>
                      <a:noFill/>
                    </a:lnR>
                    <a:lnT>
                      <a:noFill/>
                    </a:lnT>
                    <a:lnB>
                      <a:noFill/>
                    </a:lnB>
                    <a:noFill/>
                  </a:tcPr>
                </a:tc>
                <a:tc>
                  <a:txBody>
                    <a:bodyPr/>
                    <a:lstStyle/>
                    <a:p>
                      <a:pPr indent="0" algn="ctr">
                        <a:lnSpc>
                          <a:spcPct val="100000"/>
                        </a:lnSpc>
                        <a:defRPr/>
                      </a:pPr>
                      <a:r>
                        <a:rPr lang="en-US" sz="1200" b="0" i="0" u="none" strike="noStrike">
                          <a:solidFill>
                            <a:srgbClr val="374151"/>
                          </a:solidFill>
                          <a:latin typeface="Noto Sans SC"/>
                          <a:ea typeface="Noto Sans SC"/>
                          <a:cs typeface="Noto Sans SC"/>
                          <a:sym typeface="Noto Sans SC"/>
                        </a:rPr>
                        <a:t>1分钟</a:t>
                      </a:r>
                      <a:endParaRPr lang="en-US" sz="1100"/>
                    </a:p>
                  </a:txBody>
                  <a:tcPr marL="101600" marR="101600" marT="101600" marB="101600" anchor="ctr">
                    <a:lnL>
                      <a:noFill/>
                    </a:lnL>
                    <a:lnR>
                      <a:noFill/>
                    </a:lnR>
                    <a:lnT>
                      <a:noFill/>
                    </a:lnT>
                    <a:lnB>
                      <a:noFill/>
                    </a:lnB>
                    <a:noFill/>
                  </a:tcPr>
                </a:tc>
                <a:tc>
                  <a:txBody>
                    <a:bodyPr/>
                    <a:lstStyle/>
                    <a:p>
                      <a:pPr indent="0" algn="ctr">
                        <a:lnSpc>
                          <a:spcPct val="100000"/>
                        </a:lnSpc>
                        <a:defRPr/>
                      </a:pPr>
                      <a:r>
                        <a:rPr lang="en-US" sz="1200" b="0" i="0" u="none" strike="noStrike">
                          <a:solidFill>
                            <a:srgbClr val="374151"/>
                          </a:solidFill>
                          <a:latin typeface="Noto Sans SC"/>
                          <a:ea typeface="Noto Sans SC"/>
                          <a:cs typeface="Noto Sans SC"/>
                          <a:sym typeface="Noto Sans SC"/>
                        </a:rPr>
                        <a:t>无</a:t>
                      </a:r>
                      <a:endParaRPr lang="en-US" sz="1100"/>
                    </a:p>
                  </a:txBody>
                  <a:tcPr marL="101600" marR="101600" marT="101600" marB="101600" anchor="ctr">
                    <a:lnL>
                      <a:noFill/>
                    </a:lnL>
                    <a:lnR>
                      <a:noFill/>
                    </a:lnR>
                    <a:lnT>
                      <a:noFill/>
                    </a:lnT>
                    <a:lnB>
                      <a:noFill/>
                    </a:lnB>
                    <a:noFill/>
                  </a:tcPr>
                </a:tc>
                <a:extLst>
                  <a:ext uri="{0D108BD9-81ED-4DB2-BD59-A6C34878D82A}">
                    <a16:rowId xmlns:a16="http://schemas.microsoft.com/office/drawing/2014/main" val="10003"/>
                  </a:ext>
                </a:extLst>
              </a:tr>
              <a:tr h="406400">
                <a:tc>
                  <a:txBody>
                    <a:bodyPr/>
                    <a:lstStyle/>
                    <a:p>
                      <a:pPr indent="0" algn="ctr">
                        <a:lnSpc>
                          <a:spcPct val="100000"/>
                        </a:lnSpc>
                        <a:defRPr/>
                      </a:pPr>
                      <a:r>
                        <a:rPr lang="en-US" sz="1200" b="0" i="0" u="none" strike="noStrike">
                          <a:solidFill>
                            <a:srgbClr val="374151"/>
                          </a:solidFill>
                          <a:latin typeface="Noto Sans SC"/>
                          <a:ea typeface="Noto Sans SC"/>
                          <a:cs typeface="Noto Sans SC"/>
                          <a:sym typeface="Noto Sans SC"/>
                        </a:rPr>
                        <a:t>方案评分</a:t>
                      </a:r>
                      <a:endParaRPr lang="en-US" sz="1100"/>
                    </a:p>
                  </a:txBody>
                  <a:tcPr marL="101600" marR="101600" marT="101600" marB="101600" anchor="ctr">
                    <a:lnL>
                      <a:noFill/>
                    </a:lnL>
                    <a:lnR>
                      <a:noFill/>
                    </a:lnR>
                    <a:lnT>
                      <a:noFill/>
                    </a:lnT>
                    <a:lnB>
                      <a:noFill/>
                    </a:lnB>
                    <a:noFill/>
                  </a:tcPr>
                </a:tc>
                <a:tc>
                  <a:txBody>
                    <a:bodyPr/>
                    <a:lstStyle/>
                    <a:p>
                      <a:pPr indent="0" algn="ctr">
                        <a:lnSpc>
                          <a:spcPct val="100000"/>
                        </a:lnSpc>
                        <a:defRPr/>
                      </a:pPr>
                      <a:r>
                        <a:rPr lang="en-US" sz="1200" b="0" i="0" u="none" strike="noStrike">
                          <a:solidFill>
                            <a:srgbClr val="374151"/>
                          </a:solidFill>
                          <a:latin typeface="Noto Sans SC"/>
                          <a:ea typeface="Noto Sans SC"/>
                          <a:cs typeface="Noto Sans SC"/>
                          <a:sym typeface="Noto Sans SC"/>
                        </a:rPr>
                        <a:t>100%</a:t>
                      </a:r>
                      <a:endParaRPr lang="en-US" sz="1100"/>
                    </a:p>
                  </a:txBody>
                  <a:tcPr marL="101600" marR="101600" marT="101600" marB="101600" anchor="ctr">
                    <a:lnL>
                      <a:noFill/>
                    </a:lnL>
                    <a:lnR>
                      <a:noFill/>
                    </a:lnR>
                    <a:lnT>
                      <a:noFill/>
                    </a:lnT>
                    <a:lnB>
                      <a:noFill/>
                    </a:lnB>
                    <a:noFill/>
                  </a:tcPr>
                </a:tc>
                <a:tc>
                  <a:txBody>
                    <a:bodyPr/>
                    <a:lstStyle/>
                    <a:p>
                      <a:pPr indent="0" algn="ctr">
                        <a:lnSpc>
                          <a:spcPct val="100000"/>
                        </a:lnSpc>
                        <a:defRPr/>
                      </a:pPr>
                      <a:r>
                        <a:rPr lang="en-US" sz="1200" b="0" i="0" u="none" strike="noStrike">
                          <a:solidFill>
                            <a:srgbClr val="374151"/>
                          </a:solidFill>
                          <a:latin typeface="Noto Sans SC"/>
                          <a:ea typeface="Noto Sans SC"/>
                          <a:cs typeface="Noto Sans SC"/>
                          <a:sym typeface="Noto Sans SC"/>
                        </a:rPr>
                        <a:t>2分钟</a:t>
                      </a:r>
                      <a:endParaRPr lang="en-US" sz="1100"/>
                    </a:p>
                  </a:txBody>
                  <a:tcPr marL="101600" marR="101600" marT="101600" marB="101600" anchor="ctr">
                    <a:lnL>
                      <a:noFill/>
                    </a:lnL>
                    <a:lnR>
                      <a:noFill/>
                    </a:lnR>
                    <a:lnT>
                      <a:noFill/>
                    </a:lnT>
                    <a:lnB>
                      <a:noFill/>
                    </a:lnB>
                    <a:noFill/>
                  </a:tcPr>
                </a:tc>
                <a:tc>
                  <a:txBody>
                    <a:bodyPr/>
                    <a:lstStyle/>
                    <a:p>
                      <a:pPr indent="0" algn="ctr">
                        <a:lnSpc>
                          <a:spcPct val="100000"/>
                        </a:lnSpc>
                        <a:defRPr/>
                      </a:pPr>
                      <a:r>
                        <a:rPr lang="en-US" sz="1200" b="0" i="0" u="none" strike="noStrike">
                          <a:solidFill>
                            <a:srgbClr val="374151"/>
                          </a:solidFill>
                          <a:latin typeface="Noto Sans SC"/>
                          <a:ea typeface="Noto Sans SC"/>
                          <a:cs typeface="Noto Sans SC"/>
                          <a:sym typeface="Noto Sans SC"/>
                        </a:rPr>
                        <a:t>无</a:t>
                      </a:r>
                      <a:endParaRPr lang="en-US" sz="1100"/>
                    </a:p>
                  </a:txBody>
                  <a:tcPr marL="101600" marR="101600" marT="101600" marB="101600" anchor="ctr">
                    <a:lnL>
                      <a:noFill/>
                    </a:lnL>
                    <a:lnR>
                      <a:noFill/>
                    </a:lnR>
                    <a:lnT>
                      <a:noFill/>
                    </a:lnT>
                    <a:lnB>
                      <a:noFill/>
                    </a:lnB>
                    <a:noFill/>
                  </a:tcPr>
                </a:tc>
                <a:extLst>
                  <a:ext uri="{0D108BD9-81ED-4DB2-BD59-A6C34878D82A}">
                    <a16:rowId xmlns:a16="http://schemas.microsoft.com/office/drawing/2014/main" val="10004"/>
                  </a:ext>
                </a:extLst>
              </a:tr>
              <a:tr h="406400">
                <a:tc>
                  <a:txBody>
                    <a:bodyPr/>
                    <a:lstStyle/>
                    <a:p>
                      <a:pPr indent="0" algn="ctr">
                        <a:lnSpc>
                          <a:spcPct val="100000"/>
                        </a:lnSpc>
                        <a:defRPr/>
                      </a:pPr>
                      <a:r>
                        <a:rPr lang="en-US" sz="1200" b="0" i="0" u="none" strike="noStrike">
                          <a:solidFill>
                            <a:srgbClr val="374151"/>
                          </a:solidFill>
                          <a:latin typeface="Noto Sans SC"/>
                          <a:ea typeface="Noto Sans SC"/>
                          <a:cs typeface="Noto Sans SC"/>
                          <a:sym typeface="Noto Sans SC"/>
                        </a:rPr>
                        <a:t>获取最优方案</a:t>
                      </a:r>
                      <a:endParaRPr lang="en-US" sz="1100"/>
                    </a:p>
                  </a:txBody>
                  <a:tcPr marL="101600" marR="101600" marT="101600" marB="101600" anchor="ctr">
                    <a:lnL>
                      <a:noFill/>
                    </a:lnL>
                    <a:lnR>
                      <a:noFill/>
                    </a:lnR>
                    <a:lnT>
                      <a:noFill/>
                    </a:lnT>
                    <a:lnB>
                      <a:noFill/>
                    </a:lnB>
                    <a:noFill/>
                  </a:tcPr>
                </a:tc>
                <a:tc>
                  <a:txBody>
                    <a:bodyPr/>
                    <a:lstStyle/>
                    <a:p>
                      <a:pPr indent="0" algn="ctr">
                        <a:lnSpc>
                          <a:spcPct val="100000"/>
                        </a:lnSpc>
                        <a:defRPr/>
                      </a:pPr>
                      <a:r>
                        <a:rPr lang="en-US" sz="1200" b="0" i="0" u="none" strike="noStrike">
                          <a:solidFill>
                            <a:srgbClr val="374151"/>
                          </a:solidFill>
                          <a:latin typeface="Noto Sans SC"/>
                          <a:ea typeface="Noto Sans SC"/>
                          <a:cs typeface="Noto Sans SC"/>
                          <a:sym typeface="Noto Sans SC"/>
                        </a:rPr>
                        <a:t>100%</a:t>
                      </a:r>
                      <a:endParaRPr lang="en-US" sz="1100"/>
                    </a:p>
                  </a:txBody>
                  <a:tcPr marL="101600" marR="101600" marT="101600" marB="101600" anchor="ctr">
                    <a:lnL>
                      <a:noFill/>
                    </a:lnL>
                    <a:lnR>
                      <a:noFill/>
                    </a:lnR>
                    <a:lnT>
                      <a:noFill/>
                    </a:lnT>
                    <a:lnB>
                      <a:noFill/>
                    </a:lnB>
                    <a:noFill/>
                  </a:tcPr>
                </a:tc>
                <a:tc>
                  <a:txBody>
                    <a:bodyPr/>
                    <a:lstStyle/>
                    <a:p>
                      <a:pPr indent="0" algn="ctr">
                        <a:lnSpc>
                          <a:spcPct val="100000"/>
                        </a:lnSpc>
                        <a:defRPr/>
                      </a:pPr>
                      <a:r>
                        <a:rPr lang="en-US" sz="1200" b="0" i="0" u="none" strike="noStrike">
                          <a:solidFill>
                            <a:srgbClr val="374151"/>
                          </a:solidFill>
                          <a:latin typeface="Noto Sans SC"/>
                          <a:ea typeface="Noto Sans SC"/>
                          <a:cs typeface="Noto Sans SC"/>
                          <a:sym typeface="Noto Sans SC"/>
                        </a:rPr>
                        <a:t>10秒</a:t>
                      </a:r>
                      <a:endParaRPr lang="en-US" sz="1100"/>
                    </a:p>
                  </a:txBody>
                  <a:tcPr marL="101600" marR="101600" marT="101600" marB="101600" anchor="ctr">
                    <a:lnL>
                      <a:noFill/>
                    </a:lnL>
                    <a:lnR>
                      <a:noFill/>
                    </a:lnR>
                    <a:lnT>
                      <a:noFill/>
                    </a:lnT>
                    <a:lnB>
                      <a:noFill/>
                    </a:lnB>
                    <a:noFill/>
                  </a:tcPr>
                </a:tc>
                <a:tc>
                  <a:txBody>
                    <a:bodyPr/>
                    <a:lstStyle/>
                    <a:p>
                      <a:pPr indent="0" algn="ctr">
                        <a:lnSpc>
                          <a:spcPct val="100000"/>
                        </a:lnSpc>
                        <a:defRPr/>
                      </a:pPr>
                      <a:r>
                        <a:rPr lang="en-US" sz="1200" b="0" i="0" u="none" strike="noStrike">
                          <a:solidFill>
                            <a:srgbClr val="374151"/>
                          </a:solidFill>
                          <a:latin typeface="Noto Sans SC"/>
                          <a:ea typeface="Noto Sans SC"/>
                          <a:cs typeface="Noto Sans SC"/>
                          <a:sym typeface="Noto Sans SC"/>
                        </a:rPr>
                        <a:t>无</a:t>
                      </a:r>
                      <a:endParaRPr lang="en-US" sz="1100"/>
                    </a:p>
                  </a:txBody>
                  <a:tcPr marL="101600" marR="101600" marT="101600" marB="101600" anchor="ctr">
                    <a:lnL>
                      <a:noFill/>
                    </a:lnL>
                    <a:lnR>
                      <a:noFill/>
                    </a:lnR>
                    <a:lnT>
                      <a:noFill/>
                    </a:lnT>
                    <a:lnB>
                      <a:noFill/>
                    </a:lnB>
                    <a:noFill/>
                  </a:tcPr>
                </a:tc>
                <a:extLst>
                  <a:ext uri="{0D108BD9-81ED-4DB2-BD59-A6C34878D82A}">
                    <a16:rowId xmlns:a16="http://schemas.microsoft.com/office/drawing/2014/main" val="10005"/>
                  </a:ext>
                </a:extLst>
              </a:tr>
            </a:tbl>
          </a:graphicData>
        </a:graphic>
      </p:graphicFrame>
      <p:sp>
        <p:nvSpPr>
          <p:cNvPr id="7" name="AutoShape 7"/>
          <p:cNvSpPr/>
          <p:nvPr/>
        </p:nvSpPr>
        <p:spPr>
          <a:xfrm>
            <a:off x="6604000" y="1397000"/>
            <a:ext cx="457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329"/>
                </a:solidFill>
                <a:latin typeface="Noto Sans SC"/>
                <a:ea typeface="Noto Sans SC"/>
                <a:cs typeface="Noto Sans SC"/>
                <a:sym typeface="Noto Sans SC"/>
              </a:rPr>
              <a:t>任务完成率分布</a:t>
            </a:r>
            <a:endParaRPr lang="en-US" sz="1100"/>
          </a:p>
        </p:txBody>
      </p:sp>
      <p:pic>
        <p:nvPicPr>
          <p:cNvPr id="8" name="Picture 8"/>
          <p:cNvPicPr>
            <a:picLocks noChangeAspect="1"/>
          </p:cNvPicPr>
          <p:nvPr/>
        </p:nvPicPr>
        <p:blipFill>
          <a:blip r:embed="rId4"/>
          <a:srcRect t="123" b="123"/>
          <a:stretch>
            <a:fillRect/>
          </a:stretch>
        </p:blipFill>
        <p:spPr>
          <a:xfrm>
            <a:off x="6604000" y="1905000"/>
            <a:ext cx="4572000" cy="2565400"/>
          </a:xfrm>
          <a:prstGeom prst="roundRect">
            <a:avLst>
              <a:gd name="adj" fmla="val 4950"/>
            </a:avLst>
          </a:prstGeom>
          <a:noFill/>
          <a:ln w="25400" cap="flat" cmpd="sng">
            <a:noFill/>
            <a:prstDash val="solid"/>
            <a:round/>
          </a:ln>
          <a:effectLst>
            <a:outerShdw blurRad="127000" dist="50800" dir="2700000" algn="tl" rotWithShape="0">
              <a:srgbClr val="000000">
                <a:alpha val="10000"/>
              </a:srgbClr>
            </a:outerShdw>
          </a:effectLst>
        </p:spPr>
      </p:pic>
      <p:sp>
        <p:nvSpPr>
          <p:cNvPr id="9" name="AutoShape 9"/>
          <p:cNvSpPr/>
          <p:nvPr/>
        </p:nvSpPr>
        <p:spPr>
          <a:xfrm>
            <a:off x="6604000" y="4699000"/>
            <a:ext cx="4572000" cy="1143000"/>
          </a:xfrm>
          <a:prstGeom prst="roundRect">
            <a:avLst>
              <a:gd name="adj" fmla="val 11111"/>
            </a:avLst>
          </a:prstGeom>
          <a:solidFill>
            <a:srgbClr val="EFF6FF">
              <a:alpha val="100000"/>
            </a:srgbClr>
          </a:solidFill>
          <a:ln w="12700" cap="flat" cmpd="sng">
            <a:solidFill>
              <a:srgbClr val="0D6EFD">
                <a:alpha val="30000"/>
              </a:srgbClr>
            </a:solid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858000" y="5067300"/>
            <a:ext cx="406400" cy="406400"/>
          </a:xfrm>
          <a:prstGeom prst="rect">
            <a:avLst/>
          </a:prstGeom>
        </p:spPr>
      </p:pic>
      <p:sp>
        <p:nvSpPr>
          <p:cNvPr id="11" name="AutoShape 11"/>
          <p:cNvSpPr/>
          <p:nvPr/>
        </p:nvSpPr>
        <p:spPr>
          <a:xfrm>
            <a:off x="7366000" y="4889500"/>
            <a:ext cx="152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D6EFD"/>
                </a:solidFill>
                <a:latin typeface="Noto Sans SC"/>
                <a:ea typeface="Noto Sans SC"/>
                <a:cs typeface="Noto Sans SC"/>
                <a:sym typeface="Noto Sans SC"/>
              </a:rPr>
              <a:t>SUS可用性评分</a:t>
            </a:r>
            <a:endParaRPr lang="en-US" sz="1100"/>
          </a:p>
        </p:txBody>
      </p:sp>
      <p:sp>
        <p:nvSpPr>
          <p:cNvPr id="12" name="AutoShape 12"/>
          <p:cNvSpPr/>
          <p:nvPr/>
        </p:nvSpPr>
        <p:spPr>
          <a:xfrm>
            <a:off x="7366000" y="5270500"/>
            <a:ext cx="355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6C757D"/>
                </a:solidFill>
                <a:latin typeface="Noto Sans SC"/>
                <a:ea typeface="Noto Sans SC"/>
                <a:cs typeface="Noto Sans SC"/>
                <a:sym typeface="Noto Sans SC"/>
              </a:rPr>
              <a:t>得分：</a:t>
            </a:r>
            <a:r>
              <a:rPr lang="en-US" sz="2000" b="1" i="0" u="none" strike="noStrike">
                <a:solidFill>
                  <a:srgbClr val="1F2329"/>
                </a:solidFill>
                <a:latin typeface="Noto Sans SC"/>
                <a:ea typeface="Noto Sans SC"/>
                <a:cs typeface="Noto Sans SC"/>
                <a:sym typeface="Noto Sans SC"/>
              </a:rPr>
              <a:t>82.5分</a:t>
            </a:r>
            <a:r>
              <a:rPr lang="en-US" sz="1400" b="0" i="0" u="none" strike="noStrike">
                <a:solidFill>
                  <a:srgbClr val="6C757D"/>
                </a:solidFill>
                <a:latin typeface="Noto Sans SC"/>
                <a:ea typeface="Noto Sans SC"/>
                <a:cs typeface="Noto Sans SC"/>
                <a:sym typeface="Noto Sans SC"/>
              </a:rPr>
              <a:t>（评级：良好）</a:t>
            </a:r>
            <a:endParaRPr lang="en-US" sz="1100"/>
          </a:p>
        </p:txBody>
      </p:sp>
      <p:sp>
        <p:nvSpPr>
          <p:cNvPr id="13" name="AutoShape 13"/>
          <p:cNvSpPr/>
          <p:nvPr/>
        </p:nvSpPr>
        <p:spPr>
          <a:xfrm>
            <a:off x="762000" y="5969000"/>
            <a:ext cx="10922000" cy="508000"/>
          </a:xfrm>
          <a:prstGeom prst="roundRect">
            <a:avLst>
              <a:gd name="adj" fmla="val 12500"/>
            </a:avLst>
          </a:prstGeom>
          <a:solidFill>
            <a:srgbClr val="F8F9FA">
              <a:alpha val="10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6C757D"/>
                </a:solidFill>
                <a:latin typeface="Noto Sans SC"/>
                <a:ea typeface="Noto Sans SC"/>
                <a:cs typeface="Noto Sans SC"/>
                <a:sym typeface="Noto Sans SC"/>
              </a:rPr>
              <a:t>结论：用户能够顺利完成所有核心任务，任务完成率普遍很高，工具易用性表现良好。</a:t>
            </a:r>
            <a:endParaRPr lang="en-US" sz="11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FFFFFF">
              <a:alpha val="9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508000"/>
            <a:ext cx="70358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0D6EFD"/>
                </a:solidFill>
                <a:latin typeface="Noto Sans SC"/>
                <a:ea typeface="Noto Sans SC"/>
                <a:cs typeface="Noto Sans SC"/>
                <a:sym typeface="Noto Sans SC"/>
              </a:rPr>
              <a:t>准确性评估结果：与专家决策对比</a:t>
            </a:r>
            <a:endParaRPr lang="en-US" sz="1100"/>
          </a:p>
        </p:txBody>
      </p:sp>
      <p:sp>
        <p:nvSpPr>
          <p:cNvPr id="5" name="AutoShape 5"/>
          <p:cNvSpPr/>
          <p:nvPr/>
        </p:nvSpPr>
        <p:spPr>
          <a:xfrm>
            <a:off x="762000" y="1524000"/>
            <a:ext cx="4826000" cy="2540000"/>
          </a:xfrm>
          <a:prstGeom prst="roundRect">
            <a:avLst>
              <a:gd name="adj" fmla="val 5000"/>
            </a:avLst>
          </a:prstGeom>
          <a:solidFill>
            <a:srgbClr val="F8F9FA">
              <a:alpha val="100000"/>
            </a:srgbClr>
          </a:solidFill>
          <a:ln w="12700" cap="flat" cmpd="sng">
            <a:solidFill>
              <a:srgbClr val="DEE2E6">
                <a:alpha val="100000"/>
              </a:srgbClr>
            </a:solid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1778000"/>
            <a:ext cx="406400" cy="406400"/>
          </a:xfrm>
          <a:prstGeom prst="rect">
            <a:avLst/>
          </a:prstGeom>
        </p:spPr>
      </p:pic>
      <p:sp>
        <p:nvSpPr>
          <p:cNvPr id="7" name="AutoShape 7"/>
          <p:cNvSpPr/>
          <p:nvPr/>
        </p:nvSpPr>
        <p:spPr>
          <a:xfrm>
            <a:off x="1524000" y="17780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212529"/>
                </a:solidFill>
                <a:latin typeface="Noto Sans SC"/>
                <a:ea typeface="Noto Sans SC"/>
                <a:cs typeface="Noto Sans SC"/>
                <a:sym typeface="Noto Sans SC"/>
              </a:rPr>
              <a:t>实验方法设计</a:t>
            </a:r>
            <a:endParaRPr lang="en-US" sz="1100"/>
          </a:p>
        </p:txBody>
      </p:sp>
      <p:sp>
        <p:nvSpPr>
          <p:cNvPr id="8" name="AutoShape 8"/>
          <p:cNvSpPr/>
          <p:nvPr/>
        </p:nvSpPr>
        <p:spPr>
          <a:xfrm>
            <a:off x="1016000" y="2286000"/>
            <a:ext cx="4318000" cy="1524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400" b="0" i="0" u="none" strike="noStrike">
                <a:solidFill>
                  <a:srgbClr val="6C757D"/>
                </a:solidFill>
                <a:latin typeface="Noto Sans SC"/>
                <a:ea typeface="Noto Sans SC"/>
                <a:cs typeface="Noto Sans SC"/>
                <a:sym typeface="Noto Sans SC"/>
              </a:rPr>
              <a:t>邀请3位资深项目管理专家，针对同一案例独立进行决策。将专家达成的共识结果与工具的推荐结果进行多维度对比分析，以验证工具决策的准确性。</a:t>
            </a:r>
            <a:endParaRPr lang="en-US" sz="1100"/>
          </a:p>
        </p:txBody>
      </p:sp>
      <p:sp>
        <p:nvSpPr>
          <p:cNvPr id="9" name="AutoShape 9"/>
          <p:cNvSpPr/>
          <p:nvPr/>
        </p:nvSpPr>
        <p:spPr>
          <a:xfrm>
            <a:off x="6096000" y="1524000"/>
            <a:ext cx="508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212529"/>
                </a:solidFill>
                <a:latin typeface="Noto Sans SC"/>
                <a:ea typeface="Noto Sans SC"/>
                <a:cs typeface="Noto Sans SC"/>
                <a:sym typeface="Noto Sans SC"/>
              </a:rPr>
              <a:t>结果一致性分析</a:t>
            </a:r>
            <a:endParaRPr lang="en-US" sz="1100"/>
          </a:p>
        </p:txBody>
      </p:sp>
      <p:graphicFrame>
        <p:nvGraphicFramePr>
          <p:cNvPr id="10" name="Table 10"/>
          <p:cNvGraphicFramePr>
            <a:graphicFrameLocks noGrp="1"/>
          </p:cNvGraphicFramePr>
          <p:nvPr/>
        </p:nvGraphicFramePr>
        <p:xfrm>
          <a:off x="6096000" y="2032000"/>
          <a:ext cx="4826000" cy="1879600"/>
        </p:xfrm>
        <a:graphic>
          <a:graphicData uri="http://schemas.openxmlformats.org/drawingml/2006/table">
            <a:tbl>
              <a:tblPr>
                <a:effectLst/>
              </a:tblPr>
              <a:tblGrid>
                <a:gridCol w="1016000">
                  <a:extLst>
                    <a:ext uri="{9D8B030D-6E8A-4147-A177-3AD203B41FA5}">
                      <a16:colId xmlns:a16="http://schemas.microsoft.com/office/drawing/2014/main" val="20000"/>
                    </a:ext>
                  </a:extLst>
                </a:gridCol>
                <a:gridCol w="1270000">
                  <a:extLst>
                    <a:ext uri="{9D8B030D-6E8A-4147-A177-3AD203B41FA5}">
                      <a16:colId xmlns:a16="http://schemas.microsoft.com/office/drawing/2014/main" val="20001"/>
                    </a:ext>
                  </a:extLst>
                </a:gridCol>
                <a:gridCol w="1270000">
                  <a:extLst>
                    <a:ext uri="{9D8B030D-6E8A-4147-A177-3AD203B41FA5}">
                      <a16:colId xmlns:a16="http://schemas.microsoft.com/office/drawing/2014/main" val="20002"/>
                    </a:ext>
                  </a:extLst>
                </a:gridCol>
                <a:gridCol w="1270000">
                  <a:extLst>
                    <a:ext uri="{9D8B030D-6E8A-4147-A177-3AD203B41FA5}">
                      <a16:colId xmlns:a16="http://schemas.microsoft.com/office/drawing/2014/main" val="20003"/>
                    </a:ext>
                  </a:extLst>
                </a:gridCol>
              </a:tblGrid>
              <a:tr h="508000">
                <a:tc>
                  <a:txBody>
                    <a:bodyPr/>
                    <a:lstStyle/>
                    <a:p>
                      <a:pPr indent="0" algn="ctr">
                        <a:lnSpc>
                          <a:spcPct val="100000"/>
                        </a:lnSpc>
                        <a:defRPr/>
                      </a:pPr>
                      <a:r>
                        <a:rPr lang="en-US" sz="1400" b="1" i="0" u="none" strike="noStrike">
                          <a:solidFill>
                            <a:srgbClr val="FFFFFF"/>
                          </a:solidFill>
                          <a:latin typeface="Noto Sans SC"/>
                          <a:ea typeface="Noto Sans SC"/>
                          <a:cs typeface="Noto Sans SC"/>
                          <a:sym typeface="Noto Sans SC"/>
                        </a:rPr>
                        <a:t>KR指标</a:t>
                      </a:r>
                      <a:endParaRPr lang="en-US" sz="1100"/>
                    </a:p>
                  </a:txBody>
                  <a:tcPr marL="101600" marR="101600" marT="101600" marB="101600" anchor="ctr">
                    <a:lnL>
                      <a:noFill/>
                    </a:lnL>
                    <a:lnR>
                      <a:noFill/>
                    </a:lnR>
                    <a:lnT>
                      <a:noFill/>
                    </a:lnT>
                    <a:lnB>
                      <a:noFill/>
                    </a:lnB>
                    <a:solidFill>
                      <a:srgbClr val="0D6EFD">
                        <a:alpha val="100000"/>
                      </a:srgbClr>
                    </a:solidFill>
                  </a:tcPr>
                </a:tc>
                <a:tc>
                  <a:txBody>
                    <a:bodyPr/>
                    <a:lstStyle/>
                    <a:p>
                      <a:pPr indent="0" algn="ctr">
                        <a:lnSpc>
                          <a:spcPct val="100000"/>
                        </a:lnSpc>
                        <a:defRPr/>
                      </a:pPr>
                      <a:r>
                        <a:rPr lang="en-US" sz="1400" b="1" i="0" u="none" strike="noStrike">
                          <a:solidFill>
                            <a:srgbClr val="FFFFFF"/>
                          </a:solidFill>
                          <a:latin typeface="Noto Sans SC"/>
                          <a:ea typeface="Noto Sans SC"/>
                          <a:cs typeface="Noto Sans SC"/>
                          <a:sym typeface="Noto Sans SC"/>
                        </a:rPr>
                        <a:t>工具推荐</a:t>
                      </a:r>
                      <a:endParaRPr lang="en-US" sz="1100"/>
                    </a:p>
                  </a:txBody>
                  <a:tcPr marL="101600" marR="101600" marT="101600" marB="101600" anchor="ctr">
                    <a:lnL>
                      <a:noFill/>
                    </a:lnL>
                    <a:lnR>
                      <a:noFill/>
                    </a:lnR>
                    <a:lnT>
                      <a:noFill/>
                    </a:lnT>
                    <a:lnB>
                      <a:noFill/>
                    </a:lnB>
                    <a:solidFill>
                      <a:srgbClr val="0D6EFD">
                        <a:alpha val="100000"/>
                      </a:srgbClr>
                    </a:solidFill>
                  </a:tcPr>
                </a:tc>
                <a:tc>
                  <a:txBody>
                    <a:bodyPr/>
                    <a:lstStyle/>
                    <a:p>
                      <a:pPr indent="0" algn="ctr">
                        <a:lnSpc>
                          <a:spcPct val="100000"/>
                        </a:lnSpc>
                        <a:defRPr/>
                      </a:pPr>
                      <a:r>
                        <a:rPr lang="en-US" sz="1400" b="1" i="0" u="none" strike="noStrike">
                          <a:solidFill>
                            <a:srgbClr val="FFFFFF"/>
                          </a:solidFill>
                          <a:latin typeface="Noto Sans SC"/>
                          <a:ea typeface="Noto Sans SC"/>
                          <a:cs typeface="Noto Sans SC"/>
                          <a:sym typeface="Noto Sans SC"/>
                        </a:rPr>
                        <a:t>专家共识</a:t>
                      </a:r>
                      <a:endParaRPr lang="en-US" sz="1100"/>
                    </a:p>
                  </a:txBody>
                  <a:tcPr marL="101600" marR="101600" marT="101600" marB="101600" anchor="ctr">
                    <a:lnL>
                      <a:noFill/>
                    </a:lnL>
                    <a:lnR>
                      <a:noFill/>
                    </a:lnR>
                    <a:lnT>
                      <a:noFill/>
                    </a:lnT>
                    <a:lnB>
                      <a:noFill/>
                    </a:lnB>
                    <a:solidFill>
                      <a:srgbClr val="0D6EFD">
                        <a:alpha val="100000"/>
                      </a:srgbClr>
                    </a:solidFill>
                  </a:tcPr>
                </a:tc>
                <a:tc>
                  <a:txBody>
                    <a:bodyPr/>
                    <a:lstStyle/>
                    <a:p>
                      <a:pPr indent="0" algn="ctr">
                        <a:lnSpc>
                          <a:spcPct val="100000"/>
                        </a:lnSpc>
                        <a:defRPr/>
                      </a:pPr>
                      <a:r>
                        <a:rPr lang="en-US" sz="1400" b="1" i="0" u="none" strike="noStrike">
                          <a:solidFill>
                            <a:srgbClr val="FFFFFF"/>
                          </a:solidFill>
                          <a:latin typeface="Noto Sans SC"/>
                          <a:ea typeface="Noto Sans SC"/>
                          <a:cs typeface="Noto Sans SC"/>
                          <a:sym typeface="Noto Sans SC"/>
                        </a:rPr>
                        <a:t>是否一致</a:t>
                      </a:r>
                      <a:endParaRPr lang="en-US" sz="1100"/>
                    </a:p>
                  </a:txBody>
                  <a:tcPr marL="101600" marR="101600" marT="101600" marB="101600" anchor="ctr">
                    <a:lnL>
                      <a:noFill/>
                    </a:lnL>
                    <a:lnR>
                      <a:noFill/>
                    </a:lnR>
                    <a:lnT>
                      <a:noFill/>
                    </a:lnT>
                    <a:lnB>
                      <a:noFill/>
                    </a:lnB>
                    <a:solidFill>
                      <a:srgbClr val="0D6EFD">
                        <a:alpha val="100000"/>
                      </a:srgbClr>
                    </a:solidFill>
                  </a:tcPr>
                </a:tc>
                <a:extLst>
                  <a:ext uri="{0D108BD9-81ED-4DB2-BD59-A6C34878D82A}">
                    <a16:rowId xmlns:a16="http://schemas.microsoft.com/office/drawing/2014/main" val="10000"/>
                  </a:ext>
                </a:extLst>
              </a:tr>
              <a:tr h="457200">
                <a:tc>
                  <a:txBody>
                    <a:bodyPr/>
                    <a:lstStyle/>
                    <a:p>
                      <a:pPr indent="0" algn="ctr">
                        <a:lnSpc>
                          <a:spcPct val="100000"/>
                        </a:lnSpc>
                        <a:defRPr/>
                      </a:pPr>
                      <a:r>
                        <a:rPr lang="en-US" sz="1400" b="0" i="0" u="none" strike="noStrike">
                          <a:solidFill>
                            <a:srgbClr val="212529"/>
                          </a:solidFill>
                          <a:latin typeface="Noto Sans SC"/>
                          <a:ea typeface="Noto Sans SC"/>
                          <a:cs typeface="Noto Sans SC"/>
                          <a:sym typeface="Noto Sans SC"/>
                        </a:rPr>
                        <a:t>KR1</a:t>
                      </a:r>
                      <a:endParaRPr lang="en-US" sz="1100"/>
                    </a:p>
                  </a:txBody>
                  <a:tcPr marL="101600" marR="101600" marT="101600" marB="101600" anchor="ctr">
                    <a:lnL>
                      <a:noFill/>
                    </a:lnL>
                    <a:lnR>
                      <a:noFill/>
                    </a:lnR>
                    <a:lnT>
                      <a:noFill/>
                    </a:lnT>
                    <a:lnB>
                      <a:noFill/>
                    </a:lnB>
                    <a:solidFill>
                      <a:srgbClr val="F0F8FF">
                        <a:alpha val="100000"/>
                      </a:srgbClr>
                    </a:solidFill>
                  </a:tcPr>
                </a:tc>
                <a:tc>
                  <a:txBody>
                    <a:bodyPr/>
                    <a:lstStyle/>
                    <a:p>
                      <a:pPr indent="0" algn="ctr">
                        <a:lnSpc>
                          <a:spcPct val="100000"/>
                        </a:lnSpc>
                        <a:defRPr/>
                      </a:pPr>
                      <a:r>
                        <a:rPr lang="en-US" sz="1400" b="0" i="0" u="none" strike="noStrike">
                          <a:solidFill>
                            <a:srgbClr val="212529"/>
                          </a:solidFill>
                          <a:latin typeface="Noto Sans SC"/>
                          <a:ea typeface="Noto Sans SC"/>
                          <a:cs typeface="Noto Sans SC"/>
                          <a:sym typeface="Noto Sans SC"/>
                        </a:rPr>
                        <a:t>方案A</a:t>
                      </a:r>
                      <a:endParaRPr lang="en-US" sz="1100"/>
                    </a:p>
                  </a:txBody>
                  <a:tcPr marL="101600" marR="101600" marT="101600" marB="101600" anchor="ctr">
                    <a:lnL>
                      <a:noFill/>
                    </a:lnL>
                    <a:lnR>
                      <a:noFill/>
                    </a:lnR>
                    <a:lnT>
                      <a:noFill/>
                    </a:lnT>
                    <a:lnB>
                      <a:noFill/>
                    </a:lnB>
                    <a:solidFill>
                      <a:srgbClr val="F0F8FF">
                        <a:alpha val="100000"/>
                      </a:srgbClr>
                    </a:solidFill>
                  </a:tcPr>
                </a:tc>
                <a:tc>
                  <a:txBody>
                    <a:bodyPr/>
                    <a:lstStyle/>
                    <a:p>
                      <a:pPr indent="0" algn="ctr">
                        <a:lnSpc>
                          <a:spcPct val="100000"/>
                        </a:lnSpc>
                        <a:defRPr/>
                      </a:pPr>
                      <a:r>
                        <a:rPr lang="en-US" sz="1400" b="0" i="0" u="none" strike="noStrike">
                          <a:solidFill>
                            <a:srgbClr val="212529"/>
                          </a:solidFill>
                          <a:latin typeface="Noto Sans SC"/>
                          <a:ea typeface="Noto Sans SC"/>
                          <a:cs typeface="Noto Sans SC"/>
                          <a:sym typeface="Noto Sans SC"/>
                        </a:rPr>
                        <a:t>方案A</a:t>
                      </a:r>
                      <a:endParaRPr lang="en-US" sz="1100"/>
                    </a:p>
                  </a:txBody>
                  <a:tcPr marL="101600" marR="101600" marT="101600" marB="101600" anchor="ctr">
                    <a:lnL>
                      <a:noFill/>
                    </a:lnL>
                    <a:lnR>
                      <a:noFill/>
                    </a:lnR>
                    <a:lnT>
                      <a:noFill/>
                    </a:lnT>
                    <a:lnB>
                      <a:noFill/>
                    </a:lnB>
                    <a:solidFill>
                      <a:srgbClr val="F0F8FF">
                        <a:alpha val="100000"/>
                      </a:srgbClr>
                    </a:solidFill>
                  </a:tcPr>
                </a:tc>
                <a:tc>
                  <a:txBody>
                    <a:bodyPr/>
                    <a:lstStyle/>
                    <a:p>
                      <a:pPr indent="0" algn="ctr">
                        <a:lnSpc>
                          <a:spcPct val="100000"/>
                        </a:lnSpc>
                        <a:defRPr/>
                      </a:pPr>
                      <a:r>
                        <a:rPr lang="en-US" sz="1600" b="1" i="0" u="none" strike="noStrike">
                          <a:solidFill>
                            <a:srgbClr val="10B981"/>
                          </a:solidFill>
                          <a:latin typeface="Noto Sans SC"/>
                          <a:ea typeface="Noto Sans SC"/>
                          <a:cs typeface="Noto Sans SC"/>
                          <a:sym typeface="Noto Sans SC"/>
                        </a:rPr>
                        <a:t>✓</a:t>
                      </a:r>
                      <a:endParaRPr lang="en-US" sz="1100"/>
                    </a:p>
                  </a:txBody>
                  <a:tcPr marL="101600" marR="101600" marT="101600" marB="101600" anchor="ctr">
                    <a:lnL>
                      <a:noFill/>
                    </a:lnL>
                    <a:lnR>
                      <a:noFill/>
                    </a:lnR>
                    <a:lnT>
                      <a:noFill/>
                    </a:lnT>
                    <a:lnB>
                      <a:noFill/>
                    </a:lnB>
                    <a:solidFill>
                      <a:srgbClr val="F0F8FF">
                        <a:alpha val="100000"/>
                      </a:srgbClr>
                    </a:solidFill>
                  </a:tcPr>
                </a:tc>
                <a:extLst>
                  <a:ext uri="{0D108BD9-81ED-4DB2-BD59-A6C34878D82A}">
                    <a16:rowId xmlns:a16="http://schemas.microsoft.com/office/drawing/2014/main" val="10001"/>
                  </a:ext>
                </a:extLst>
              </a:tr>
              <a:tr h="457200">
                <a:tc>
                  <a:txBody>
                    <a:bodyPr/>
                    <a:lstStyle/>
                    <a:p>
                      <a:pPr indent="0" algn="ctr">
                        <a:lnSpc>
                          <a:spcPct val="100000"/>
                        </a:lnSpc>
                        <a:defRPr/>
                      </a:pPr>
                      <a:r>
                        <a:rPr lang="en-US" sz="1400" b="0" i="0" u="none" strike="noStrike">
                          <a:solidFill>
                            <a:srgbClr val="212529"/>
                          </a:solidFill>
                          <a:latin typeface="Noto Sans SC"/>
                          <a:ea typeface="Noto Sans SC"/>
                          <a:cs typeface="Noto Sans SC"/>
                          <a:sym typeface="Noto Sans SC"/>
                        </a:rPr>
                        <a:t>KR2</a:t>
                      </a:r>
                      <a:endParaRPr lang="en-US" sz="1100"/>
                    </a:p>
                  </a:txBody>
                  <a:tcPr marL="101600" marR="101600" marT="101600" marB="101600" anchor="ctr">
                    <a:lnL>
                      <a:noFill/>
                    </a:lnL>
                    <a:lnR>
                      <a:noFill/>
                    </a:lnR>
                    <a:lnT>
                      <a:noFill/>
                    </a:lnT>
                    <a:lnB>
                      <a:noFill/>
                    </a:lnB>
                    <a:solidFill>
                      <a:srgbClr val="FFFFFF">
                        <a:alpha val="100000"/>
                      </a:srgbClr>
                    </a:solidFill>
                  </a:tcPr>
                </a:tc>
                <a:tc>
                  <a:txBody>
                    <a:bodyPr/>
                    <a:lstStyle/>
                    <a:p>
                      <a:pPr indent="0" algn="ctr">
                        <a:lnSpc>
                          <a:spcPct val="100000"/>
                        </a:lnSpc>
                        <a:defRPr/>
                      </a:pPr>
                      <a:r>
                        <a:rPr lang="en-US" sz="1400" b="0" i="0" u="none" strike="noStrike">
                          <a:solidFill>
                            <a:srgbClr val="212529"/>
                          </a:solidFill>
                          <a:latin typeface="Noto Sans SC"/>
                          <a:ea typeface="Noto Sans SC"/>
                          <a:cs typeface="Noto Sans SC"/>
                          <a:sym typeface="Noto Sans SC"/>
                        </a:rPr>
                        <a:t>方案B</a:t>
                      </a:r>
                      <a:endParaRPr lang="en-US" sz="1100"/>
                    </a:p>
                  </a:txBody>
                  <a:tcPr marL="101600" marR="101600" marT="101600" marB="101600" anchor="ctr">
                    <a:lnL>
                      <a:noFill/>
                    </a:lnL>
                    <a:lnR>
                      <a:noFill/>
                    </a:lnR>
                    <a:lnT>
                      <a:noFill/>
                    </a:lnT>
                    <a:lnB>
                      <a:noFill/>
                    </a:lnB>
                    <a:solidFill>
                      <a:srgbClr val="FFFFFF">
                        <a:alpha val="100000"/>
                      </a:srgbClr>
                    </a:solidFill>
                  </a:tcPr>
                </a:tc>
                <a:tc>
                  <a:txBody>
                    <a:bodyPr/>
                    <a:lstStyle/>
                    <a:p>
                      <a:pPr indent="0" algn="ctr">
                        <a:lnSpc>
                          <a:spcPct val="100000"/>
                        </a:lnSpc>
                        <a:defRPr/>
                      </a:pPr>
                      <a:r>
                        <a:rPr lang="en-US" sz="1400" b="0" i="0" u="none" strike="noStrike">
                          <a:solidFill>
                            <a:srgbClr val="212529"/>
                          </a:solidFill>
                          <a:latin typeface="Noto Sans SC"/>
                          <a:ea typeface="Noto Sans SC"/>
                          <a:cs typeface="Noto Sans SC"/>
                          <a:sym typeface="Noto Sans SC"/>
                        </a:rPr>
                        <a:t>方案B</a:t>
                      </a:r>
                      <a:endParaRPr lang="en-US" sz="1100"/>
                    </a:p>
                  </a:txBody>
                  <a:tcPr marL="101600" marR="101600" marT="101600" marB="101600" anchor="ctr">
                    <a:lnL>
                      <a:noFill/>
                    </a:lnL>
                    <a:lnR>
                      <a:noFill/>
                    </a:lnR>
                    <a:lnT>
                      <a:noFill/>
                    </a:lnT>
                    <a:lnB>
                      <a:noFill/>
                    </a:lnB>
                    <a:solidFill>
                      <a:srgbClr val="FFFFFF">
                        <a:alpha val="100000"/>
                      </a:srgbClr>
                    </a:solidFill>
                  </a:tcPr>
                </a:tc>
                <a:tc>
                  <a:txBody>
                    <a:bodyPr/>
                    <a:lstStyle/>
                    <a:p>
                      <a:pPr indent="0" algn="ctr">
                        <a:lnSpc>
                          <a:spcPct val="100000"/>
                        </a:lnSpc>
                        <a:defRPr/>
                      </a:pPr>
                      <a:r>
                        <a:rPr lang="en-US" sz="1600" b="1" i="0" u="none" strike="noStrike">
                          <a:solidFill>
                            <a:srgbClr val="10B981"/>
                          </a:solidFill>
                          <a:latin typeface="Noto Sans SC"/>
                          <a:ea typeface="Noto Sans SC"/>
                          <a:cs typeface="Noto Sans SC"/>
                          <a:sym typeface="Noto Sans SC"/>
                        </a:rPr>
                        <a:t>✓</a:t>
                      </a:r>
                      <a:endParaRPr lang="en-US" sz="1100"/>
                    </a:p>
                  </a:txBody>
                  <a:tcPr marL="101600" marR="101600" marT="101600" marB="101600" anchor="ctr">
                    <a:lnL>
                      <a:noFill/>
                    </a:lnL>
                    <a:lnR>
                      <a:noFill/>
                    </a:lnR>
                    <a:lnT>
                      <a:noFill/>
                    </a:lnT>
                    <a:lnB>
                      <a:noFill/>
                    </a:lnB>
                    <a:solidFill>
                      <a:srgbClr val="FFFFFF">
                        <a:alpha val="100000"/>
                      </a:srgbClr>
                    </a:solidFill>
                  </a:tcPr>
                </a:tc>
                <a:extLst>
                  <a:ext uri="{0D108BD9-81ED-4DB2-BD59-A6C34878D82A}">
                    <a16:rowId xmlns:a16="http://schemas.microsoft.com/office/drawing/2014/main" val="10002"/>
                  </a:ext>
                </a:extLst>
              </a:tr>
              <a:tr h="457200">
                <a:tc>
                  <a:txBody>
                    <a:bodyPr/>
                    <a:lstStyle/>
                    <a:p>
                      <a:pPr indent="0" algn="ctr">
                        <a:lnSpc>
                          <a:spcPct val="100000"/>
                        </a:lnSpc>
                        <a:defRPr/>
                      </a:pPr>
                      <a:r>
                        <a:rPr lang="en-US" sz="1400" b="0" i="0" u="none" strike="noStrike">
                          <a:solidFill>
                            <a:srgbClr val="212529"/>
                          </a:solidFill>
                          <a:latin typeface="Noto Sans SC"/>
                          <a:ea typeface="Noto Sans SC"/>
                          <a:cs typeface="Noto Sans SC"/>
                          <a:sym typeface="Noto Sans SC"/>
                        </a:rPr>
                        <a:t>KR3</a:t>
                      </a:r>
                      <a:endParaRPr lang="en-US" sz="1100"/>
                    </a:p>
                  </a:txBody>
                  <a:tcPr marL="101600" marR="101600" marT="101600" marB="101600" anchor="ctr">
                    <a:lnL>
                      <a:noFill/>
                    </a:lnL>
                    <a:lnR>
                      <a:noFill/>
                    </a:lnR>
                    <a:lnT>
                      <a:noFill/>
                    </a:lnT>
                    <a:lnB>
                      <a:noFill/>
                    </a:lnB>
                    <a:solidFill>
                      <a:srgbClr val="F0F8FF">
                        <a:alpha val="100000"/>
                      </a:srgbClr>
                    </a:solidFill>
                  </a:tcPr>
                </a:tc>
                <a:tc>
                  <a:txBody>
                    <a:bodyPr/>
                    <a:lstStyle/>
                    <a:p>
                      <a:pPr indent="0" algn="ctr">
                        <a:lnSpc>
                          <a:spcPct val="100000"/>
                        </a:lnSpc>
                        <a:defRPr/>
                      </a:pPr>
                      <a:r>
                        <a:rPr lang="en-US" sz="1400" b="0" i="0" u="none" strike="noStrike">
                          <a:solidFill>
                            <a:srgbClr val="212529"/>
                          </a:solidFill>
                          <a:latin typeface="Noto Sans SC"/>
                          <a:ea typeface="Noto Sans SC"/>
                          <a:cs typeface="Noto Sans SC"/>
                          <a:sym typeface="Noto Sans SC"/>
                        </a:rPr>
                        <a:t>方案A</a:t>
                      </a:r>
                      <a:endParaRPr lang="en-US" sz="1100"/>
                    </a:p>
                  </a:txBody>
                  <a:tcPr marL="101600" marR="101600" marT="101600" marB="101600" anchor="ctr">
                    <a:lnL>
                      <a:noFill/>
                    </a:lnL>
                    <a:lnR>
                      <a:noFill/>
                    </a:lnR>
                    <a:lnT>
                      <a:noFill/>
                    </a:lnT>
                    <a:lnB>
                      <a:noFill/>
                    </a:lnB>
                    <a:solidFill>
                      <a:srgbClr val="F0F8FF">
                        <a:alpha val="100000"/>
                      </a:srgbClr>
                    </a:solidFill>
                  </a:tcPr>
                </a:tc>
                <a:tc>
                  <a:txBody>
                    <a:bodyPr/>
                    <a:lstStyle/>
                    <a:p>
                      <a:pPr indent="0" algn="ctr">
                        <a:lnSpc>
                          <a:spcPct val="100000"/>
                        </a:lnSpc>
                        <a:defRPr/>
                      </a:pPr>
                      <a:r>
                        <a:rPr lang="en-US" sz="1400" b="0" i="0" u="none" strike="noStrike">
                          <a:solidFill>
                            <a:srgbClr val="212529"/>
                          </a:solidFill>
                          <a:latin typeface="Noto Sans SC"/>
                          <a:ea typeface="Noto Sans SC"/>
                          <a:cs typeface="Noto Sans SC"/>
                          <a:sym typeface="Noto Sans SC"/>
                        </a:rPr>
                        <a:t>方案A</a:t>
                      </a:r>
                      <a:endParaRPr lang="en-US" sz="1100"/>
                    </a:p>
                  </a:txBody>
                  <a:tcPr marL="101600" marR="101600" marT="101600" marB="101600" anchor="ctr">
                    <a:lnL>
                      <a:noFill/>
                    </a:lnL>
                    <a:lnR>
                      <a:noFill/>
                    </a:lnR>
                    <a:lnT>
                      <a:noFill/>
                    </a:lnT>
                    <a:lnB>
                      <a:noFill/>
                    </a:lnB>
                    <a:solidFill>
                      <a:srgbClr val="F0F8FF">
                        <a:alpha val="100000"/>
                      </a:srgbClr>
                    </a:solidFill>
                  </a:tcPr>
                </a:tc>
                <a:tc>
                  <a:txBody>
                    <a:bodyPr/>
                    <a:lstStyle/>
                    <a:p>
                      <a:pPr indent="0" algn="ctr">
                        <a:lnSpc>
                          <a:spcPct val="100000"/>
                        </a:lnSpc>
                        <a:defRPr/>
                      </a:pPr>
                      <a:r>
                        <a:rPr lang="en-US" sz="1600" b="1" i="0" u="none" strike="noStrike">
                          <a:solidFill>
                            <a:srgbClr val="10B981"/>
                          </a:solidFill>
                          <a:latin typeface="Noto Sans SC"/>
                          <a:ea typeface="Noto Sans SC"/>
                          <a:cs typeface="Noto Sans SC"/>
                          <a:sym typeface="Noto Sans SC"/>
                        </a:rPr>
                        <a:t>✓</a:t>
                      </a:r>
                      <a:endParaRPr lang="en-US" sz="1100"/>
                    </a:p>
                  </a:txBody>
                  <a:tcPr marL="101600" marR="101600" marT="101600" marB="101600" anchor="ctr">
                    <a:lnL>
                      <a:noFill/>
                    </a:lnL>
                    <a:lnR>
                      <a:noFill/>
                    </a:lnR>
                    <a:lnT>
                      <a:noFill/>
                    </a:lnT>
                    <a:lnB>
                      <a:noFill/>
                    </a:lnB>
                    <a:solidFill>
                      <a:srgbClr val="F0F8FF">
                        <a:alpha val="100000"/>
                      </a:srgbClr>
                    </a:solidFill>
                  </a:tcPr>
                </a:tc>
                <a:extLst>
                  <a:ext uri="{0D108BD9-81ED-4DB2-BD59-A6C34878D82A}">
                    <a16:rowId xmlns:a16="http://schemas.microsoft.com/office/drawing/2014/main" val="10003"/>
                  </a:ext>
                </a:extLst>
              </a:tr>
            </a:tbl>
          </a:graphicData>
        </a:graphic>
      </p:graphicFrame>
      <p:sp>
        <p:nvSpPr>
          <p:cNvPr id="11" name="AutoShape 11"/>
          <p:cNvSpPr/>
          <p:nvPr/>
        </p:nvSpPr>
        <p:spPr>
          <a:xfrm>
            <a:off x="762000" y="4445000"/>
            <a:ext cx="10668000" cy="1270000"/>
          </a:xfrm>
          <a:prstGeom prst="roundRect">
            <a:avLst>
              <a:gd name="adj" fmla="val 10000"/>
            </a:avLst>
          </a:prstGeom>
          <a:solidFill>
            <a:srgbClr val="0D6EFD">
              <a:alpha val="8000"/>
            </a:srgbClr>
          </a:solidFill>
          <a:ln w="12700" cap="flat" cmpd="sng">
            <a:solidFill>
              <a:srgbClr val="0D6EFD">
                <a:alpha val="30000"/>
              </a:srgbClr>
            </a:solidFill>
            <a:prstDash val="solid"/>
            <a:round/>
          </a:ln>
        </p:spPr>
        <p:txBody>
          <a:bodyPr vert="horz" wrap="square" lIns="63500" tIns="63500" rIns="63500" bIns="63500" rtlCol="0" anchor="ctr"/>
          <a:lstStyle/>
          <a:p>
            <a:pPr algn="ctr">
              <a:defRPr/>
            </a:pPr>
            <a:endParaRPr/>
          </a:p>
        </p:txBody>
      </p:sp>
      <p:pic>
        <p:nvPicPr>
          <p:cNvPr id="12" name="Picture 12"/>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143000" y="4775200"/>
            <a:ext cx="609600" cy="609600"/>
          </a:xfrm>
          <a:prstGeom prst="rect">
            <a:avLst/>
          </a:prstGeom>
        </p:spPr>
      </p:pic>
      <p:sp>
        <p:nvSpPr>
          <p:cNvPr id="13" name="AutoShape 13"/>
          <p:cNvSpPr/>
          <p:nvPr/>
        </p:nvSpPr>
        <p:spPr>
          <a:xfrm>
            <a:off x="1905000" y="4762500"/>
            <a:ext cx="1905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0D6EFD"/>
                </a:solidFill>
                <a:latin typeface="Noto Sans SC"/>
                <a:ea typeface="Noto Sans SC"/>
                <a:cs typeface="Noto Sans SC"/>
                <a:sym typeface="Noto Sans SC"/>
              </a:rPr>
              <a:t>100%</a:t>
            </a:r>
            <a:endParaRPr lang="en-US" sz="1100"/>
          </a:p>
        </p:txBody>
      </p:sp>
      <p:sp>
        <p:nvSpPr>
          <p:cNvPr id="14" name="AutoShape 14"/>
          <p:cNvSpPr/>
          <p:nvPr/>
        </p:nvSpPr>
        <p:spPr>
          <a:xfrm>
            <a:off x="3937000" y="4826000"/>
            <a:ext cx="6350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212529"/>
                </a:solidFill>
                <a:latin typeface="Noto Sans SC"/>
                <a:ea typeface="Noto Sans SC"/>
                <a:cs typeface="Noto Sans SC"/>
                <a:sym typeface="Noto Sans SC"/>
              </a:rPr>
              <a:t>一致性率验证结论</a:t>
            </a:r>
            <a:endParaRPr lang="en-US" sz="1100"/>
          </a:p>
          <a:p>
            <a:pPr indent="0" algn="l">
              <a:lnSpc>
                <a:spcPct val="125000"/>
              </a:lnSpc>
            </a:pPr>
            <a:r>
              <a:rPr lang="en-US" sz="1400" b="0" i="0" u="none" strike="noStrike">
                <a:solidFill>
                  <a:srgbClr val="6C757D"/>
                </a:solidFill>
                <a:latin typeface="Noto Sans SC"/>
                <a:ea typeface="Noto Sans SC"/>
                <a:cs typeface="Noto Sans SC"/>
                <a:sym typeface="Noto Sans SC"/>
              </a:rPr>
              <a:t>工具推荐结果与专家决策完全一致，证明了工具在实际场景中的准确性和可靠性。</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FFFFFF">
              <a:alpha val="9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508000"/>
            <a:ext cx="70485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0D6EFD"/>
                </a:solidFill>
                <a:latin typeface="Noto Sans SC"/>
                <a:ea typeface="Noto Sans SC"/>
                <a:cs typeface="Noto Sans SC"/>
                <a:sym typeface="Noto Sans SC"/>
              </a:rPr>
              <a:t>效率对比分析：决策耗时对比</a:t>
            </a:r>
            <a:endParaRPr lang="en-US" sz="1100"/>
          </a:p>
        </p:txBody>
      </p:sp>
      <p:graphicFrame>
        <p:nvGraphicFramePr>
          <p:cNvPr id="5" name="Table 5"/>
          <p:cNvGraphicFramePr>
            <a:graphicFrameLocks noGrp="1"/>
          </p:cNvGraphicFramePr>
          <p:nvPr/>
        </p:nvGraphicFramePr>
        <p:xfrm>
          <a:off x="762000" y="1397000"/>
          <a:ext cx="4191000" cy="2286000"/>
        </p:xfrm>
        <a:graphic>
          <a:graphicData uri="http://schemas.openxmlformats.org/drawingml/2006/table">
            <a:tbl>
              <a:tblPr>
                <a:effectLst/>
              </a:tblPr>
              <a:tblGrid>
                <a:gridCol w="1651000">
                  <a:extLst>
                    <a:ext uri="{9D8B030D-6E8A-4147-A177-3AD203B41FA5}">
                      <a16:colId xmlns:a16="http://schemas.microsoft.com/office/drawing/2014/main" val="20000"/>
                    </a:ext>
                  </a:extLst>
                </a:gridCol>
                <a:gridCol w="1270000">
                  <a:extLst>
                    <a:ext uri="{9D8B030D-6E8A-4147-A177-3AD203B41FA5}">
                      <a16:colId xmlns:a16="http://schemas.microsoft.com/office/drawing/2014/main" val="20001"/>
                    </a:ext>
                  </a:extLst>
                </a:gridCol>
                <a:gridCol w="1270000">
                  <a:extLst>
                    <a:ext uri="{9D8B030D-6E8A-4147-A177-3AD203B41FA5}">
                      <a16:colId xmlns:a16="http://schemas.microsoft.com/office/drawing/2014/main" val="20002"/>
                    </a:ext>
                  </a:extLst>
                </a:gridCol>
              </a:tblGrid>
              <a:tr h="508000">
                <a:tc>
                  <a:txBody>
                    <a:bodyPr/>
                    <a:lstStyle/>
                    <a:p>
                      <a:pPr indent="0" algn="ctr">
                        <a:lnSpc>
                          <a:spcPct val="100000"/>
                        </a:lnSpc>
                        <a:defRPr/>
                      </a:pPr>
                      <a:r>
                        <a:rPr lang="en-US" sz="1600" b="1" i="0" u="none" strike="noStrike">
                          <a:solidFill>
                            <a:srgbClr val="0D6EFD"/>
                          </a:solidFill>
                          <a:latin typeface="Noto Sans SC"/>
                          <a:ea typeface="Noto Sans SC"/>
                          <a:cs typeface="Noto Sans SC"/>
                          <a:sym typeface="Noto Sans SC"/>
                        </a:rPr>
                        <a:t>决策方法</a:t>
                      </a:r>
                      <a:endParaRPr lang="en-US" sz="1100"/>
                    </a:p>
                  </a:txBody>
                  <a:tcPr marL="101600" marR="101600" marT="101600" marB="101600" anchor="ctr">
                    <a:lnL>
                      <a:noFill/>
                    </a:lnL>
                    <a:lnR>
                      <a:noFill/>
                    </a:lnR>
                    <a:lnT>
                      <a:noFill/>
                    </a:lnT>
                    <a:lnB w="25400" cap="flat" cmpd="sng" algn="ctr">
                      <a:solidFill>
                        <a:srgbClr val="0D6EFD"/>
                      </a:solidFill>
                      <a:prstDash val="solid"/>
                      <a:round/>
                      <a:headEnd type="none" w="med" len="med"/>
                      <a:tailEnd type="none" w="med" len="med"/>
                    </a:lnB>
                    <a:solidFill>
                      <a:srgbClr val="0D6EFD">
                        <a:alpha val="10000"/>
                      </a:srgbClr>
                    </a:solidFill>
                  </a:tcPr>
                </a:tc>
                <a:tc>
                  <a:txBody>
                    <a:bodyPr/>
                    <a:lstStyle/>
                    <a:p>
                      <a:pPr indent="0" algn="ctr">
                        <a:lnSpc>
                          <a:spcPct val="100000"/>
                        </a:lnSpc>
                        <a:defRPr/>
                      </a:pPr>
                      <a:r>
                        <a:rPr lang="en-US" sz="1600" b="1" i="0" u="none" strike="noStrike">
                          <a:solidFill>
                            <a:srgbClr val="0D6EFD"/>
                          </a:solidFill>
                          <a:latin typeface="Noto Sans SC"/>
                          <a:ea typeface="Noto Sans SC"/>
                          <a:cs typeface="Noto Sans SC"/>
                          <a:sym typeface="Noto Sans SC"/>
                        </a:rPr>
                        <a:t>平均耗时</a:t>
                      </a:r>
                      <a:endParaRPr lang="en-US" sz="1100"/>
                    </a:p>
                  </a:txBody>
                  <a:tcPr marL="101600" marR="101600" marT="101600" marB="101600" anchor="ctr">
                    <a:lnL>
                      <a:noFill/>
                    </a:lnL>
                    <a:lnR>
                      <a:noFill/>
                    </a:lnR>
                    <a:lnT>
                      <a:noFill/>
                    </a:lnT>
                    <a:lnB w="25400" cap="flat" cmpd="sng" algn="ctr">
                      <a:solidFill>
                        <a:srgbClr val="0D6EFD"/>
                      </a:solidFill>
                      <a:prstDash val="solid"/>
                      <a:round/>
                      <a:headEnd type="none" w="med" len="med"/>
                      <a:tailEnd type="none" w="med" len="med"/>
                    </a:lnB>
                    <a:solidFill>
                      <a:srgbClr val="0D6EFD">
                        <a:alpha val="10000"/>
                      </a:srgbClr>
                    </a:solidFill>
                  </a:tcPr>
                </a:tc>
                <a:tc>
                  <a:txBody>
                    <a:bodyPr/>
                    <a:lstStyle/>
                    <a:p>
                      <a:pPr indent="0" algn="ctr">
                        <a:lnSpc>
                          <a:spcPct val="100000"/>
                        </a:lnSpc>
                        <a:defRPr/>
                      </a:pPr>
                      <a:r>
                        <a:rPr lang="en-US" sz="1600" b="1" i="0" u="none" strike="noStrike">
                          <a:solidFill>
                            <a:srgbClr val="0D6EFD"/>
                          </a:solidFill>
                          <a:latin typeface="Noto Sans SC"/>
                          <a:ea typeface="Noto Sans SC"/>
                          <a:cs typeface="Noto Sans SC"/>
                          <a:sym typeface="Noto Sans SC"/>
                        </a:rPr>
                        <a:t>效率提升</a:t>
                      </a:r>
                      <a:endParaRPr lang="en-US" sz="1100"/>
                    </a:p>
                  </a:txBody>
                  <a:tcPr marL="101600" marR="101600" marT="101600" marB="101600" anchor="ctr">
                    <a:lnL>
                      <a:noFill/>
                    </a:lnL>
                    <a:lnR>
                      <a:noFill/>
                    </a:lnR>
                    <a:lnT>
                      <a:noFill/>
                    </a:lnT>
                    <a:lnB w="25400" cap="flat" cmpd="sng" algn="ctr">
                      <a:solidFill>
                        <a:srgbClr val="0D6EFD"/>
                      </a:solidFill>
                      <a:prstDash val="solid"/>
                      <a:round/>
                      <a:headEnd type="none" w="med" len="med"/>
                      <a:tailEnd type="none" w="med" len="med"/>
                    </a:lnB>
                    <a:solidFill>
                      <a:srgbClr val="0D6EFD">
                        <a:alpha val="10000"/>
                      </a:srgbClr>
                    </a:solidFill>
                  </a:tcPr>
                </a:tc>
                <a:extLst>
                  <a:ext uri="{0D108BD9-81ED-4DB2-BD59-A6C34878D82A}">
                    <a16:rowId xmlns:a16="http://schemas.microsoft.com/office/drawing/2014/main" val="10000"/>
                  </a:ext>
                </a:extLst>
              </a:tr>
              <a:tr h="444500">
                <a:tc>
                  <a:txBody>
                    <a:bodyPr/>
                    <a:lstStyle/>
                    <a:p>
                      <a:pPr indent="0" algn="ctr">
                        <a:lnSpc>
                          <a:spcPct val="100000"/>
                        </a:lnSpc>
                        <a:defRPr/>
                      </a:pPr>
                      <a:r>
                        <a:rPr lang="en-US" sz="1400" b="0" i="0" u="none" strike="noStrike">
                          <a:solidFill>
                            <a:srgbClr val="374151"/>
                          </a:solidFill>
                          <a:latin typeface="Noto Sans SC"/>
                          <a:ea typeface="Noto Sans SC"/>
                          <a:cs typeface="Noto Sans SC"/>
                          <a:sym typeface="Noto Sans SC"/>
                        </a:rPr>
                        <a:t>传统会议讨论</a:t>
                      </a:r>
                      <a:endParaRPr lang="en-US" sz="1100"/>
                    </a:p>
                  </a:txBody>
                  <a:tcPr marL="101600" marR="101600" marT="101600" marB="101600" anchor="ctr">
                    <a:lnL>
                      <a:noFill/>
                    </a:lnL>
                    <a:lnR>
                      <a:noFill/>
                    </a:lnR>
                    <a:lnT w="25400" cap="flat" cmpd="sng" algn="ctr">
                      <a:solidFill>
                        <a:srgbClr val="0D6EFD"/>
                      </a:solidFill>
                      <a:prstDash val="solid"/>
                      <a:round/>
                      <a:headEnd type="none" w="med" len="med"/>
                      <a:tailEnd type="none" w="med" len="med"/>
                    </a:lnT>
                    <a:lnB w="12700" cap="flat" cmpd="sng" algn="ctr">
                      <a:solidFill>
                        <a:srgbClr val="DEE2E6"/>
                      </a:solidFill>
                      <a:prstDash val="solid"/>
                      <a:round/>
                      <a:headEnd type="none" w="med" len="med"/>
                      <a:tailEnd type="none" w="med" len="med"/>
                    </a:lnB>
                    <a:noFill/>
                  </a:tcPr>
                </a:tc>
                <a:tc>
                  <a:txBody>
                    <a:bodyPr/>
                    <a:lstStyle/>
                    <a:p>
                      <a:pPr indent="0" algn="ctr">
                        <a:lnSpc>
                          <a:spcPct val="100000"/>
                        </a:lnSpc>
                        <a:defRPr/>
                      </a:pPr>
                      <a:r>
                        <a:rPr lang="en-US" sz="1400" b="0" i="0" u="none" strike="noStrike">
                          <a:solidFill>
                            <a:srgbClr val="374151"/>
                          </a:solidFill>
                          <a:latin typeface="Noto Sans SC"/>
                          <a:ea typeface="Noto Sans SC"/>
                          <a:cs typeface="Noto Sans SC"/>
                          <a:sym typeface="Noto Sans SC"/>
                        </a:rPr>
                        <a:t>45分钟</a:t>
                      </a:r>
                      <a:endParaRPr lang="en-US" sz="1100"/>
                    </a:p>
                  </a:txBody>
                  <a:tcPr marL="101600" marR="101600" marT="101600" marB="101600" anchor="ctr">
                    <a:lnL>
                      <a:noFill/>
                    </a:lnL>
                    <a:lnR>
                      <a:noFill/>
                    </a:lnR>
                    <a:lnT w="25400" cap="flat" cmpd="sng" algn="ctr">
                      <a:solidFill>
                        <a:srgbClr val="0D6EFD"/>
                      </a:solidFill>
                      <a:prstDash val="solid"/>
                      <a:round/>
                      <a:headEnd type="none" w="med" len="med"/>
                      <a:tailEnd type="none" w="med" len="med"/>
                    </a:lnT>
                    <a:lnB w="12700" cap="flat" cmpd="sng" algn="ctr">
                      <a:solidFill>
                        <a:srgbClr val="DEE2E6"/>
                      </a:solidFill>
                      <a:prstDash val="solid"/>
                      <a:round/>
                      <a:headEnd type="none" w="med" len="med"/>
                      <a:tailEnd type="none" w="med" len="med"/>
                    </a:lnB>
                    <a:noFill/>
                  </a:tcPr>
                </a:tc>
                <a:tc>
                  <a:txBody>
                    <a:bodyPr/>
                    <a:lstStyle/>
                    <a:p>
                      <a:pPr indent="0" algn="ctr">
                        <a:lnSpc>
                          <a:spcPct val="100000"/>
                        </a:lnSpc>
                        <a:defRPr/>
                      </a:pPr>
                      <a:r>
                        <a:rPr lang="en-US" sz="1400" b="0" i="0" u="none" strike="noStrike">
                          <a:solidFill>
                            <a:srgbClr val="6C757D"/>
                          </a:solidFill>
                          <a:latin typeface="Noto Sans SC"/>
                          <a:ea typeface="Noto Sans SC"/>
                          <a:cs typeface="Noto Sans SC"/>
                          <a:sym typeface="Noto Sans SC"/>
                        </a:rPr>
                        <a:t>-</a:t>
                      </a:r>
                      <a:endParaRPr lang="en-US" sz="1100"/>
                    </a:p>
                  </a:txBody>
                  <a:tcPr marL="101600" marR="101600" marT="101600" marB="101600" anchor="ctr">
                    <a:lnL>
                      <a:noFill/>
                    </a:lnL>
                    <a:lnR>
                      <a:noFill/>
                    </a:lnR>
                    <a:lnT w="25400" cap="flat" cmpd="sng" algn="ctr">
                      <a:solidFill>
                        <a:srgbClr val="0D6EFD"/>
                      </a:solidFill>
                      <a:prstDash val="solid"/>
                      <a:round/>
                      <a:headEnd type="none" w="med" len="med"/>
                      <a:tailEnd type="none" w="med" len="med"/>
                    </a:lnT>
                    <a:lnB w="12700" cap="flat" cmpd="sng" algn="ctr">
                      <a:solidFill>
                        <a:srgbClr val="DEE2E6"/>
                      </a:solidFill>
                      <a:prstDash val="solid"/>
                      <a:round/>
                      <a:headEnd type="none" w="med" len="med"/>
                      <a:tailEnd type="none" w="med" len="med"/>
                    </a:lnB>
                    <a:noFill/>
                  </a:tcPr>
                </a:tc>
                <a:extLst>
                  <a:ext uri="{0D108BD9-81ED-4DB2-BD59-A6C34878D82A}">
                    <a16:rowId xmlns:a16="http://schemas.microsoft.com/office/drawing/2014/main" val="10001"/>
                  </a:ext>
                </a:extLst>
              </a:tr>
              <a:tr h="444500">
                <a:tc>
                  <a:txBody>
                    <a:bodyPr/>
                    <a:lstStyle/>
                    <a:p>
                      <a:pPr indent="0" algn="ctr">
                        <a:lnSpc>
                          <a:spcPct val="100000"/>
                        </a:lnSpc>
                        <a:defRPr/>
                      </a:pPr>
                      <a:r>
                        <a:rPr lang="en-US" sz="1400" b="0" i="0" u="none" strike="noStrike">
                          <a:solidFill>
                            <a:srgbClr val="374151"/>
                          </a:solidFill>
                          <a:latin typeface="Noto Sans SC"/>
                          <a:ea typeface="Noto Sans SC"/>
                          <a:cs typeface="Noto Sans SC"/>
                          <a:sym typeface="Noto Sans SC"/>
                        </a:rPr>
                        <a:t>简单评分法</a:t>
                      </a:r>
                      <a:endParaRPr lang="en-US" sz="1100"/>
                    </a:p>
                  </a:txBody>
                  <a:tcPr marL="101600" marR="101600" marT="101600" marB="101600" anchor="ctr">
                    <a:lnL>
                      <a:noFill/>
                    </a:lnL>
                    <a:lnR>
                      <a:noFill/>
                    </a:lnR>
                    <a:lnT w="12700" cap="flat" cmpd="sng" algn="ctr">
                      <a:solidFill>
                        <a:srgbClr val="DEE2E6"/>
                      </a:solidFill>
                      <a:prstDash val="solid"/>
                      <a:round/>
                      <a:headEnd type="none" w="med" len="med"/>
                      <a:tailEnd type="none" w="med" len="med"/>
                    </a:lnT>
                    <a:lnB w="12700" cap="flat" cmpd="sng" algn="ctr">
                      <a:solidFill>
                        <a:srgbClr val="DEE2E6"/>
                      </a:solidFill>
                      <a:prstDash val="solid"/>
                      <a:round/>
                      <a:headEnd type="none" w="med" len="med"/>
                      <a:tailEnd type="none" w="med" len="med"/>
                    </a:lnB>
                    <a:noFill/>
                  </a:tcPr>
                </a:tc>
                <a:tc>
                  <a:txBody>
                    <a:bodyPr/>
                    <a:lstStyle/>
                    <a:p>
                      <a:pPr indent="0" algn="ctr">
                        <a:lnSpc>
                          <a:spcPct val="100000"/>
                        </a:lnSpc>
                        <a:defRPr/>
                      </a:pPr>
                      <a:r>
                        <a:rPr lang="en-US" sz="1400" b="0" i="0" u="none" strike="noStrike">
                          <a:solidFill>
                            <a:srgbClr val="374151"/>
                          </a:solidFill>
                          <a:latin typeface="Noto Sans SC"/>
                          <a:ea typeface="Noto Sans SC"/>
                          <a:cs typeface="Noto Sans SC"/>
                          <a:sym typeface="Noto Sans SC"/>
                        </a:rPr>
                        <a:t>20分钟</a:t>
                      </a:r>
                      <a:endParaRPr lang="en-US" sz="1100"/>
                    </a:p>
                  </a:txBody>
                  <a:tcPr marL="101600" marR="101600" marT="101600" marB="101600" anchor="ctr">
                    <a:lnL>
                      <a:noFill/>
                    </a:lnL>
                    <a:lnR>
                      <a:noFill/>
                    </a:lnR>
                    <a:lnT w="12700" cap="flat" cmpd="sng" algn="ctr">
                      <a:solidFill>
                        <a:srgbClr val="DEE2E6"/>
                      </a:solidFill>
                      <a:prstDash val="solid"/>
                      <a:round/>
                      <a:headEnd type="none" w="med" len="med"/>
                      <a:tailEnd type="none" w="med" len="med"/>
                    </a:lnT>
                    <a:lnB w="12700" cap="flat" cmpd="sng" algn="ctr">
                      <a:solidFill>
                        <a:srgbClr val="DEE2E6"/>
                      </a:solidFill>
                      <a:prstDash val="solid"/>
                      <a:round/>
                      <a:headEnd type="none" w="med" len="med"/>
                      <a:tailEnd type="none" w="med" len="med"/>
                    </a:lnB>
                    <a:noFill/>
                  </a:tcPr>
                </a:tc>
                <a:tc>
                  <a:txBody>
                    <a:bodyPr/>
                    <a:lstStyle/>
                    <a:p>
                      <a:pPr indent="0" algn="ctr">
                        <a:lnSpc>
                          <a:spcPct val="100000"/>
                        </a:lnSpc>
                        <a:defRPr/>
                      </a:pPr>
                      <a:r>
                        <a:rPr lang="en-US" sz="1400" b="0" i="0" u="none" strike="noStrike">
                          <a:solidFill>
                            <a:srgbClr val="16A34A"/>
                          </a:solidFill>
                          <a:latin typeface="Noto Sans SC"/>
                          <a:ea typeface="Noto Sans SC"/>
                          <a:cs typeface="Noto Sans SC"/>
                          <a:sym typeface="Noto Sans SC"/>
                        </a:rPr>
                        <a:t>55%</a:t>
                      </a:r>
                      <a:endParaRPr lang="en-US" sz="1100"/>
                    </a:p>
                  </a:txBody>
                  <a:tcPr marL="101600" marR="101600" marT="101600" marB="101600" anchor="ctr">
                    <a:lnL>
                      <a:noFill/>
                    </a:lnL>
                    <a:lnR>
                      <a:noFill/>
                    </a:lnR>
                    <a:lnT w="12700" cap="flat" cmpd="sng" algn="ctr">
                      <a:solidFill>
                        <a:srgbClr val="DEE2E6"/>
                      </a:solidFill>
                      <a:prstDash val="solid"/>
                      <a:round/>
                      <a:headEnd type="none" w="med" len="med"/>
                      <a:tailEnd type="none" w="med" len="med"/>
                    </a:lnT>
                    <a:lnB w="12700" cap="flat" cmpd="sng" algn="ctr">
                      <a:solidFill>
                        <a:srgbClr val="DEE2E6"/>
                      </a:solidFill>
                      <a:prstDash val="solid"/>
                      <a:round/>
                      <a:headEnd type="none" w="med" len="med"/>
                      <a:tailEnd type="none" w="med" len="med"/>
                    </a:lnB>
                    <a:noFill/>
                  </a:tcPr>
                </a:tc>
                <a:extLst>
                  <a:ext uri="{0D108BD9-81ED-4DB2-BD59-A6C34878D82A}">
                    <a16:rowId xmlns:a16="http://schemas.microsoft.com/office/drawing/2014/main" val="10002"/>
                  </a:ext>
                </a:extLst>
              </a:tr>
              <a:tr h="444500">
                <a:tc>
                  <a:txBody>
                    <a:bodyPr/>
                    <a:lstStyle/>
                    <a:p>
                      <a:pPr indent="0" algn="ctr">
                        <a:lnSpc>
                          <a:spcPct val="100000"/>
                        </a:lnSpc>
                        <a:defRPr/>
                      </a:pPr>
                      <a:r>
                        <a:rPr lang="en-US" sz="1400" b="1" i="0" u="none" strike="noStrike">
                          <a:solidFill>
                            <a:srgbClr val="0D6EFD"/>
                          </a:solidFill>
                          <a:latin typeface="Noto Sans SC"/>
                          <a:ea typeface="Noto Sans SC"/>
                          <a:cs typeface="Noto Sans SC"/>
                          <a:sym typeface="Noto Sans SC"/>
                        </a:rPr>
                        <a:t>本工具(简单)</a:t>
                      </a:r>
                      <a:endParaRPr lang="en-US" sz="1100"/>
                    </a:p>
                  </a:txBody>
                  <a:tcPr marL="101600" marR="101600" marT="101600" marB="101600" anchor="ctr">
                    <a:lnL>
                      <a:noFill/>
                    </a:lnL>
                    <a:lnR>
                      <a:noFill/>
                    </a:lnR>
                    <a:lnT w="12700" cap="flat" cmpd="sng" algn="ctr">
                      <a:solidFill>
                        <a:srgbClr val="DEE2E6"/>
                      </a:solidFill>
                      <a:prstDash val="solid"/>
                      <a:round/>
                      <a:headEnd type="none" w="med" len="med"/>
                      <a:tailEnd type="none" w="med" len="med"/>
                    </a:lnT>
                    <a:lnB w="12700" cap="flat" cmpd="sng" algn="ctr">
                      <a:solidFill>
                        <a:srgbClr val="DEE2E6"/>
                      </a:solidFill>
                      <a:prstDash val="solid"/>
                      <a:round/>
                      <a:headEnd type="none" w="med" len="med"/>
                      <a:tailEnd type="none" w="med" len="med"/>
                    </a:lnB>
                    <a:noFill/>
                  </a:tcPr>
                </a:tc>
                <a:tc>
                  <a:txBody>
                    <a:bodyPr/>
                    <a:lstStyle/>
                    <a:p>
                      <a:pPr indent="0" algn="ctr">
                        <a:lnSpc>
                          <a:spcPct val="100000"/>
                        </a:lnSpc>
                        <a:defRPr/>
                      </a:pPr>
                      <a:r>
                        <a:rPr lang="en-US" sz="1400" b="1" i="0" u="none" strike="noStrike">
                          <a:solidFill>
                            <a:srgbClr val="0D6EFD"/>
                          </a:solidFill>
                          <a:latin typeface="Noto Sans SC"/>
                          <a:ea typeface="Noto Sans SC"/>
                          <a:cs typeface="Noto Sans SC"/>
                          <a:sym typeface="Noto Sans SC"/>
                        </a:rPr>
                        <a:t>12分钟</a:t>
                      </a:r>
                      <a:endParaRPr lang="en-US" sz="1100"/>
                    </a:p>
                  </a:txBody>
                  <a:tcPr marL="101600" marR="101600" marT="101600" marB="101600" anchor="ctr">
                    <a:lnL>
                      <a:noFill/>
                    </a:lnL>
                    <a:lnR>
                      <a:noFill/>
                    </a:lnR>
                    <a:lnT w="12700" cap="flat" cmpd="sng" algn="ctr">
                      <a:solidFill>
                        <a:srgbClr val="DEE2E6"/>
                      </a:solidFill>
                      <a:prstDash val="solid"/>
                      <a:round/>
                      <a:headEnd type="none" w="med" len="med"/>
                      <a:tailEnd type="none" w="med" len="med"/>
                    </a:lnT>
                    <a:lnB w="12700" cap="flat" cmpd="sng" algn="ctr">
                      <a:solidFill>
                        <a:srgbClr val="DEE2E6"/>
                      </a:solidFill>
                      <a:prstDash val="solid"/>
                      <a:round/>
                      <a:headEnd type="none" w="med" len="med"/>
                      <a:tailEnd type="none" w="med" len="med"/>
                    </a:lnB>
                    <a:noFill/>
                  </a:tcPr>
                </a:tc>
                <a:tc>
                  <a:txBody>
                    <a:bodyPr/>
                    <a:lstStyle/>
                    <a:p>
                      <a:pPr indent="0" algn="ctr">
                        <a:lnSpc>
                          <a:spcPct val="100000"/>
                        </a:lnSpc>
                        <a:defRPr/>
                      </a:pPr>
                      <a:r>
                        <a:rPr lang="en-US" sz="1400" b="1" i="0" u="none" strike="noStrike">
                          <a:solidFill>
                            <a:srgbClr val="16A34A"/>
                          </a:solidFill>
                          <a:latin typeface="Noto Sans SC"/>
                          <a:ea typeface="Noto Sans SC"/>
                          <a:cs typeface="Noto Sans SC"/>
                          <a:sym typeface="Noto Sans SC"/>
                        </a:rPr>
                        <a:t>73%</a:t>
                      </a:r>
                      <a:endParaRPr lang="en-US" sz="1100"/>
                    </a:p>
                  </a:txBody>
                  <a:tcPr marL="101600" marR="101600" marT="101600" marB="101600" anchor="ctr">
                    <a:lnL>
                      <a:noFill/>
                    </a:lnL>
                    <a:lnR>
                      <a:noFill/>
                    </a:lnR>
                    <a:lnT w="12700" cap="flat" cmpd="sng" algn="ctr">
                      <a:solidFill>
                        <a:srgbClr val="DEE2E6"/>
                      </a:solidFill>
                      <a:prstDash val="solid"/>
                      <a:round/>
                      <a:headEnd type="none" w="med" len="med"/>
                      <a:tailEnd type="none" w="med" len="med"/>
                    </a:lnT>
                    <a:lnB w="12700" cap="flat" cmpd="sng" algn="ctr">
                      <a:solidFill>
                        <a:srgbClr val="DEE2E6"/>
                      </a:solidFill>
                      <a:prstDash val="solid"/>
                      <a:round/>
                      <a:headEnd type="none" w="med" len="med"/>
                      <a:tailEnd type="none" w="med" len="med"/>
                    </a:lnB>
                    <a:noFill/>
                  </a:tcPr>
                </a:tc>
                <a:extLst>
                  <a:ext uri="{0D108BD9-81ED-4DB2-BD59-A6C34878D82A}">
                    <a16:rowId xmlns:a16="http://schemas.microsoft.com/office/drawing/2014/main" val="10003"/>
                  </a:ext>
                </a:extLst>
              </a:tr>
              <a:tr h="444500">
                <a:tc>
                  <a:txBody>
                    <a:bodyPr/>
                    <a:lstStyle/>
                    <a:p>
                      <a:pPr indent="0" algn="ctr">
                        <a:lnSpc>
                          <a:spcPct val="100000"/>
                        </a:lnSpc>
                        <a:defRPr/>
                      </a:pPr>
                      <a:r>
                        <a:rPr lang="en-US" sz="1400" b="1" i="0" u="none" strike="noStrike">
                          <a:solidFill>
                            <a:srgbClr val="0D6EFD"/>
                          </a:solidFill>
                          <a:latin typeface="Noto Sans SC"/>
                          <a:ea typeface="Noto Sans SC"/>
                          <a:cs typeface="Noto Sans SC"/>
                          <a:sym typeface="Noto Sans SC"/>
                        </a:rPr>
                        <a:t>本工具(AHP)</a:t>
                      </a:r>
                      <a:endParaRPr lang="en-US" sz="1100"/>
                    </a:p>
                  </a:txBody>
                  <a:tcPr marL="101600" marR="101600" marT="101600" marB="101600" anchor="ctr">
                    <a:lnL>
                      <a:noFill/>
                    </a:lnL>
                    <a:lnR>
                      <a:noFill/>
                    </a:lnR>
                    <a:lnT w="12700" cap="flat" cmpd="sng" algn="ctr">
                      <a:solidFill>
                        <a:srgbClr val="DEE2E6"/>
                      </a:solidFill>
                      <a:prstDash val="solid"/>
                      <a:round/>
                      <a:headEnd type="none" w="med" len="med"/>
                      <a:tailEnd type="none" w="med" len="med"/>
                    </a:lnT>
                    <a:lnB w="12700" cap="flat" cmpd="sng" algn="ctr">
                      <a:solidFill>
                        <a:srgbClr val="DEE2E6"/>
                      </a:solidFill>
                      <a:prstDash val="solid"/>
                      <a:round/>
                      <a:headEnd type="none" w="med" len="med"/>
                      <a:tailEnd type="none" w="med" len="med"/>
                    </a:lnB>
                    <a:noFill/>
                  </a:tcPr>
                </a:tc>
                <a:tc>
                  <a:txBody>
                    <a:bodyPr/>
                    <a:lstStyle/>
                    <a:p>
                      <a:pPr indent="0" algn="ctr">
                        <a:lnSpc>
                          <a:spcPct val="100000"/>
                        </a:lnSpc>
                        <a:defRPr/>
                      </a:pPr>
                      <a:r>
                        <a:rPr lang="en-US" sz="1400" b="1" i="0" u="none" strike="noStrike">
                          <a:solidFill>
                            <a:srgbClr val="0D6EFD"/>
                          </a:solidFill>
                          <a:latin typeface="Noto Sans SC"/>
                          <a:ea typeface="Noto Sans SC"/>
                          <a:cs typeface="Noto Sans SC"/>
                          <a:sym typeface="Noto Sans SC"/>
                        </a:rPr>
                        <a:t>18分钟</a:t>
                      </a:r>
                      <a:endParaRPr lang="en-US" sz="1100"/>
                    </a:p>
                  </a:txBody>
                  <a:tcPr marL="101600" marR="101600" marT="101600" marB="101600" anchor="ctr">
                    <a:lnL>
                      <a:noFill/>
                    </a:lnL>
                    <a:lnR>
                      <a:noFill/>
                    </a:lnR>
                    <a:lnT w="12700" cap="flat" cmpd="sng" algn="ctr">
                      <a:solidFill>
                        <a:srgbClr val="DEE2E6"/>
                      </a:solidFill>
                      <a:prstDash val="solid"/>
                      <a:round/>
                      <a:headEnd type="none" w="med" len="med"/>
                      <a:tailEnd type="none" w="med" len="med"/>
                    </a:lnT>
                    <a:lnB w="12700" cap="flat" cmpd="sng" algn="ctr">
                      <a:solidFill>
                        <a:srgbClr val="DEE2E6"/>
                      </a:solidFill>
                      <a:prstDash val="solid"/>
                      <a:round/>
                      <a:headEnd type="none" w="med" len="med"/>
                      <a:tailEnd type="none" w="med" len="med"/>
                    </a:lnB>
                    <a:noFill/>
                  </a:tcPr>
                </a:tc>
                <a:tc>
                  <a:txBody>
                    <a:bodyPr/>
                    <a:lstStyle/>
                    <a:p>
                      <a:pPr indent="0" algn="ctr">
                        <a:lnSpc>
                          <a:spcPct val="100000"/>
                        </a:lnSpc>
                        <a:defRPr/>
                      </a:pPr>
                      <a:r>
                        <a:rPr lang="en-US" sz="1400" b="1" i="0" u="none" strike="noStrike">
                          <a:solidFill>
                            <a:srgbClr val="16A34A"/>
                          </a:solidFill>
                          <a:latin typeface="Noto Sans SC"/>
                          <a:ea typeface="Noto Sans SC"/>
                          <a:cs typeface="Noto Sans SC"/>
                          <a:sym typeface="Noto Sans SC"/>
                        </a:rPr>
                        <a:t>60%</a:t>
                      </a:r>
                      <a:endParaRPr lang="en-US" sz="1100"/>
                    </a:p>
                  </a:txBody>
                  <a:tcPr marL="101600" marR="101600" marT="101600" marB="101600" anchor="ctr">
                    <a:lnL>
                      <a:noFill/>
                    </a:lnL>
                    <a:lnR>
                      <a:noFill/>
                    </a:lnR>
                    <a:lnT w="12700" cap="flat" cmpd="sng" algn="ctr">
                      <a:solidFill>
                        <a:srgbClr val="DEE2E6"/>
                      </a:solidFill>
                      <a:prstDash val="solid"/>
                      <a:round/>
                      <a:headEnd type="none" w="med" len="med"/>
                      <a:tailEnd type="none" w="med" len="med"/>
                    </a:lnT>
                    <a:lnB w="12700" cap="flat" cmpd="sng" algn="ctr">
                      <a:solidFill>
                        <a:srgbClr val="DEE2E6"/>
                      </a:solidFill>
                      <a:prstDash val="solid"/>
                      <a:round/>
                      <a:headEnd type="none" w="med" len="med"/>
                      <a:tailEnd type="none" w="med" len="med"/>
                    </a:lnB>
                    <a:noFill/>
                  </a:tcPr>
                </a:tc>
                <a:extLst>
                  <a:ext uri="{0D108BD9-81ED-4DB2-BD59-A6C34878D82A}">
                    <a16:rowId xmlns:a16="http://schemas.microsoft.com/office/drawing/2014/main" val="10004"/>
                  </a:ext>
                </a:extLst>
              </a:tr>
            </a:tbl>
          </a:graphicData>
        </a:graphic>
      </p:graphicFrame>
      <p:pic>
        <p:nvPicPr>
          <p:cNvPr id="6" name="Picture 6"/>
          <p:cNvPicPr>
            <a:picLocks noChangeAspect="1"/>
          </p:cNvPicPr>
          <p:nvPr/>
        </p:nvPicPr>
        <p:blipFill>
          <a:blip r:embed="rId4"/>
          <a:srcRect t="123" b="123"/>
          <a:stretch>
            <a:fillRect/>
          </a:stretch>
        </p:blipFill>
        <p:spPr>
          <a:xfrm>
            <a:off x="6350000" y="1397000"/>
            <a:ext cx="4572000" cy="2565400"/>
          </a:xfrm>
          <a:prstGeom prst="roundRect">
            <a:avLst>
              <a:gd name="adj" fmla="val 4950"/>
            </a:avLst>
          </a:prstGeom>
          <a:noFill/>
          <a:ln w="12700" cap="flat" cmpd="sng">
            <a:solidFill>
              <a:srgbClr val="DEE2E6">
                <a:alpha val="100000"/>
              </a:srgbClr>
            </a:solidFill>
            <a:prstDash val="solid"/>
            <a:round/>
          </a:ln>
          <a:effectLst>
            <a:outerShdw blurRad="127000" dist="50800" dir="2700000" algn="tl" rotWithShape="0">
              <a:srgbClr val="000000">
                <a:alpha val="15000"/>
              </a:srgbClr>
            </a:outerShdw>
          </a:effectLst>
        </p:spPr>
      </p:pic>
      <p:sp>
        <p:nvSpPr>
          <p:cNvPr id="7" name="AutoShape 7"/>
          <p:cNvSpPr/>
          <p:nvPr/>
        </p:nvSpPr>
        <p:spPr>
          <a:xfrm>
            <a:off x="762000" y="4953000"/>
            <a:ext cx="10668000" cy="1016000"/>
          </a:xfrm>
          <a:prstGeom prst="roundRect">
            <a:avLst>
              <a:gd name="adj" fmla="val 12500"/>
            </a:avLst>
          </a:prstGeom>
          <a:solidFill>
            <a:srgbClr val="EFF6FF">
              <a:alpha val="100000"/>
            </a:srgbClr>
          </a:solidFill>
          <a:ln w="12700" cap="flat" cmpd="sng">
            <a:solidFill>
              <a:srgbClr val="0D6EFD">
                <a:alpha val="30000"/>
              </a:srgbClr>
            </a:solidFill>
            <a:prstDash val="solid"/>
            <a:round/>
          </a:ln>
        </p:spPr>
        <p:txBody>
          <a:bodyPr vert="horz" wrap="square" lIns="63500" tIns="63500" rIns="63500" bIns="63500" rtlCol="0" anchor="ctr"/>
          <a:lstStyle/>
          <a:p>
            <a:pPr algn="ctr">
              <a:defRPr/>
            </a:pPr>
            <a:endParaRPr/>
          </a:p>
        </p:txBody>
      </p:sp>
      <p:pic>
        <p:nvPicPr>
          <p:cNvPr id="8" name="Picture 8"/>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5257800"/>
            <a:ext cx="406400" cy="406400"/>
          </a:xfrm>
          <a:prstGeom prst="rect">
            <a:avLst/>
          </a:prstGeom>
        </p:spPr>
      </p:pic>
      <p:sp>
        <p:nvSpPr>
          <p:cNvPr id="9" name="AutoShape 9"/>
          <p:cNvSpPr/>
          <p:nvPr/>
        </p:nvSpPr>
        <p:spPr>
          <a:xfrm>
            <a:off x="1524000" y="5080000"/>
            <a:ext cx="9652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D6EFD"/>
                </a:solidFill>
                <a:latin typeface="Noto Sans SC"/>
                <a:ea typeface="Noto Sans SC"/>
                <a:cs typeface="Noto Sans SC"/>
                <a:sym typeface="Noto Sans SC"/>
              </a:rPr>
              <a:t>结论：</a:t>
            </a:r>
            <a:r>
              <a:rPr lang="en-US" sz="1600" b="0" i="0" u="none" strike="noStrike">
                <a:solidFill>
                  <a:srgbClr val="374151"/>
                </a:solidFill>
                <a:latin typeface="Noto Sans SC"/>
                <a:ea typeface="Noto Sans SC"/>
                <a:cs typeface="Noto Sans SC"/>
                <a:sym typeface="Noto Sans SC"/>
              </a:rPr>
              <a:t>无论是简单模式还是AHP模式，本工具都能将决策效率提升至少60%以上，极大地节省了团队的时间成本。相比传统会议讨论，决策耗时缩短了近3倍。</a:t>
            </a:r>
            <a:endParaRPr lang="en-US" sz="110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FFFFFF">
              <a:alpha val="9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508000"/>
            <a:ext cx="20066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0D6EFD"/>
                </a:solidFill>
                <a:latin typeface="Noto Sans SC"/>
                <a:ea typeface="Noto Sans SC"/>
                <a:cs typeface="Noto Sans SC"/>
                <a:sym typeface="Noto Sans SC"/>
              </a:rPr>
              <a:t>研究贡献</a:t>
            </a:r>
            <a:endParaRPr lang="en-US" sz="1100"/>
          </a:p>
        </p:txBody>
      </p:sp>
      <p:sp>
        <p:nvSpPr>
          <p:cNvPr id="5" name="AutoShape 5"/>
          <p:cNvSpPr/>
          <p:nvPr/>
        </p:nvSpPr>
        <p:spPr>
          <a:xfrm>
            <a:off x="762000" y="1524000"/>
            <a:ext cx="3302000" cy="3048000"/>
          </a:xfrm>
          <a:prstGeom prst="roundRect">
            <a:avLst>
              <a:gd name="adj" fmla="val 4166"/>
            </a:avLst>
          </a:prstGeom>
          <a:solidFill>
            <a:srgbClr val="FFFFFF">
              <a:alpha val="100000"/>
            </a:srgbClr>
          </a:solidFill>
          <a:ln w="12700" cap="flat" cmpd="sng">
            <a:solidFill>
              <a:srgbClr val="0D6EFD">
                <a:alpha val="20000"/>
              </a:srgbClr>
            </a:solidFill>
            <a:prstDash val="solid"/>
            <a:round/>
          </a:ln>
          <a:effectLst>
            <a:outerShdw blurRad="127000" dist="50800" dir="5400000" algn="tl" rotWithShape="0">
              <a:srgbClr val="000000">
                <a:alpha val="10000"/>
              </a:srgbClr>
            </a:outerShdw>
          </a:effectLst>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1778000"/>
            <a:ext cx="406400" cy="406400"/>
          </a:xfrm>
          <a:prstGeom prst="rect">
            <a:avLst/>
          </a:prstGeom>
        </p:spPr>
      </p:pic>
      <p:sp>
        <p:nvSpPr>
          <p:cNvPr id="7" name="AutoShape 7"/>
          <p:cNvSpPr/>
          <p:nvPr/>
        </p:nvSpPr>
        <p:spPr>
          <a:xfrm>
            <a:off x="1016000" y="2286000"/>
            <a:ext cx="279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D6EFD"/>
                </a:solidFill>
                <a:latin typeface="Noto Sans SC"/>
                <a:ea typeface="Noto Sans SC"/>
                <a:cs typeface="Noto Sans SC"/>
                <a:sym typeface="Noto Sans SC"/>
              </a:rPr>
              <a:t>AHP方法的应用创新</a:t>
            </a:r>
            <a:endParaRPr lang="en-US" sz="1100"/>
          </a:p>
        </p:txBody>
      </p:sp>
      <p:sp>
        <p:nvSpPr>
          <p:cNvPr id="8" name="AutoShape 8"/>
          <p:cNvSpPr/>
          <p:nvPr/>
        </p:nvSpPr>
        <p:spPr>
          <a:xfrm>
            <a:off x="1016000" y="2730500"/>
            <a:ext cx="2794000" cy="1270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400" b="0" i="0" u="none" strike="noStrike">
                <a:solidFill>
                  <a:srgbClr val="6C757D"/>
                </a:solidFill>
                <a:latin typeface="Noto Sans SC"/>
                <a:ea typeface="Noto Sans SC"/>
                <a:cs typeface="Noto Sans SC"/>
                <a:sym typeface="Noto Sans SC"/>
              </a:rPr>
              <a:t>首次将层次分析法系统化应用于OKR决策场景，提出适配OKR管理的因子体系框架，填补了相关领域研究空白。</a:t>
            </a:r>
            <a:endParaRPr lang="en-US" sz="1100"/>
          </a:p>
        </p:txBody>
      </p:sp>
      <p:sp>
        <p:nvSpPr>
          <p:cNvPr id="9" name="AutoShape 9"/>
          <p:cNvSpPr/>
          <p:nvPr/>
        </p:nvSpPr>
        <p:spPr>
          <a:xfrm>
            <a:off x="4445000" y="1524000"/>
            <a:ext cx="3302000" cy="3048000"/>
          </a:xfrm>
          <a:prstGeom prst="roundRect">
            <a:avLst>
              <a:gd name="adj" fmla="val 4166"/>
            </a:avLst>
          </a:prstGeom>
          <a:solidFill>
            <a:srgbClr val="FFFFFF">
              <a:alpha val="100000"/>
            </a:srgbClr>
          </a:solidFill>
          <a:ln w="12700" cap="flat" cmpd="sng">
            <a:solidFill>
              <a:srgbClr val="0D6EFD">
                <a:alpha val="20000"/>
              </a:srgbClr>
            </a:solidFill>
            <a:prstDash val="solid"/>
            <a:round/>
          </a:ln>
          <a:effectLst>
            <a:outerShdw blurRad="127000" dist="50800" dir="5400000" algn="tl" rotWithShape="0">
              <a:srgbClr val="000000">
                <a:alpha val="10000"/>
              </a:srgbClr>
            </a:outerShdw>
          </a:effectLst>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699000" y="1778000"/>
            <a:ext cx="406400" cy="406400"/>
          </a:xfrm>
          <a:prstGeom prst="rect">
            <a:avLst/>
          </a:prstGeom>
        </p:spPr>
      </p:pic>
      <p:sp>
        <p:nvSpPr>
          <p:cNvPr id="11" name="AutoShape 11"/>
          <p:cNvSpPr/>
          <p:nvPr/>
        </p:nvSpPr>
        <p:spPr>
          <a:xfrm>
            <a:off x="4699000" y="2286000"/>
            <a:ext cx="279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D6EFD"/>
                </a:solidFill>
                <a:latin typeface="Noto Sans SC"/>
                <a:ea typeface="Noto Sans SC"/>
                <a:cs typeface="Noto Sans SC"/>
                <a:sym typeface="Noto Sans SC"/>
              </a:rPr>
              <a:t>交互设计创新</a:t>
            </a:r>
            <a:endParaRPr lang="en-US" sz="1100"/>
          </a:p>
        </p:txBody>
      </p:sp>
      <p:sp>
        <p:nvSpPr>
          <p:cNvPr id="12" name="AutoShape 12"/>
          <p:cNvSpPr/>
          <p:nvPr/>
        </p:nvSpPr>
        <p:spPr>
          <a:xfrm>
            <a:off x="4699000" y="2730500"/>
            <a:ext cx="2794000" cy="1270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400" b="0" i="0" u="none" strike="noStrike">
                <a:solidFill>
                  <a:srgbClr val="6C757D"/>
                </a:solidFill>
                <a:latin typeface="Noto Sans SC"/>
                <a:ea typeface="Noto Sans SC"/>
                <a:cs typeface="Noto Sans SC"/>
                <a:sym typeface="Noto Sans SC"/>
              </a:rPr>
              <a:t>设计“问答式AHP”交互模式，将复杂矩阵输入转化为简单滑块选择，极大降低使用门槛，利于团队推广。</a:t>
            </a:r>
            <a:endParaRPr lang="en-US" sz="1100"/>
          </a:p>
        </p:txBody>
      </p:sp>
      <p:sp>
        <p:nvSpPr>
          <p:cNvPr id="13" name="AutoShape 13"/>
          <p:cNvSpPr/>
          <p:nvPr/>
        </p:nvSpPr>
        <p:spPr>
          <a:xfrm>
            <a:off x="8128000" y="1524000"/>
            <a:ext cx="3302000" cy="3048000"/>
          </a:xfrm>
          <a:prstGeom prst="roundRect">
            <a:avLst>
              <a:gd name="adj" fmla="val 4166"/>
            </a:avLst>
          </a:prstGeom>
          <a:solidFill>
            <a:srgbClr val="FFFFFF">
              <a:alpha val="100000"/>
            </a:srgbClr>
          </a:solidFill>
          <a:ln w="12700" cap="flat" cmpd="sng">
            <a:solidFill>
              <a:srgbClr val="0D6EFD">
                <a:alpha val="20000"/>
              </a:srgbClr>
            </a:solidFill>
            <a:prstDash val="solid"/>
            <a:round/>
          </a:ln>
          <a:effectLst>
            <a:outerShdw blurRad="127000" dist="50800" dir="5400000" algn="tl" rotWithShape="0">
              <a:srgbClr val="000000">
                <a:alpha val="10000"/>
              </a:srgbClr>
            </a:outerShdw>
          </a:effectLst>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382000" y="1778000"/>
            <a:ext cx="406400" cy="406400"/>
          </a:xfrm>
          <a:prstGeom prst="rect">
            <a:avLst/>
          </a:prstGeom>
        </p:spPr>
      </p:pic>
      <p:sp>
        <p:nvSpPr>
          <p:cNvPr id="15" name="AutoShape 15"/>
          <p:cNvSpPr/>
          <p:nvPr/>
        </p:nvSpPr>
        <p:spPr>
          <a:xfrm>
            <a:off x="8382000" y="2286000"/>
            <a:ext cx="279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D6EFD"/>
                </a:solidFill>
                <a:latin typeface="Noto Sans SC"/>
                <a:ea typeface="Noto Sans SC"/>
                <a:cs typeface="Noto Sans SC"/>
                <a:sym typeface="Noto Sans SC"/>
              </a:rPr>
              <a:t>工程实践贡献</a:t>
            </a:r>
            <a:endParaRPr lang="en-US" sz="1100"/>
          </a:p>
        </p:txBody>
      </p:sp>
      <p:sp>
        <p:nvSpPr>
          <p:cNvPr id="16" name="AutoShape 16"/>
          <p:cNvSpPr/>
          <p:nvPr/>
        </p:nvSpPr>
        <p:spPr>
          <a:xfrm>
            <a:off x="8382000" y="2730500"/>
            <a:ext cx="2794000" cy="1270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400" b="0" i="0" u="none" strike="noStrike">
                <a:solidFill>
                  <a:srgbClr val="6C757D"/>
                </a:solidFill>
                <a:latin typeface="Noto Sans SC"/>
                <a:ea typeface="Noto Sans SC"/>
                <a:cs typeface="Noto Sans SC"/>
                <a:sym typeface="Noto Sans SC"/>
              </a:rPr>
              <a:t>开发开箱即用的轻量化纯前端决策支持工具，无需配置即可使用，为中小团队提供了切实可行的解决方案。</a:t>
            </a:r>
            <a:endParaRPr lang="en-US" sz="1100"/>
          </a:p>
        </p:txBody>
      </p:sp>
      <p:sp>
        <p:nvSpPr>
          <p:cNvPr id="17" name="AutoShape 17"/>
          <p:cNvSpPr/>
          <p:nvPr/>
        </p:nvSpPr>
        <p:spPr>
          <a:xfrm>
            <a:off x="0" y="6807200"/>
            <a:ext cx="12192000" cy="50800"/>
          </a:xfrm>
          <a:prstGeom prst="roundRect">
            <a:avLst>
              <a:gd name="adj" fmla="val 0"/>
            </a:avLst>
          </a:prstGeom>
          <a:solidFill>
            <a:srgbClr val="0D6EFD">
              <a:alpha val="100000"/>
            </a:srgbClr>
          </a:solidFill>
          <a:ln w="25400" cap="flat" cmpd="sng">
            <a:noFill/>
            <a:prstDash val="solid"/>
            <a:round/>
          </a:ln>
        </p:spPr>
        <p:txBody>
          <a:bodyPr vert="horz" wrap="square" lIns="63500" tIns="63500" rIns="63500" bIns="63500" rtlCol="0" anchor="ctr"/>
          <a:lstStyle/>
          <a:p>
            <a:pPr algn="ctr">
              <a:defRPr/>
            </a:pP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508000"/>
            <a:ext cx="106680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0D6EFD"/>
                </a:solidFill>
                <a:latin typeface="Noto Sans SC"/>
                <a:ea typeface="Noto Sans SC"/>
                <a:cs typeface="Noto Sans SC"/>
                <a:sym typeface="Noto Sans SC"/>
              </a:rPr>
              <a:t>局限性分析：当前研究的不足</a:t>
            </a:r>
            <a:endParaRPr lang="en-US" sz="1100"/>
          </a:p>
        </p:txBody>
      </p:sp>
      <p:graphicFrame>
        <p:nvGraphicFramePr>
          <p:cNvPr id="5" name="Table 5"/>
          <p:cNvGraphicFramePr>
            <a:graphicFrameLocks noGrp="1"/>
          </p:cNvGraphicFramePr>
          <p:nvPr/>
        </p:nvGraphicFramePr>
        <p:xfrm>
          <a:off x="762000" y="1397000"/>
          <a:ext cx="10668000" cy="4064000"/>
        </p:xfrm>
        <a:graphic>
          <a:graphicData uri="http://schemas.openxmlformats.org/drawingml/2006/table">
            <a:tbl>
              <a:tblPr>
                <a:effectLst/>
              </a:tblPr>
              <a:tblGrid>
                <a:gridCol w="1524000">
                  <a:extLst>
                    <a:ext uri="{9D8B030D-6E8A-4147-A177-3AD203B41FA5}">
                      <a16:colId xmlns:a16="http://schemas.microsoft.com/office/drawing/2014/main" val="20000"/>
                    </a:ext>
                  </a:extLst>
                </a:gridCol>
                <a:gridCol w="5080000">
                  <a:extLst>
                    <a:ext uri="{9D8B030D-6E8A-4147-A177-3AD203B41FA5}">
                      <a16:colId xmlns:a16="http://schemas.microsoft.com/office/drawing/2014/main" val="20001"/>
                    </a:ext>
                  </a:extLst>
                </a:gridCol>
                <a:gridCol w="4064000">
                  <a:extLst>
                    <a:ext uri="{9D8B030D-6E8A-4147-A177-3AD203B41FA5}">
                      <a16:colId xmlns:a16="http://schemas.microsoft.com/office/drawing/2014/main" val="20002"/>
                    </a:ext>
                  </a:extLst>
                </a:gridCol>
              </a:tblGrid>
              <a:tr h="508000">
                <a:tc>
                  <a:txBody>
                    <a:bodyPr/>
                    <a:lstStyle/>
                    <a:p>
                      <a:pPr indent="0" algn="ctr">
                        <a:lnSpc>
                          <a:spcPct val="100000"/>
                        </a:lnSpc>
                        <a:defRPr/>
                      </a:pPr>
                      <a:r>
                        <a:rPr lang="en-US" sz="1600" b="1" i="0" u="none" strike="noStrike">
                          <a:solidFill>
                            <a:srgbClr val="FFFFFF"/>
                          </a:solidFill>
                          <a:latin typeface="Noto Sans SC"/>
                          <a:ea typeface="Noto Sans SC"/>
                          <a:cs typeface="Noto Sans SC"/>
                          <a:sym typeface="Noto Sans SC"/>
                        </a:rPr>
                        <a:t>层面</a:t>
                      </a:r>
                      <a:endParaRPr lang="en-US" sz="1100"/>
                    </a:p>
                  </a:txBody>
                  <a:tcPr marL="101600" marR="101600" marT="101600" marB="101600" anchor="ctr">
                    <a:lnL>
                      <a:noFill/>
                    </a:lnL>
                    <a:lnR>
                      <a:noFill/>
                    </a:lnR>
                    <a:lnT>
                      <a:noFill/>
                    </a:lnT>
                    <a:lnB>
                      <a:noFill/>
                    </a:lnB>
                    <a:solidFill>
                      <a:srgbClr val="0D6EFD">
                        <a:alpha val="100000"/>
                      </a:srgbClr>
                    </a:solidFill>
                  </a:tcPr>
                </a:tc>
                <a:tc>
                  <a:txBody>
                    <a:bodyPr/>
                    <a:lstStyle/>
                    <a:p>
                      <a:pPr indent="0" algn="l">
                        <a:lnSpc>
                          <a:spcPct val="100000"/>
                        </a:lnSpc>
                        <a:defRPr/>
                      </a:pPr>
                      <a:r>
                        <a:rPr lang="en-US" sz="1600" b="1" i="0" u="none" strike="noStrike">
                          <a:solidFill>
                            <a:srgbClr val="FFFFFF"/>
                          </a:solidFill>
                          <a:latin typeface="Noto Sans SC"/>
                          <a:ea typeface="Noto Sans SC"/>
                          <a:cs typeface="Noto Sans SC"/>
                          <a:sym typeface="Noto Sans SC"/>
                        </a:rPr>
                        <a:t>局限性描述</a:t>
                      </a:r>
                      <a:endParaRPr lang="en-US" sz="1100"/>
                    </a:p>
                  </a:txBody>
                  <a:tcPr marL="127000" marR="101600" marT="101600" marB="101600" anchor="ctr">
                    <a:lnL>
                      <a:noFill/>
                    </a:lnL>
                    <a:lnR>
                      <a:noFill/>
                    </a:lnR>
                    <a:lnT>
                      <a:noFill/>
                    </a:lnT>
                    <a:lnB>
                      <a:noFill/>
                    </a:lnB>
                    <a:solidFill>
                      <a:srgbClr val="0D6EFD">
                        <a:alpha val="100000"/>
                      </a:srgbClr>
                    </a:solidFill>
                  </a:tcPr>
                </a:tc>
                <a:tc>
                  <a:txBody>
                    <a:bodyPr/>
                    <a:lstStyle/>
                    <a:p>
                      <a:pPr indent="0" algn="l">
                        <a:lnSpc>
                          <a:spcPct val="100000"/>
                        </a:lnSpc>
                        <a:defRPr/>
                      </a:pPr>
                      <a:r>
                        <a:rPr lang="en-US" sz="1600" b="1" i="0" u="none" strike="noStrike">
                          <a:solidFill>
                            <a:srgbClr val="FFFFFF"/>
                          </a:solidFill>
                          <a:latin typeface="Noto Sans SC"/>
                          <a:ea typeface="Noto Sans SC"/>
                          <a:cs typeface="Noto Sans SC"/>
                          <a:sym typeface="Noto Sans SC"/>
                        </a:rPr>
                        <a:t>潜在影响</a:t>
                      </a:r>
                      <a:endParaRPr lang="en-US" sz="1100"/>
                    </a:p>
                  </a:txBody>
                  <a:tcPr marL="127000" marR="101600" marT="101600" marB="101600" anchor="ctr">
                    <a:lnL>
                      <a:noFill/>
                    </a:lnL>
                    <a:lnR>
                      <a:noFill/>
                    </a:lnR>
                    <a:lnT>
                      <a:noFill/>
                    </a:lnT>
                    <a:lnB>
                      <a:noFill/>
                    </a:lnB>
                    <a:solidFill>
                      <a:srgbClr val="0D6EFD">
                        <a:alpha val="100000"/>
                      </a:srgbClr>
                    </a:solidFill>
                  </a:tcPr>
                </a:tc>
                <a:extLst>
                  <a:ext uri="{0D108BD9-81ED-4DB2-BD59-A6C34878D82A}">
                    <a16:rowId xmlns:a16="http://schemas.microsoft.com/office/drawing/2014/main" val="10000"/>
                  </a:ext>
                </a:extLst>
              </a:tr>
              <a:tr h="889000">
                <a:tc>
                  <a:txBody>
                    <a:bodyPr/>
                    <a:lstStyle/>
                    <a:p>
                      <a:pPr indent="0" algn="ctr">
                        <a:lnSpc>
                          <a:spcPct val="100000"/>
                        </a:lnSpc>
                        <a:defRPr/>
                      </a:pPr>
                      <a:r>
                        <a:rPr lang="en-US" sz="1500" b="1" i="0" u="none" strike="noStrike">
                          <a:solidFill>
                            <a:srgbClr val="0D6EFD"/>
                          </a:solidFill>
                          <a:latin typeface="Noto Sans SC"/>
                          <a:ea typeface="Noto Sans SC"/>
                          <a:cs typeface="Noto Sans SC"/>
                          <a:sym typeface="Noto Sans SC"/>
                        </a:rPr>
                        <a:t>方法论</a:t>
                      </a:r>
                      <a:endParaRPr lang="en-US" sz="1100"/>
                    </a:p>
                  </a:txBody>
                  <a:tcPr marL="101600" marR="101600" marT="101600" marB="101600" anchor="ctr">
                    <a:lnL>
                      <a:noFill/>
                    </a:lnL>
                    <a:lnR>
                      <a:noFill/>
                    </a:lnR>
                    <a:lnT>
                      <a:noFill/>
                    </a:lnT>
                    <a:lnB w="12700" cap="flat" cmpd="sng" algn="ctr">
                      <a:solidFill>
                        <a:srgbClr val="E5E7EB"/>
                      </a:solidFill>
                      <a:prstDash val="solid"/>
                      <a:round/>
                      <a:headEnd type="none" w="med" len="med"/>
                      <a:tailEnd type="none" w="med" len="med"/>
                    </a:lnB>
                    <a:solidFill>
                      <a:srgbClr val="EFF6FF">
                        <a:alpha val="100000"/>
                      </a:srgbClr>
                    </a:solidFill>
                  </a:tcPr>
                </a:tc>
                <a:tc>
                  <a:txBody>
                    <a:bodyPr/>
                    <a:lstStyle/>
                    <a:p>
                      <a:pPr indent="0" algn="l">
                        <a:lnSpc>
                          <a:spcPct val="100000"/>
                        </a:lnSpc>
                        <a:defRPr/>
                      </a:pPr>
                      <a:r>
                        <a:rPr lang="en-US" sz="1400" b="0" i="0" u="none" strike="noStrike">
                          <a:solidFill>
                            <a:srgbClr val="374151"/>
                          </a:solidFill>
                          <a:latin typeface="Noto Sans SC"/>
                          <a:ea typeface="Noto Sans SC"/>
                          <a:cs typeface="Noto Sans SC"/>
                          <a:sym typeface="Noto Sans SC"/>
                        </a:rPr>
                        <a:t>AHP方法本身的主观性未完全消除，权重仍依赖用户的主观判断。</a:t>
                      </a:r>
                      <a:endParaRPr lang="en-US" sz="1100"/>
                    </a:p>
                  </a:txBody>
                  <a:tcPr marL="127000" marR="127000" marT="101600" marB="101600" anchor="ctr">
                    <a:lnL>
                      <a:noFill/>
                    </a:lnL>
                    <a:lnR>
                      <a:noFill/>
                    </a:lnR>
                    <a:lnT>
                      <a:noFill/>
                    </a:lnT>
                    <a:lnB w="12700" cap="flat" cmpd="sng" algn="ctr">
                      <a:solidFill>
                        <a:srgbClr val="E5E7EB"/>
                      </a:solidFill>
                      <a:prstDash val="solid"/>
                      <a:round/>
                      <a:headEnd type="none" w="med" len="med"/>
                      <a:tailEnd type="none" w="med" len="med"/>
                    </a:lnB>
                    <a:solidFill>
                      <a:srgbClr val="EFF6FF">
                        <a:alpha val="100000"/>
                      </a:srgbClr>
                    </a:solidFill>
                  </a:tcPr>
                </a:tc>
                <a:tc>
                  <a:txBody>
                    <a:bodyPr/>
                    <a:lstStyle/>
                    <a:p>
                      <a:pPr indent="0" algn="l">
                        <a:lnSpc>
                          <a:spcPct val="100000"/>
                        </a:lnSpc>
                        <a:defRPr/>
                      </a:pPr>
                      <a:r>
                        <a:rPr lang="en-US" sz="1400" b="0" i="0" u="none" strike="noStrike">
                          <a:solidFill>
                            <a:srgbClr val="374151"/>
                          </a:solidFill>
                          <a:latin typeface="Noto Sans SC"/>
                          <a:ea typeface="Noto Sans SC"/>
                          <a:cs typeface="Noto Sans SC"/>
                          <a:sym typeface="Noto Sans SC"/>
                        </a:rPr>
                        <a:t>决策结果的客观性受到一定限制。</a:t>
                      </a:r>
                      <a:endParaRPr lang="en-US" sz="1100"/>
                    </a:p>
                  </a:txBody>
                  <a:tcPr marL="127000" marR="127000" marT="101600" marB="101600" anchor="ctr">
                    <a:lnL>
                      <a:noFill/>
                    </a:lnL>
                    <a:lnR>
                      <a:noFill/>
                    </a:lnR>
                    <a:lnT>
                      <a:noFill/>
                    </a:lnT>
                    <a:lnB w="12700" cap="flat" cmpd="sng" algn="ctr">
                      <a:solidFill>
                        <a:srgbClr val="E5E7EB"/>
                      </a:solidFill>
                      <a:prstDash val="solid"/>
                      <a:round/>
                      <a:headEnd type="none" w="med" len="med"/>
                      <a:tailEnd type="none" w="med" len="med"/>
                    </a:lnB>
                    <a:solidFill>
                      <a:srgbClr val="EFF6FF">
                        <a:alpha val="100000"/>
                      </a:srgbClr>
                    </a:solidFill>
                  </a:tcPr>
                </a:tc>
                <a:extLst>
                  <a:ext uri="{0D108BD9-81ED-4DB2-BD59-A6C34878D82A}">
                    <a16:rowId xmlns:a16="http://schemas.microsoft.com/office/drawing/2014/main" val="10001"/>
                  </a:ext>
                </a:extLst>
              </a:tr>
              <a:tr h="889000">
                <a:tc>
                  <a:txBody>
                    <a:bodyPr/>
                    <a:lstStyle/>
                    <a:p>
                      <a:pPr indent="0" algn="ctr">
                        <a:lnSpc>
                          <a:spcPct val="100000"/>
                        </a:lnSpc>
                        <a:defRPr/>
                      </a:pPr>
                      <a:r>
                        <a:rPr lang="en-US" sz="1500" b="1" i="0" u="none" strike="noStrike">
                          <a:solidFill>
                            <a:srgbClr val="0D6EFD"/>
                          </a:solidFill>
                          <a:latin typeface="Noto Sans SC"/>
                          <a:ea typeface="Noto Sans SC"/>
                          <a:cs typeface="Noto Sans SC"/>
                          <a:sym typeface="Noto Sans SC"/>
                        </a:rPr>
                        <a:t>功能</a:t>
                      </a:r>
                      <a:endParaRPr lang="en-US" sz="1100"/>
                    </a:p>
                  </a:txBody>
                  <a:tcPr marL="101600" marR="101600" marT="101600" marB="101600" anchor="ctr">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alpha val="100000"/>
                      </a:srgbClr>
                    </a:solidFill>
                  </a:tcPr>
                </a:tc>
                <a:tc>
                  <a:txBody>
                    <a:bodyPr/>
                    <a:lstStyle/>
                    <a:p>
                      <a:pPr indent="0" algn="l">
                        <a:lnSpc>
                          <a:spcPct val="100000"/>
                        </a:lnSpc>
                        <a:defRPr/>
                      </a:pPr>
                      <a:r>
                        <a:rPr lang="en-US" sz="1400" b="0" i="0" u="none" strike="noStrike">
                          <a:solidFill>
                            <a:srgbClr val="374151"/>
                          </a:solidFill>
                          <a:latin typeface="Noto Sans SC"/>
                          <a:ea typeface="Noto Sans SC"/>
                          <a:cs typeface="Noto Sans SC"/>
                          <a:sym typeface="Noto Sans SC"/>
                        </a:rPr>
                        <a:t>缺乏数据持久化功能，刷新页面后数据会丢失。</a:t>
                      </a:r>
                      <a:endParaRPr lang="en-US" sz="1100"/>
                    </a:p>
                  </a:txBody>
                  <a:tcPr marL="127000" marR="127000" marT="101600" marB="101600" anchor="ctr">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alpha val="100000"/>
                      </a:srgbClr>
                    </a:solidFill>
                  </a:tcPr>
                </a:tc>
                <a:tc>
                  <a:txBody>
                    <a:bodyPr/>
                    <a:lstStyle/>
                    <a:p>
                      <a:pPr indent="0" algn="l">
                        <a:lnSpc>
                          <a:spcPct val="100000"/>
                        </a:lnSpc>
                        <a:defRPr/>
                      </a:pPr>
                      <a:r>
                        <a:rPr lang="en-US" sz="1400" b="0" i="0" u="none" strike="noStrike">
                          <a:solidFill>
                            <a:srgbClr val="374151"/>
                          </a:solidFill>
                          <a:latin typeface="Noto Sans SC"/>
                          <a:ea typeface="Noto Sans SC"/>
                          <a:cs typeface="Noto Sans SC"/>
                          <a:sym typeface="Noto Sans SC"/>
                        </a:rPr>
                        <a:t>用户体验有待提升，不适合长期使用。</a:t>
                      </a:r>
                      <a:endParaRPr lang="en-US" sz="1100"/>
                    </a:p>
                  </a:txBody>
                  <a:tcPr marL="127000" marR="127000" marT="101600" marB="101600" anchor="ctr">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alpha val="100000"/>
                      </a:srgbClr>
                    </a:solidFill>
                  </a:tcPr>
                </a:tc>
                <a:extLst>
                  <a:ext uri="{0D108BD9-81ED-4DB2-BD59-A6C34878D82A}">
                    <a16:rowId xmlns:a16="http://schemas.microsoft.com/office/drawing/2014/main" val="10002"/>
                  </a:ext>
                </a:extLst>
              </a:tr>
              <a:tr h="889000">
                <a:tc>
                  <a:txBody>
                    <a:bodyPr/>
                    <a:lstStyle/>
                    <a:p>
                      <a:pPr indent="0" algn="ctr">
                        <a:lnSpc>
                          <a:spcPct val="100000"/>
                        </a:lnSpc>
                        <a:defRPr/>
                      </a:pPr>
                      <a:r>
                        <a:rPr lang="en-US" sz="1500" b="1" i="0" u="none" strike="noStrike">
                          <a:solidFill>
                            <a:srgbClr val="0D6EFD"/>
                          </a:solidFill>
                          <a:latin typeface="Noto Sans SC"/>
                          <a:ea typeface="Noto Sans SC"/>
                          <a:cs typeface="Noto Sans SC"/>
                          <a:sym typeface="Noto Sans SC"/>
                        </a:rPr>
                        <a:t>评估</a:t>
                      </a:r>
                      <a:endParaRPr lang="en-US" sz="1100"/>
                    </a:p>
                  </a:txBody>
                  <a:tcPr marL="101600" marR="101600" marT="101600" marB="101600" anchor="ctr">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EFF6FF">
                        <a:alpha val="100000"/>
                      </a:srgbClr>
                    </a:solidFill>
                  </a:tcPr>
                </a:tc>
                <a:tc>
                  <a:txBody>
                    <a:bodyPr/>
                    <a:lstStyle/>
                    <a:p>
                      <a:pPr indent="0" algn="l">
                        <a:lnSpc>
                          <a:spcPct val="100000"/>
                        </a:lnSpc>
                        <a:defRPr/>
                      </a:pPr>
                      <a:r>
                        <a:rPr lang="en-US" sz="1400" b="0" i="0" u="none" strike="noStrike">
                          <a:solidFill>
                            <a:srgbClr val="374151"/>
                          </a:solidFill>
                          <a:latin typeface="Noto Sans SC"/>
                          <a:ea typeface="Noto Sans SC"/>
                          <a:cs typeface="Noto Sans SC"/>
                          <a:sym typeface="Noto Sans SC"/>
                        </a:rPr>
                        <a:t>用户实验的样本量有限，主要集中在特定领域的用户。</a:t>
                      </a:r>
                      <a:endParaRPr lang="en-US" sz="1100"/>
                    </a:p>
                  </a:txBody>
                  <a:tcPr marL="127000" marR="127000" marT="101600" marB="101600" anchor="ctr">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EFF6FF">
                        <a:alpha val="100000"/>
                      </a:srgbClr>
                    </a:solidFill>
                  </a:tcPr>
                </a:tc>
                <a:tc>
                  <a:txBody>
                    <a:bodyPr/>
                    <a:lstStyle/>
                    <a:p>
                      <a:pPr indent="0" algn="l">
                        <a:lnSpc>
                          <a:spcPct val="100000"/>
                        </a:lnSpc>
                        <a:defRPr/>
                      </a:pPr>
                      <a:r>
                        <a:rPr lang="en-US" sz="1400" b="0" i="0" u="none" strike="noStrike">
                          <a:solidFill>
                            <a:srgbClr val="374151"/>
                          </a:solidFill>
                          <a:latin typeface="Noto Sans SC"/>
                          <a:ea typeface="Noto Sans SC"/>
                          <a:cs typeface="Noto Sans SC"/>
                          <a:sym typeface="Noto Sans SC"/>
                        </a:rPr>
                        <a:t>结论的普适性需要进一步验证。</a:t>
                      </a:r>
                      <a:endParaRPr lang="en-US" sz="1100"/>
                    </a:p>
                  </a:txBody>
                  <a:tcPr marL="127000" marR="127000" marT="101600" marB="101600" anchor="ctr">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EFF6FF">
                        <a:alpha val="100000"/>
                      </a:srgbClr>
                    </a:solidFill>
                  </a:tcPr>
                </a:tc>
                <a:extLst>
                  <a:ext uri="{0D108BD9-81ED-4DB2-BD59-A6C34878D82A}">
                    <a16:rowId xmlns:a16="http://schemas.microsoft.com/office/drawing/2014/main" val="10003"/>
                  </a:ext>
                </a:extLst>
              </a:tr>
              <a:tr h="889000">
                <a:tc>
                  <a:txBody>
                    <a:bodyPr/>
                    <a:lstStyle/>
                    <a:p>
                      <a:pPr indent="0" algn="ctr">
                        <a:lnSpc>
                          <a:spcPct val="100000"/>
                        </a:lnSpc>
                        <a:defRPr/>
                      </a:pPr>
                      <a:r>
                        <a:rPr lang="en-US" sz="1500" b="1" i="0" u="none" strike="noStrike">
                          <a:solidFill>
                            <a:srgbClr val="0D6EFD"/>
                          </a:solidFill>
                          <a:latin typeface="Noto Sans SC"/>
                          <a:ea typeface="Noto Sans SC"/>
                          <a:cs typeface="Noto Sans SC"/>
                          <a:sym typeface="Noto Sans SC"/>
                        </a:rPr>
                        <a:t>应用</a:t>
                      </a:r>
                      <a:endParaRPr lang="en-US" sz="1100"/>
                    </a:p>
                  </a:txBody>
                  <a:tcPr marL="101600" marR="101600" marT="101600" marB="101600" anchor="ctr">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alpha val="100000"/>
                      </a:srgbClr>
                    </a:solidFill>
                  </a:tcPr>
                </a:tc>
                <a:tc>
                  <a:txBody>
                    <a:bodyPr/>
                    <a:lstStyle/>
                    <a:p>
                      <a:pPr indent="0" algn="l">
                        <a:lnSpc>
                          <a:spcPct val="100000"/>
                        </a:lnSpc>
                        <a:defRPr/>
                      </a:pPr>
                      <a:r>
                        <a:rPr lang="en-US" sz="1400" b="0" i="0" u="none" strike="noStrike">
                          <a:solidFill>
                            <a:srgbClr val="374151"/>
                          </a:solidFill>
                          <a:latin typeface="Noto Sans SC"/>
                          <a:ea typeface="Noto Sans SC"/>
                          <a:cs typeface="Noto Sans SC"/>
                          <a:sym typeface="Noto Sans SC"/>
                        </a:rPr>
                        <a:t>目前仅支持单OKR模式，对多OKR并行管理的支持不足。</a:t>
                      </a:r>
                      <a:endParaRPr lang="en-US" sz="1100"/>
                    </a:p>
                  </a:txBody>
                  <a:tcPr marL="127000" marR="127000" marT="101600" marB="101600" anchor="ctr">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alpha val="100000"/>
                      </a:srgbClr>
                    </a:solidFill>
                  </a:tcPr>
                </a:tc>
                <a:tc>
                  <a:txBody>
                    <a:bodyPr/>
                    <a:lstStyle/>
                    <a:p>
                      <a:pPr indent="0" algn="l">
                        <a:lnSpc>
                          <a:spcPct val="100000"/>
                        </a:lnSpc>
                        <a:defRPr/>
                      </a:pPr>
                      <a:r>
                        <a:rPr lang="en-US" sz="1400" b="0" i="0" u="none" strike="noStrike">
                          <a:solidFill>
                            <a:srgbClr val="374151"/>
                          </a:solidFill>
                          <a:latin typeface="Noto Sans SC"/>
                          <a:ea typeface="Noto Sans SC"/>
                          <a:cs typeface="Noto Sans SC"/>
                          <a:sym typeface="Noto Sans SC"/>
                        </a:rPr>
                        <a:t>无法满足更复杂的团队管理需求。</a:t>
                      </a:r>
                      <a:endParaRPr lang="en-US" sz="1100"/>
                    </a:p>
                  </a:txBody>
                  <a:tcPr marL="127000" marR="127000" marT="101600" marB="101600" anchor="ctr">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alpha val="100000"/>
                      </a:srgbClr>
                    </a:solidFill>
                  </a:tcPr>
                </a:tc>
                <a:extLst>
                  <a:ext uri="{0D108BD9-81ED-4DB2-BD59-A6C34878D82A}">
                    <a16:rowId xmlns:a16="http://schemas.microsoft.com/office/drawing/2014/main" val="10004"/>
                  </a:ext>
                </a:extLst>
              </a:tr>
            </a:tbl>
          </a:graphicData>
        </a:graphic>
      </p:graphicFrame>
      <p:sp>
        <p:nvSpPr>
          <p:cNvPr id="6" name="AutoShape 6"/>
          <p:cNvSpPr/>
          <p:nvPr/>
        </p:nvSpPr>
        <p:spPr>
          <a:xfrm>
            <a:off x="0" y="6781800"/>
            <a:ext cx="12192000" cy="76200"/>
          </a:xfrm>
          <a:prstGeom prst="roundRect">
            <a:avLst>
              <a:gd name="adj" fmla="val 0"/>
            </a:avLst>
          </a:prstGeom>
          <a:solidFill>
            <a:srgbClr val="0D6EFD">
              <a:alpha val="100000"/>
            </a:srgbClr>
          </a:solidFill>
          <a:ln w="25400" cap="flat" cmpd="sng">
            <a:noFill/>
            <a:prstDash val="solid"/>
            <a:round/>
          </a:ln>
        </p:spPr>
        <p:txBody>
          <a:bodyPr vert="horz" wrap="square" lIns="63500" tIns="63500" rIns="63500" bIns="63500" rtlCol="0" anchor="ctr"/>
          <a:lstStyle/>
          <a:p>
            <a:pPr algn="ctr">
              <a:defRPr/>
            </a:pPr>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508000"/>
            <a:ext cx="70358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0D6EFD"/>
                </a:solidFill>
                <a:latin typeface="Noto Sans SC"/>
                <a:ea typeface="Noto Sans SC"/>
                <a:cs typeface="Noto Sans SC"/>
                <a:sym typeface="Noto Sans SC"/>
              </a:rPr>
              <a:t>未来研究方向：迭代优化计划</a:t>
            </a:r>
            <a:endParaRPr lang="en-US" sz="1100"/>
          </a:p>
        </p:txBody>
      </p:sp>
      <p:sp>
        <p:nvSpPr>
          <p:cNvPr id="5" name="AutoShape 5"/>
          <p:cNvSpPr/>
          <p:nvPr/>
        </p:nvSpPr>
        <p:spPr>
          <a:xfrm>
            <a:off x="762000" y="1651000"/>
            <a:ext cx="3302000" cy="3556000"/>
          </a:xfrm>
          <a:prstGeom prst="roundRect">
            <a:avLst>
              <a:gd name="adj" fmla="val 3846"/>
            </a:avLst>
          </a:prstGeom>
          <a:solidFill>
            <a:srgbClr val="FFFFFF">
              <a:alpha val="100000"/>
            </a:srgbClr>
          </a:solidFill>
          <a:ln w="25400" cap="flat" cmpd="sng">
            <a:noFill/>
            <a:prstDash val="solid"/>
            <a:round/>
          </a:ln>
          <a:effectLst>
            <a:outerShdw blurRad="127000" dist="50800" dir="5400000" algn="tl" rotWithShape="0">
              <a:srgbClr val="000000">
                <a:alpha val="10000"/>
              </a:srgbClr>
            </a:outerShdw>
          </a:effectLst>
        </p:spPr>
        <p:txBody>
          <a:bodyPr vert="horz" wrap="square" lIns="63500" tIns="63500" rIns="63500" bIns="63500" rtlCol="0" anchor="ctr"/>
          <a:lstStyle/>
          <a:p>
            <a:pPr algn="ctr">
              <a:defRPr/>
            </a:pPr>
            <a:endParaRPr/>
          </a:p>
        </p:txBody>
      </p:sp>
      <p:sp>
        <p:nvSpPr>
          <p:cNvPr id="6" name="AutoShape 6"/>
          <p:cNvSpPr/>
          <p:nvPr/>
        </p:nvSpPr>
        <p:spPr>
          <a:xfrm>
            <a:off x="762000" y="1651000"/>
            <a:ext cx="3302000" cy="76200"/>
          </a:xfrm>
          <a:prstGeom prst="roundRect">
            <a:avLst>
              <a:gd name="adj" fmla="val 166666"/>
            </a:avLst>
          </a:prstGeom>
          <a:solidFill>
            <a:srgbClr val="0D6EFD">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7" name="Picture 7"/>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1905000"/>
            <a:ext cx="406400" cy="406400"/>
          </a:xfrm>
          <a:prstGeom prst="rect">
            <a:avLst/>
          </a:prstGeom>
        </p:spPr>
      </p:pic>
      <p:sp>
        <p:nvSpPr>
          <p:cNvPr id="8" name="AutoShape 8"/>
          <p:cNvSpPr/>
          <p:nvPr/>
        </p:nvSpPr>
        <p:spPr>
          <a:xfrm>
            <a:off x="1524000" y="18796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212529"/>
                </a:solidFill>
                <a:latin typeface="Noto Sans SC"/>
                <a:ea typeface="Noto Sans SC"/>
                <a:cs typeface="Noto Sans SC"/>
                <a:sym typeface="Noto Sans SC"/>
              </a:rPr>
              <a:t>短期 (v1.1)</a:t>
            </a:r>
            <a:endParaRPr lang="en-US" sz="1100"/>
          </a:p>
        </p:txBody>
      </p:sp>
      <p:sp>
        <p:nvSpPr>
          <p:cNvPr id="9" name="AutoShape 9"/>
          <p:cNvSpPr/>
          <p:nvPr/>
        </p:nvSpPr>
        <p:spPr>
          <a:xfrm>
            <a:off x="1016000" y="2413000"/>
            <a:ext cx="2794000" cy="2286000"/>
          </a:xfrm>
          <a:prstGeom prst="rect">
            <a:avLst/>
          </a:prstGeom>
          <a:noFill/>
          <a:ln w="12700" cap="flat" cmpd="sng">
            <a:noFill/>
            <a:prstDash val="solid"/>
            <a:round/>
          </a:ln>
        </p:spPr>
        <p:txBody>
          <a:bodyPr vert="horz" wrap="square" lIns="0" tIns="0" rIns="0" bIns="0" rtlCol="0" anchor="ctr" anchorCtr="0"/>
          <a:lstStyle/>
          <a:p>
            <a:pPr marL="177800" indent="-177800" algn="l">
              <a:lnSpc>
                <a:spcPct val="108333"/>
              </a:lnSpc>
              <a:buClr>
                <a:srgbClr val="6C757D"/>
              </a:buClr>
              <a:buChar char="•"/>
              <a:defRPr/>
            </a:pPr>
            <a:r>
              <a:rPr lang="en-US" sz="1400" b="0" i="0" u="none" strike="noStrike">
                <a:solidFill>
                  <a:srgbClr val="6C757D"/>
                </a:solidFill>
                <a:latin typeface="Noto Sans SC"/>
                <a:ea typeface="Noto Sans SC"/>
                <a:cs typeface="Noto Sans SC"/>
                <a:sym typeface="Noto Sans SC"/>
              </a:rPr>
              <a:t>实现本地存储，支持数据持久化</a:t>
            </a:r>
            <a:endParaRPr lang="en-US" sz="1100"/>
          </a:p>
          <a:p>
            <a:pPr marL="177800" indent="-177800" algn="l">
              <a:lnSpc>
                <a:spcPct val="108333"/>
              </a:lnSpc>
              <a:buClr>
                <a:srgbClr val="6C757D"/>
              </a:buClr>
              <a:buChar char="•"/>
            </a:pPr>
            <a:r>
              <a:rPr lang="en-US" sz="1400" b="0" i="0" u="none" strike="noStrike">
                <a:solidFill>
                  <a:srgbClr val="6C757D"/>
                </a:solidFill>
                <a:latin typeface="Noto Sans SC"/>
                <a:ea typeface="Noto Sans SC"/>
                <a:cs typeface="Noto Sans SC"/>
                <a:sym typeface="Noto Sans SC"/>
              </a:rPr>
              <a:t>增加决策结果导出功能（如导出为Excel）</a:t>
            </a:r>
          </a:p>
          <a:p>
            <a:pPr marL="177800" indent="-177800" algn="l">
              <a:lnSpc>
                <a:spcPct val="108333"/>
              </a:lnSpc>
              <a:buClr>
                <a:srgbClr val="6C757D"/>
              </a:buClr>
              <a:buChar char="•"/>
            </a:pPr>
            <a:r>
              <a:rPr lang="en-US" sz="1400" b="0" i="0" u="none" strike="noStrike">
                <a:solidFill>
                  <a:srgbClr val="6C757D"/>
                </a:solidFill>
                <a:latin typeface="Noto Sans SC"/>
                <a:ea typeface="Noto Sans SC"/>
                <a:cs typeface="Noto Sans SC"/>
                <a:sym typeface="Noto Sans SC"/>
              </a:rPr>
              <a:t>支持多OKR并行管理</a:t>
            </a:r>
          </a:p>
        </p:txBody>
      </p:sp>
      <p:sp>
        <p:nvSpPr>
          <p:cNvPr id="10" name="AutoShape 10"/>
          <p:cNvSpPr/>
          <p:nvPr/>
        </p:nvSpPr>
        <p:spPr>
          <a:xfrm>
            <a:off x="4445000" y="1651000"/>
            <a:ext cx="3302000" cy="3556000"/>
          </a:xfrm>
          <a:prstGeom prst="roundRect">
            <a:avLst>
              <a:gd name="adj" fmla="val 3846"/>
            </a:avLst>
          </a:prstGeom>
          <a:solidFill>
            <a:srgbClr val="FFFFFF">
              <a:alpha val="100000"/>
            </a:srgbClr>
          </a:solidFill>
          <a:ln w="25400" cap="flat" cmpd="sng">
            <a:noFill/>
            <a:prstDash val="solid"/>
            <a:round/>
          </a:ln>
          <a:effectLst>
            <a:outerShdw blurRad="127000" dist="50800" dir="5400000" algn="tl" rotWithShape="0">
              <a:srgbClr val="000000">
                <a:alpha val="10000"/>
              </a:srgbClr>
            </a:outerShdw>
          </a:effectLst>
        </p:spPr>
        <p:txBody>
          <a:bodyPr vert="horz" wrap="square" lIns="63500" tIns="63500" rIns="63500" bIns="63500" rtlCol="0" anchor="ctr"/>
          <a:lstStyle/>
          <a:p>
            <a:pPr algn="ctr">
              <a:defRPr/>
            </a:pPr>
            <a:endParaRPr/>
          </a:p>
        </p:txBody>
      </p:sp>
      <p:sp>
        <p:nvSpPr>
          <p:cNvPr id="11" name="AutoShape 11"/>
          <p:cNvSpPr/>
          <p:nvPr/>
        </p:nvSpPr>
        <p:spPr>
          <a:xfrm>
            <a:off x="4445000" y="1651000"/>
            <a:ext cx="3302000" cy="76200"/>
          </a:xfrm>
          <a:prstGeom prst="roundRect">
            <a:avLst>
              <a:gd name="adj" fmla="val 166666"/>
            </a:avLst>
          </a:prstGeom>
          <a:solidFill>
            <a:srgbClr val="0D6EFD">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2" name="Picture 12"/>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699000" y="1905000"/>
            <a:ext cx="406400" cy="406400"/>
          </a:xfrm>
          <a:prstGeom prst="rect">
            <a:avLst/>
          </a:prstGeom>
        </p:spPr>
      </p:pic>
      <p:sp>
        <p:nvSpPr>
          <p:cNvPr id="13" name="AutoShape 13"/>
          <p:cNvSpPr/>
          <p:nvPr/>
        </p:nvSpPr>
        <p:spPr>
          <a:xfrm>
            <a:off x="5207000" y="18796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212529"/>
                </a:solidFill>
                <a:latin typeface="Noto Sans SC"/>
                <a:ea typeface="Noto Sans SC"/>
                <a:cs typeface="Noto Sans SC"/>
                <a:sym typeface="Noto Sans SC"/>
              </a:rPr>
              <a:t>中期 (v2.0)</a:t>
            </a:r>
            <a:endParaRPr lang="en-US" sz="1100"/>
          </a:p>
        </p:txBody>
      </p:sp>
      <p:sp>
        <p:nvSpPr>
          <p:cNvPr id="14" name="AutoShape 14"/>
          <p:cNvSpPr/>
          <p:nvPr/>
        </p:nvSpPr>
        <p:spPr>
          <a:xfrm>
            <a:off x="4699000" y="2413000"/>
            <a:ext cx="2794000" cy="2286000"/>
          </a:xfrm>
          <a:prstGeom prst="rect">
            <a:avLst/>
          </a:prstGeom>
          <a:noFill/>
          <a:ln w="12700" cap="flat" cmpd="sng">
            <a:noFill/>
            <a:prstDash val="solid"/>
            <a:round/>
          </a:ln>
        </p:spPr>
        <p:txBody>
          <a:bodyPr vert="horz" wrap="square" lIns="0" tIns="0" rIns="0" bIns="0" rtlCol="0" anchor="ctr" anchorCtr="0"/>
          <a:lstStyle/>
          <a:p>
            <a:pPr marL="177800" indent="-177800" algn="l">
              <a:lnSpc>
                <a:spcPct val="108333"/>
              </a:lnSpc>
              <a:buClr>
                <a:srgbClr val="6C757D"/>
              </a:buClr>
              <a:buChar char="•"/>
              <a:defRPr/>
            </a:pPr>
            <a:r>
              <a:rPr lang="en-US" sz="1400" b="0" i="0" u="none" strike="noStrike">
                <a:solidFill>
                  <a:srgbClr val="6C757D"/>
                </a:solidFill>
                <a:latin typeface="Noto Sans SC"/>
                <a:ea typeface="Noto Sans SC"/>
                <a:cs typeface="Noto Sans SC"/>
                <a:sym typeface="Noto Sans SC"/>
              </a:rPr>
              <a:t>引入模糊AHP理论，处理模糊评价信息</a:t>
            </a:r>
            <a:endParaRPr lang="en-US" sz="1100"/>
          </a:p>
          <a:p>
            <a:pPr marL="177800" indent="-177800" algn="l">
              <a:lnSpc>
                <a:spcPct val="108333"/>
              </a:lnSpc>
              <a:buClr>
                <a:srgbClr val="6C757D"/>
              </a:buClr>
              <a:buChar char="•"/>
            </a:pPr>
            <a:r>
              <a:rPr lang="en-US" sz="1400" b="0" i="0" u="none" strike="noStrike">
                <a:solidFill>
                  <a:srgbClr val="6C757D"/>
                </a:solidFill>
                <a:latin typeface="Noto Sans SC"/>
                <a:ea typeface="Noto Sans SC"/>
                <a:cs typeface="Noto Sans SC"/>
                <a:sym typeface="Noto Sans SC"/>
              </a:rPr>
              <a:t>增加敏感性分析模块，评估权重影响</a:t>
            </a:r>
          </a:p>
          <a:p>
            <a:pPr marL="177800" indent="-177800" algn="l">
              <a:lnSpc>
                <a:spcPct val="108333"/>
              </a:lnSpc>
              <a:buClr>
                <a:srgbClr val="6C757D"/>
              </a:buClr>
              <a:buChar char="•"/>
            </a:pPr>
            <a:r>
              <a:rPr lang="en-US" sz="1400" b="0" i="0" u="none" strike="noStrike">
                <a:solidFill>
                  <a:srgbClr val="6C757D"/>
                </a:solidFill>
                <a:latin typeface="Noto Sans SC"/>
                <a:ea typeface="Noto Sans SC"/>
                <a:cs typeface="Noto Sans SC"/>
                <a:sym typeface="Noto Sans SC"/>
              </a:rPr>
              <a:t>支持团队协作，多人共同参与决策</a:t>
            </a:r>
          </a:p>
        </p:txBody>
      </p:sp>
      <p:sp>
        <p:nvSpPr>
          <p:cNvPr id="15" name="AutoShape 15"/>
          <p:cNvSpPr/>
          <p:nvPr/>
        </p:nvSpPr>
        <p:spPr>
          <a:xfrm>
            <a:off x="8128000" y="1651000"/>
            <a:ext cx="3302000" cy="3556000"/>
          </a:xfrm>
          <a:prstGeom prst="roundRect">
            <a:avLst>
              <a:gd name="adj" fmla="val 3846"/>
            </a:avLst>
          </a:prstGeom>
          <a:solidFill>
            <a:srgbClr val="FFFFFF">
              <a:alpha val="100000"/>
            </a:srgbClr>
          </a:solidFill>
          <a:ln w="25400" cap="flat" cmpd="sng">
            <a:noFill/>
            <a:prstDash val="solid"/>
            <a:round/>
          </a:ln>
          <a:effectLst>
            <a:outerShdw blurRad="127000" dist="50800" dir="5400000" algn="tl" rotWithShape="0">
              <a:srgbClr val="000000">
                <a:alpha val="10000"/>
              </a:srgbClr>
            </a:outerShdw>
          </a:effectLst>
        </p:spPr>
        <p:txBody>
          <a:bodyPr vert="horz" wrap="square" lIns="63500" tIns="63500" rIns="63500" bIns="63500" rtlCol="0" anchor="ctr"/>
          <a:lstStyle/>
          <a:p>
            <a:pPr algn="ctr">
              <a:defRPr/>
            </a:pPr>
            <a:endParaRPr/>
          </a:p>
        </p:txBody>
      </p:sp>
      <p:sp>
        <p:nvSpPr>
          <p:cNvPr id="16" name="AutoShape 16"/>
          <p:cNvSpPr/>
          <p:nvPr/>
        </p:nvSpPr>
        <p:spPr>
          <a:xfrm>
            <a:off x="8128000" y="1651000"/>
            <a:ext cx="3302000" cy="76200"/>
          </a:xfrm>
          <a:prstGeom prst="roundRect">
            <a:avLst>
              <a:gd name="adj" fmla="val 166666"/>
            </a:avLst>
          </a:prstGeom>
          <a:solidFill>
            <a:srgbClr val="0D6EFD">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7" name="Picture 17"/>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382000" y="1905000"/>
            <a:ext cx="406400" cy="406400"/>
          </a:xfrm>
          <a:prstGeom prst="rect">
            <a:avLst/>
          </a:prstGeom>
        </p:spPr>
      </p:pic>
      <p:sp>
        <p:nvSpPr>
          <p:cNvPr id="18" name="AutoShape 18"/>
          <p:cNvSpPr/>
          <p:nvPr/>
        </p:nvSpPr>
        <p:spPr>
          <a:xfrm>
            <a:off x="8890000" y="18796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212529"/>
                </a:solidFill>
                <a:latin typeface="Noto Sans SC"/>
                <a:ea typeface="Noto Sans SC"/>
                <a:cs typeface="Noto Sans SC"/>
                <a:sym typeface="Noto Sans SC"/>
              </a:rPr>
              <a:t>长期规划</a:t>
            </a:r>
            <a:endParaRPr lang="en-US" sz="1100"/>
          </a:p>
        </p:txBody>
      </p:sp>
      <p:sp>
        <p:nvSpPr>
          <p:cNvPr id="19" name="AutoShape 19"/>
          <p:cNvSpPr/>
          <p:nvPr/>
        </p:nvSpPr>
        <p:spPr>
          <a:xfrm>
            <a:off x="8382000" y="2413000"/>
            <a:ext cx="2794000" cy="2286000"/>
          </a:xfrm>
          <a:prstGeom prst="rect">
            <a:avLst/>
          </a:prstGeom>
          <a:noFill/>
          <a:ln w="12700" cap="flat" cmpd="sng">
            <a:noFill/>
            <a:prstDash val="solid"/>
            <a:round/>
          </a:ln>
        </p:spPr>
        <p:txBody>
          <a:bodyPr vert="horz" wrap="square" lIns="0" tIns="0" rIns="0" bIns="0" rtlCol="0" anchor="ctr" anchorCtr="0"/>
          <a:lstStyle/>
          <a:p>
            <a:pPr marL="177800" indent="-177800" algn="l">
              <a:lnSpc>
                <a:spcPct val="108333"/>
              </a:lnSpc>
              <a:buClr>
                <a:srgbClr val="6C757D"/>
              </a:buClr>
              <a:buChar char="•"/>
              <a:defRPr/>
            </a:pPr>
            <a:r>
              <a:rPr lang="en-US" sz="1400" b="0" i="0" u="none" strike="noStrike">
                <a:solidFill>
                  <a:srgbClr val="6C757D"/>
                </a:solidFill>
                <a:latin typeface="Noto Sans SC"/>
                <a:ea typeface="Noto Sans SC"/>
                <a:cs typeface="Noto Sans SC"/>
                <a:sym typeface="Noto Sans SC"/>
              </a:rPr>
              <a:t>集成机器学习，实现智能推荐与自动学习</a:t>
            </a:r>
            <a:endParaRPr lang="en-US" sz="1100"/>
          </a:p>
          <a:p>
            <a:pPr marL="177800" indent="-177800" algn="l">
              <a:lnSpc>
                <a:spcPct val="108333"/>
              </a:lnSpc>
              <a:buClr>
                <a:srgbClr val="6C757D"/>
              </a:buClr>
              <a:buChar char="•"/>
            </a:pPr>
            <a:r>
              <a:rPr lang="en-US" sz="1400" b="0" i="0" u="none" strike="noStrike">
                <a:solidFill>
                  <a:srgbClr val="6C757D"/>
                </a:solidFill>
                <a:latin typeface="Noto Sans SC"/>
                <a:ea typeface="Noto Sans SC"/>
                <a:cs typeface="Noto Sans SC"/>
                <a:sym typeface="Noto Sans SC"/>
              </a:rPr>
              <a:t>对接主流项目管理工具API（如Jira）</a:t>
            </a:r>
          </a:p>
          <a:p>
            <a:pPr marL="177800" indent="-177800" algn="l">
              <a:lnSpc>
                <a:spcPct val="108333"/>
              </a:lnSpc>
              <a:buClr>
                <a:srgbClr val="6C757D"/>
              </a:buClr>
              <a:buChar char="•"/>
            </a:pPr>
            <a:r>
              <a:rPr lang="en-US" sz="1400" b="0" i="0" u="none" strike="noStrike">
                <a:solidFill>
                  <a:srgbClr val="6C757D"/>
                </a:solidFill>
                <a:latin typeface="Noto Sans SC"/>
                <a:ea typeface="Noto Sans SC"/>
                <a:cs typeface="Noto Sans SC"/>
                <a:sym typeface="Noto Sans SC"/>
              </a:rPr>
              <a:t>提供多语言国际化支持</a:t>
            </a:r>
          </a:p>
        </p:txBody>
      </p:sp>
      <p:sp>
        <p:nvSpPr>
          <p:cNvPr id="20" name="AutoShape 20"/>
          <p:cNvSpPr/>
          <p:nvPr/>
        </p:nvSpPr>
        <p:spPr>
          <a:xfrm>
            <a:off x="0" y="6807200"/>
            <a:ext cx="12192000" cy="50800"/>
          </a:xfrm>
          <a:prstGeom prst="roundRect">
            <a:avLst>
              <a:gd name="adj" fmla="val 0"/>
            </a:avLst>
          </a:prstGeom>
          <a:solidFill>
            <a:srgbClr val="0D6EFD">
              <a:alpha val="100000"/>
            </a:srgbClr>
          </a:solidFill>
          <a:ln w="25400" cap="flat" cmpd="sng">
            <a:noFill/>
            <a:prstDash val="solid"/>
            <a:round/>
          </a:ln>
        </p:spPr>
        <p:txBody>
          <a:bodyPr vert="horz" wrap="square" lIns="63500" tIns="63500" rIns="63500" bIns="63500" rtlCol="0" anchor="ctr"/>
          <a:lstStyle/>
          <a:p>
            <a:pPr algn="ctr">
              <a:defRPr/>
            </a:pPr>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762000" y="508000"/>
            <a:ext cx="2032000" cy="5842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dirty="0" err="1">
                <a:solidFill>
                  <a:srgbClr val="0D6EFD"/>
                </a:solidFill>
                <a:latin typeface="Noto Sans SC"/>
                <a:ea typeface="Noto Sans SC"/>
                <a:cs typeface="Noto Sans SC"/>
                <a:sym typeface="Noto Sans SC"/>
              </a:rPr>
              <a:t>研究总结</a:t>
            </a:r>
            <a:endParaRPr lang="en-US" sz="1100" dirty="0"/>
          </a:p>
        </p:txBody>
      </p:sp>
      <p:sp>
        <p:nvSpPr>
          <p:cNvPr id="4" name="AutoShape 4"/>
          <p:cNvSpPr/>
          <p:nvPr/>
        </p:nvSpPr>
        <p:spPr>
          <a:xfrm>
            <a:off x="762000" y="1397000"/>
            <a:ext cx="508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212529"/>
                </a:solidFill>
                <a:latin typeface="Noto Sans SC"/>
                <a:ea typeface="Noto Sans SC"/>
                <a:cs typeface="Noto Sans SC"/>
                <a:sym typeface="Noto Sans SC"/>
              </a:rPr>
              <a:t>核心成果</a:t>
            </a:r>
            <a:endParaRPr lang="en-US" sz="1100"/>
          </a:p>
        </p:txBody>
      </p:sp>
      <p:sp>
        <p:nvSpPr>
          <p:cNvPr id="5" name="AutoShape 5"/>
          <p:cNvSpPr/>
          <p:nvPr/>
        </p:nvSpPr>
        <p:spPr>
          <a:xfrm>
            <a:off x="762000" y="1905000"/>
            <a:ext cx="5080000" cy="952500"/>
          </a:xfrm>
          <a:prstGeom prst="roundRect">
            <a:avLst>
              <a:gd name="adj" fmla="val 13333"/>
            </a:avLst>
          </a:prstGeom>
          <a:solidFill>
            <a:srgbClr val="FFFFFF">
              <a:alpha val="90000"/>
            </a:srgbClr>
          </a:solidFill>
          <a:ln w="12700" cap="flat" cmpd="sng">
            <a:solidFill>
              <a:srgbClr val="E5E7EB">
                <a:alpha val="100000"/>
              </a:srgbClr>
            </a:solidFill>
            <a:prstDash val="solid"/>
            <a:round/>
          </a:ln>
          <a:effectLst>
            <a:outerShdw blurRad="101600" dist="50800" dir="5400000" algn="tl" rotWithShape="0">
              <a:srgbClr val="000000">
                <a:alpha val="5000"/>
              </a:srgbClr>
            </a:outerShdw>
          </a:effectLst>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52500" y="2095500"/>
            <a:ext cx="304800" cy="304800"/>
          </a:xfrm>
          <a:prstGeom prst="rect">
            <a:avLst/>
          </a:prstGeom>
        </p:spPr>
      </p:pic>
      <p:sp>
        <p:nvSpPr>
          <p:cNvPr id="7" name="AutoShape 7"/>
          <p:cNvSpPr/>
          <p:nvPr/>
        </p:nvSpPr>
        <p:spPr>
          <a:xfrm>
            <a:off x="1397000" y="2006600"/>
            <a:ext cx="4318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dirty="0" err="1">
                <a:solidFill>
                  <a:srgbClr val="0D6EFD"/>
                </a:solidFill>
                <a:latin typeface="Noto Sans SC"/>
                <a:ea typeface="Noto Sans SC"/>
                <a:cs typeface="Noto Sans SC"/>
                <a:sym typeface="Noto Sans SC"/>
              </a:rPr>
              <a:t>问题解决</a:t>
            </a:r>
            <a:endParaRPr lang="en-US" sz="1100" dirty="0"/>
          </a:p>
          <a:p>
            <a:pPr indent="0" algn="l">
              <a:lnSpc>
                <a:spcPct val="125000"/>
              </a:lnSpc>
            </a:pPr>
            <a:r>
              <a:rPr lang="en-US" sz="1300" b="0" i="0" u="none" strike="noStrike" dirty="0" err="1">
                <a:solidFill>
                  <a:srgbClr val="6C757D"/>
                </a:solidFill>
                <a:latin typeface="Noto Sans SC"/>
                <a:ea typeface="Noto Sans SC"/>
                <a:cs typeface="Noto Sans SC"/>
                <a:sym typeface="Noto Sans SC"/>
              </a:rPr>
              <a:t>成功为OKR落地中的方案决策问题提供了一套科学、量化的解决方法</a:t>
            </a:r>
            <a:r>
              <a:rPr lang="en-US" sz="1300" b="0" i="0" u="none" strike="noStrike" dirty="0">
                <a:solidFill>
                  <a:srgbClr val="6C757D"/>
                </a:solidFill>
                <a:latin typeface="Noto Sans SC"/>
                <a:ea typeface="Noto Sans SC"/>
                <a:cs typeface="Noto Sans SC"/>
                <a:sym typeface="Noto Sans SC"/>
              </a:rPr>
              <a:t>。</a:t>
            </a:r>
          </a:p>
        </p:txBody>
      </p:sp>
      <p:sp>
        <p:nvSpPr>
          <p:cNvPr id="8" name="AutoShape 8"/>
          <p:cNvSpPr/>
          <p:nvPr/>
        </p:nvSpPr>
        <p:spPr>
          <a:xfrm>
            <a:off x="762000" y="2984500"/>
            <a:ext cx="5080000" cy="952500"/>
          </a:xfrm>
          <a:prstGeom prst="roundRect">
            <a:avLst>
              <a:gd name="adj" fmla="val 13333"/>
            </a:avLst>
          </a:prstGeom>
          <a:solidFill>
            <a:srgbClr val="FFFFFF">
              <a:alpha val="90000"/>
            </a:srgbClr>
          </a:solidFill>
          <a:ln w="12700" cap="flat" cmpd="sng">
            <a:solidFill>
              <a:srgbClr val="E5E7EB">
                <a:alpha val="100000"/>
              </a:srgbClr>
            </a:solidFill>
            <a:prstDash val="solid"/>
            <a:round/>
          </a:ln>
          <a:effectLst>
            <a:outerShdw blurRad="101600" dist="50800" dir="5400000" algn="tl" rotWithShape="0">
              <a:srgbClr val="000000">
                <a:alpha val="5000"/>
              </a:srgbClr>
            </a:outerShdw>
          </a:effectLst>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52500" y="3175000"/>
            <a:ext cx="304800" cy="304800"/>
          </a:xfrm>
          <a:prstGeom prst="rect">
            <a:avLst/>
          </a:prstGeom>
        </p:spPr>
      </p:pic>
      <p:sp>
        <p:nvSpPr>
          <p:cNvPr id="10" name="AutoShape 10"/>
          <p:cNvSpPr/>
          <p:nvPr/>
        </p:nvSpPr>
        <p:spPr>
          <a:xfrm>
            <a:off x="1397000" y="3086100"/>
            <a:ext cx="4318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D6EFD"/>
                </a:solidFill>
                <a:latin typeface="Noto Sans SC"/>
                <a:ea typeface="Noto Sans SC"/>
                <a:cs typeface="Noto Sans SC"/>
                <a:sym typeface="Noto Sans SC"/>
              </a:rPr>
              <a:t>工具实现</a:t>
            </a:r>
            <a:endParaRPr lang="en-US" sz="1100"/>
          </a:p>
          <a:p>
            <a:pPr indent="0" algn="l">
              <a:lnSpc>
                <a:spcPct val="125000"/>
              </a:lnSpc>
            </a:pPr>
            <a:r>
              <a:rPr lang="en-US" sz="1300" b="0" i="0" u="none" strike="noStrike">
                <a:solidFill>
                  <a:srgbClr val="6C757D"/>
                </a:solidFill>
                <a:latin typeface="Noto Sans SC"/>
                <a:ea typeface="Noto Sans SC"/>
                <a:cs typeface="Noto Sans SC"/>
                <a:sym typeface="Noto Sans SC"/>
              </a:rPr>
              <a:t>构建了一个易用、高效的多准则决策支持系统，填补了市场空白。</a:t>
            </a:r>
          </a:p>
        </p:txBody>
      </p:sp>
      <p:sp>
        <p:nvSpPr>
          <p:cNvPr id="11" name="AutoShape 11"/>
          <p:cNvSpPr/>
          <p:nvPr/>
        </p:nvSpPr>
        <p:spPr>
          <a:xfrm>
            <a:off x="762000" y="4064000"/>
            <a:ext cx="5080000" cy="952500"/>
          </a:xfrm>
          <a:prstGeom prst="roundRect">
            <a:avLst>
              <a:gd name="adj" fmla="val 13333"/>
            </a:avLst>
          </a:prstGeom>
          <a:solidFill>
            <a:srgbClr val="FFFFFF">
              <a:alpha val="90000"/>
            </a:srgbClr>
          </a:solidFill>
          <a:ln w="12700" cap="flat" cmpd="sng">
            <a:solidFill>
              <a:srgbClr val="E5E7EB">
                <a:alpha val="100000"/>
              </a:srgbClr>
            </a:solidFill>
            <a:prstDash val="solid"/>
            <a:round/>
          </a:ln>
          <a:effectLst>
            <a:outerShdw blurRad="101600" dist="50800" dir="5400000" algn="tl" rotWithShape="0">
              <a:srgbClr val="000000">
                <a:alpha val="5000"/>
              </a:srgbClr>
            </a:outerShdw>
          </a:effectLst>
        </p:spPr>
        <p:txBody>
          <a:bodyPr vert="horz" wrap="square" lIns="63500" tIns="63500" rIns="63500" bIns="63500" rtlCol="0" anchor="ctr"/>
          <a:lstStyle/>
          <a:p>
            <a:pPr algn="ctr">
              <a:defRPr/>
            </a:pPr>
            <a:endParaRPr/>
          </a:p>
        </p:txBody>
      </p:sp>
      <p:pic>
        <p:nvPicPr>
          <p:cNvPr id="12" name="Picture 12"/>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52500" y="4254500"/>
            <a:ext cx="304800" cy="304800"/>
          </a:xfrm>
          <a:prstGeom prst="rect">
            <a:avLst/>
          </a:prstGeom>
        </p:spPr>
      </p:pic>
      <p:sp>
        <p:nvSpPr>
          <p:cNvPr id="13" name="AutoShape 13"/>
          <p:cNvSpPr/>
          <p:nvPr/>
        </p:nvSpPr>
        <p:spPr>
          <a:xfrm>
            <a:off x="1397000" y="4165600"/>
            <a:ext cx="4318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D6EFD"/>
                </a:solidFill>
                <a:latin typeface="Noto Sans SC"/>
                <a:ea typeface="Noto Sans SC"/>
                <a:cs typeface="Noto Sans SC"/>
                <a:sym typeface="Noto Sans SC"/>
              </a:rPr>
              <a:t>方法创新</a:t>
            </a:r>
            <a:endParaRPr lang="en-US" sz="1100"/>
          </a:p>
          <a:p>
            <a:pPr indent="0" algn="l">
              <a:lnSpc>
                <a:spcPct val="125000"/>
              </a:lnSpc>
            </a:pPr>
            <a:r>
              <a:rPr lang="en-US" sz="1300" b="0" i="0" u="none" strike="noStrike">
                <a:solidFill>
                  <a:srgbClr val="6C757D"/>
                </a:solidFill>
                <a:latin typeface="Noto Sans SC"/>
                <a:ea typeface="Noto Sans SC"/>
                <a:cs typeface="Noto Sans SC"/>
                <a:sym typeface="Noto Sans SC"/>
              </a:rPr>
              <a:t>设计了直观的“问答式AHP”交互界面，显著降低了复杂决策门槛。</a:t>
            </a:r>
          </a:p>
        </p:txBody>
      </p:sp>
      <p:sp>
        <p:nvSpPr>
          <p:cNvPr id="14" name="AutoShape 14"/>
          <p:cNvSpPr/>
          <p:nvPr/>
        </p:nvSpPr>
        <p:spPr>
          <a:xfrm>
            <a:off x="762000" y="5143500"/>
            <a:ext cx="5080000" cy="952500"/>
          </a:xfrm>
          <a:prstGeom prst="roundRect">
            <a:avLst>
              <a:gd name="adj" fmla="val 13333"/>
            </a:avLst>
          </a:prstGeom>
          <a:solidFill>
            <a:srgbClr val="FFFFFF">
              <a:alpha val="90000"/>
            </a:srgbClr>
          </a:solidFill>
          <a:ln w="12700" cap="flat" cmpd="sng">
            <a:solidFill>
              <a:srgbClr val="E5E7EB">
                <a:alpha val="100000"/>
              </a:srgbClr>
            </a:solidFill>
            <a:prstDash val="solid"/>
            <a:round/>
          </a:ln>
          <a:effectLst>
            <a:outerShdw blurRad="101600" dist="50800" dir="5400000" algn="tl" rotWithShape="0">
              <a:srgbClr val="000000">
                <a:alpha val="5000"/>
              </a:srgbClr>
            </a:outerShdw>
          </a:effectLst>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952500" y="5334000"/>
            <a:ext cx="304800" cy="304800"/>
          </a:xfrm>
          <a:prstGeom prst="rect">
            <a:avLst/>
          </a:prstGeom>
        </p:spPr>
      </p:pic>
      <p:sp>
        <p:nvSpPr>
          <p:cNvPr id="16" name="AutoShape 16"/>
          <p:cNvSpPr/>
          <p:nvPr/>
        </p:nvSpPr>
        <p:spPr>
          <a:xfrm>
            <a:off x="1397000" y="5245100"/>
            <a:ext cx="4318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D6EFD"/>
                </a:solidFill>
                <a:latin typeface="Noto Sans SC"/>
                <a:ea typeface="Noto Sans SC"/>
                <a:cs typeface="Noto Sans SC"/>
                <a:sym typeface="Noto Sans SC"/>
              </a:rPr>
              <a:t>实验验证</a:t>
            </a:r>
            <a:endParaRPr lang="en-US" sz="1100"/>
          </a:p>
          <a:p>
            <a:pPr indent="0" algn="l">
              <a:lnSpc>
                <a:spcPct val="125000"/>
              </a:lnSpc>
            </a:pPr>
            <a:r>
              <a:rPr lang="en-US" sz="1300" b="0" i="0" u="none" strike="noStrike">
                <a:solidFill>
                  <a:srgbClr val="6C757D"/>
                </a:solidFill>
                <a:latin typeface="Noto Sans SC"/>
                <a:ea typeface="Noto Sans SC"/>
                <a:cs typeface="Noto Sans SC"/>
                <a:sym typeface="Noto Sans SC"/>
              </a:rPr>
              <a:t>通过多维度实验，充分证明了工具在易用性、准确性和效率上的优势。</a:t>
            </a:r>
          </a:p>
        </p:txBody>
      </p:sp>
      <p:sp>
        <p:nvSpPr>
          <p:cNvPr id="17" name="AutoShape 17"/>
          <p:cNvSpPr/>
          <p:nvPr/>
        </p:nvSpPr>
        <p:spPr>
          <a:xfrm>
            <a:off x="6350000" y="1397000"/>
            <a:ext cx="457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212529"/>
                </a:solidFill>
                <a:latin typeface="Noto Sans SC"/>
                <a:ea typeface="Noto Sans SC"/>
                <a:cs typeface="Noto Sans SC"/>
                <a:sym typeface="Noto Sans SC"/>
              </a:rPr>
              <a:t>关键指标</a:t>
            </a:r>
            <a:endParaRPr lang="en-US" sz="1100"/>
          </a:p>
        </p:txBody>
      </p:sp>
      <p:sp>
        <p:nvSpPr>
          <p:cNvPr id="18" name="AutoShape 18"/>
          <p:cNvSpPr/>
          <p:nvPr/>
        </p:nvSpPr>
        <p:spPr>
          <a:xfrm>
            <a:off x="6350000" y="1905000"/>
            <a:ext cx="4572000" cy="1270000"/>
          </a:xfrm>
          <a:prstGeom prst="roundRect">
            <a:avLst>
              <a:gd name="adj" fmla="val 10000"/>
            </a:avLst>
          </a:prstGeom>
          <a:solidFill>
            <a:srgbClr val="FFFFFF">
              <a:alpha val="90000"/>
            </a:srgbClr>
          </a:solidFill>
          <a:ln w="12700" cap="flat" cmpd="sng">
            <a:solidFill>
              <a:srgbClr val="E5E7EB">
                <a:alpha val="100000"/>
              </a:srgbClr>
            </a:solidFill>
            <a:prstDash val="solid"/>
            <a:round/>
          </a:ln>
          <a:effectLst>
            <a:outerShdw blurRad="101600" dist="50800" dir="5400000" algn="tl" rotWithShape="0">
              <a:srgbClr val="000000">
                <a:alpha val="5000"/>
              </a:srgbClr>
            </a:outerShdw>
          </a:effectLst>
        </p:spPr>
        <p:txBody>
          <a:bodyPr vert="horz" wrap="square" lIns="63500" tIns="63500" rIns="63500" bIns="63500" rtlCol="0" anchor="ctr"/>
          <a:lstStyle/>
          <a:p>
            <a:pPr algn="ctr">
              <a:defRPr/>
            </a:pPr>
            <a:endParaRPr/>
          </a:p>
        </p:txBody>
      </p:sp>
      <p:pic>
        <p:nvPicPr>
          <p:cNvPr id="19" name="Picture 19"/>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604000" y="2336800"/>
            <a:ext cx="406400" cy="406400"/>
          </a:xfrm>
          <a:prstGeom prst="rect">
            <a:avLst/>
          </a:prstGeom>
        </p:spPr>
      </p:pic>
      <p:sp>
        <p:nvSpPr>
          <p:cNvPr id="20" name="AutoShape 20"/>
          <p:cNvSpPr/>
          <p:nvPr/>
        </p:nvSpPr>
        <p:spPr>
          <a:xfrm>
            <a:off x="7112000" y="2032000"/>
            <a:ext cx="3556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dirty="0" err="1">
                <a:solidFill>
                  <a:srgbClr val="6C757D"/>
                </a:solidFill>
                <a:latin typeface="Noto Sans SC"/>
                <a:ea typeface="Noto Sans SC"/>
                <a:cs typeface="Noto Sans SC"/>
                <a:sym typeface="Noto Sans SC"/>
              </a:rPr>
              <a:t>SUS可用性评分</a:t>
            </a:r>
            <a:endParaRPr lang="en-US" sz="1100" dirty="0"/>
          </a:p>
          <a:p>
            <a:pPr indent="0" algn="l">
              <a:lnSpc>
                <a:spcPct val="125000"/>
              </a:lnSpc>
            </a:pPr>
            <a:r>
              <a:rPr lang="en-US" sz="3200" b="1" i="0" u="none" strike="noStrike" dirty="0">
                <a:solidFill>
                  <a:srgbClr val="0D6EFD"/>
                </a:solidFill>
                <a:latin typeface="Noto Sans SC"/>
                <a:ea typeface="Noto Sans SC"/>
                <a:cs typeface="Noto Sans SC"/>
                <a:sym typeface="Noto Sans SC"/>
              </a:rPr>
              <a:t>82.5</a:t>
            </a:r>
            <a:r>
              <a:rPr lang="en-US" sz="1600" b="0" i="0" u="none" strike="noStrike" dirty="0">
                <a:solidFill>
                  <a:srgbClr val="0D6EFD"/>
                </a:solidFill>
                <a:latin typeface="Noto Sans SC"/>
                <a:ea typeface="Noto Sans SC"/>
                <a:cs typeface="Noto Sans SC"/>
                <a:sym typeface="Noto Sans SC"/>
              </a:rPr>
              <a:t>分 (</a:t>
            </a:r>
            <a:r>
              <a:rPr lang="en-US" sz="1600" b="0" i="0" u="none" strike="noStrike" dirty="0" err="1">
                <a:solidFill>
                  <a:srgbClr val="0D6EFD"/>
                </a:solidFill>
                <a:latin typeface="Noto Sans SC"/>
                <a:ea typeface="Noto Sans SC"/>
                <a:cs typeface="Noto Sans SC"/>
                <a:sym typeface="Noto Sans SC"/>
              </a:rPr>
              <a:t>良好</a:t>
            </a:r>
            <a:r>
              <a:rPr lang="en-US" sz="1600" b="0" i="0" u="none" strike="noStrike" dirty="0">
                <a:solidFill>
                  <a:srgbClr val="0D6EFD"/>
                </a:solidFill>
                <a:latin typeface="Noto Sans SC"/>
                <a:ea typeface="Noto Sans SC"/>
                <a:cs typeface="Noto Sans SC"/>
                <a:sym typeface="Noto Sans SC"/>
              </a:rPr>
              <a:t>)</a:t>
            </a:r>
          </a:p>
        </p:txBody>
      </p:sp>
      <p:sp>
        <p:nvSpPr>
          <p:cNvPr id="21" name="AutoShape 21"/>
          <p:cNvSpPr/>
          <p:nvPr/>
        </p:nvSpPr>
        <p:spPr>
          <a:xfrm>
            <a:off x="6350000" y="3365500"/>
            <a:ext cx="4572000" cy="1270000"/>
          </a:xfrm>
          <a:prstGeom prst="roundRect">
            <a:avLst>
              <a:gd name="adj" fmla="val 10000"/>
            </a:avLst>
          </a:prstGeom>
          <a:solidFill>
            <a:srgbClr val="FFFFFF">
              <a:alpha val="90000"/>
            </a:srgbClr>
          </a:solidFill>
          <a:ln w="12700" cap="flat" cmpd="sng">
            <a:solidFill>
              <a:srgbClr val="E5E7EB">
                <a:alpha val="100000"/>
              </a:srgbClr>
            </a:solidFill>
            <a:prstDash val="solid"/>
            <a:round/>
          </a:ln>
          <a:effectLst>
            <a:outerShdw blurRad="101600" dist="50800" dir="5400000" algn="tl" rotWithShape="0">
              <a:srgbClr val="000000">
                <a:alpha val="5000"/>
              </a:srgbClr>
            </a:outerShdw>
          </a:effectLst>
        </p:spPr>
        <p:txBody>
          <a:bodyPr vert="horz" wrap="square" lIns="63500" tIns="63500" rIns="63500" bIns="63500" rtlCol="0" anchor="ctr"/>
          <a:lstStyle/>
          <a:p>
            <a:pPr algn="ctr">
              <a:defRPr/>
            </a:pPr>
            <a:endParaRPr/>
          </a:p>
        </p:txBody>
      </p:sp>
      <p:pic>
        <p:nvPicPr>
          <p:cNvPr id="22" name="Picture 22"/>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6604000" y="3797300"/>
            <a:ext cx="406400" cy="406400"/>
          </a:xfrm>
          <a:prstGeom prst="rect">
            <a:avLst/>
          </a:prstGeom>
        </p:spPr>
      </p:pic>
      <p:sp>
        <p:nvSpPr>
          <p:cNvPr id="23" name="AutoShape 23"/>
          <p:cNvSpPr/>
          <p:nvPr/>
        </p:nvSpPr>
        <p:spPr>
          <a:xfrm>
            <a:off x="7112000" y="3492500"/>
            <a:ext cx="3556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dirty="0" err="1">
                <a:solidFill>
                  <a:srgbClr val="6C757D"/>
                </a:solidFill>
                <a:latin typeface="Noto Sans SC"/>
                <a:ea typeface="Noto Sans SC"/>
                <a:cs typeface="Noto Sans SC"/>
                <a:sym typeface="Noto Sans SC"/>
              </a:rPr>
              <a:t>决策效率提升</a:t>
            </a:r>
            <a:endParaRPr lang="en-US" sz="1100" dirty="0"/>
          </a:p>
          <a:p>
            <a:pPr indent="0" algn="l">
              <a:lnSpc>
                <a:spcPct val="125000"/>
              </a:lnSpc>
            </a:pPr>
            <a:r>
              <a:rPr lang="en-US" sz="3200" b="1" i="0" u="none" strike="noStrike" dirty="0">
                <a:solidFill>
                  <a:srgbClr val="0D6EFD"/>
                </a:solidFill>
                <a:latin typeface="Noto Sans SC"/>
                <a:ea typeface="Noto Sans SC"/>
                <a:cs typeface="Noto Sans SC"/>
                <a:sym typeface="Noto Sans SC"/>
              </a:rPr>
              <a:t>60-73</a:t>
            </a:r>
            <a:r>
              <a:rPr lang="en-US" sz="1600" b="0" i="0" u="none" strike="noStrike" dirty="0">
                <a:solidFill>
                  <a:srgbClr val="0D6EFD"/>
                </a:solidFill>
                <a:latin typeface="Noto Sans SC"/>
                <a:ea typeface="Noto Sans SC"/>
                <a:cs typeface="Noto Sans SC"/>
                <a:sym typeface="Noto Sans SC"/>
              </a:rPr>
              <a:t>%</a:t>
            </a:r>
          </a:p>
        </p:txBody>
      </p:sp>
      <p:sp>
        <p:nvSpPr>
          <p:cNvPr id="24" name="AutoShape 24"/>
          <p:cNvSpPr/>
          <p:nvPr/>
        </p:nvSpPr>
        <p:spPr>
          <a:xfrm>
            <a:off x="6350000" y="4826000"/>
            <a:ext cx="4572000" cy="1270000"/>
          </a:xfrm>
          <a:prstGeom prst="roundRect">
            <a:avLst>
              <a:gd name="adj" fmla="val 10000"/>
            </a:avLst>
          </a:prstGeom>
          <a:solidFill>
            <a:srgbClr val="FFFFFF">
              <a:alpha val="90000"/>
            </a:srgbClr>
          </a:solidFill>
          <a:ln w="12700" cap="flat" cmpd="sng">
            <a:solidFill>
              <a:srgbClr val="E5E7EB">
                <a:alpha val="100000"/>
              </a:srgbClr>
            </a:solidFill>
            <a:prstDash val="solid"/>
            <a:round/>
          </a:ln>
          <a:effectLst>
            <a:outerShdw blurRad="101600" dist="50800" dir="5400000" algn="tl" rotWithShape="0">
              <a:srgbClr val="000000">
                <a:alpha val="5000"/>
              </a:srgbClr>
            </a:outerShdw>
          </a:effectLst>
        </p:spPr>
        <p:txBody>
          <a:bodyPr vert="horz" wrap="square" lIns="63500" tIns="63500" rIns="63500" bIns="63500" rtlCol="0" anchor="ctr"/>
          <a:lstStyle/>
          <a:p>
            <a:pPr algn="ctr">
              <a:defRPr/>
            </a:pPr>
            <a:endParaRPr/>
          </a:p>
        </p:txBody>
      </p:sp>
      <p:pic>
        <p:nvPicPr>
          <p:cNvPr id="25" name="Picture 25"/>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6604000" y="5257800"/>
            <a:ext cx="406400" cy="406400"/>
          </a:xfrm>
          <a:prstGeom prst="rect">
            <a:avLst/>
          </a:prstGeom>
        </p:spPr>
      </p:pic>
      <p:sp>
        <p:nvSpPr>
          <p:cNvPr id="26" name="AutoShape 26"/>
          <p:cNvSpPr/>
          <p:nvPr/>
        </p:nvSpPr>
        <p:spPr>
          <a:xfrm>
            <a:off x="7112000" y="4953000"/>
            <a:ext cx="3556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dirty="0" err="1">
                <a:solidFill>
                  <a:srgbClr val="6C757D"/>
                </a:solidFill>
                <a:latin typeface="Noto Sans SC"/>
                <a:ea typeface="Noto Sans SC"/>
                <a:cs typeface="Noto Sans SC"/>
                <a:sym typeface="Noto Sans SC"/>
              </a:rPr>
              <a:t>与专家决策一致性</a:t>
            </a:r>
            <a:endParaRPr lang="en-US" sz="1100" dirty="0"/>
          </a:p>
          <a:p>
            <a:pPr indent="0" algn="l">
              <a:lnSpc>
                <a:spcPct val="125000"/>
              </a:lnSpc>
            </a:pPr>
            <a:r>
              <a:rPr lang="en-US" sz="3200" b="1" i="0" u="none" strike="noStrike" dirty="0">
                <a:solidFill>
                  <a:srgbClr val="0D6EFD"/>
                </a:solidFill>
                <a:latin typeface="Noto Sans SC"/>
                <a:ea typeface="Noto Sans SC"/>
                <a:cs typeface="Noto Sans SC"/>
                <a:sym typeface="Noto Sans SC"/>
              </a:rPr>
              <a:t>100</a:t>
            </a:r>
            <a:r>
              <a:rPr lang="en-US" sz="1600" b="0" i="0" u="none" strike="noStrike" dirty="0">
                <a:solidFill>
                  <a:srgbClr val="0D6EFD"/>
                </a:solidFill>
                <a:latin typeface="Noto Sans SC"/>
                <a:ea typeface="Noto Sans SC"/>
                <a:cs typeface="Noto Sans SC"/>
                <a:sym typeface="Noto Sans SC"/>
              </a:rPr>
              <a:t>%</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342900"/>
            <a:ext cx="12192000" cy="6858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0" y="1524000"/>
            <a:ext cx="12192000" cy="762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3600" b="1" i="0" u="none" strike="noStrike" dirty="0" err="1">
                <a:solidFill>
                  <a:srgbClr val="0D6EFD"/>
                </a:solidFill>
                <a:latin typeface="Noto Sans SC"/>
                <a:ea typeface="Noto Sans SC"/>
                <a:cs typeface="Noto Sans SC"/>
                <a:sym typeface="Noto Sans SC"/>
              </a:rPr>
              <a:t>感谢</a:t>
            </a:r>
            <a:r>
              <a:rPr lang="en-US" sz="3600" b="1" i="0" u="none" strike="noStrike" dirty="0">
                <a:solidFill>
                  <a:srgbClr val="0D6EFD"/>
                </a:solidFill>
                <a:latin typeface="Noto Sans SC"/>
                <a:ea typeface="Noto Sans SC"/>
                <a:cs typeface="Noto Sans SC"/>
                <a:sym typeface="Noto Sans SC"/>
              </a:rPr>
              <a:t>！</a:t>
            </a:r>
            <a:endParaRPr lang="en-US" sz="1100" dirty="0"/>
          </a:p>
        </p:txBody>
      </p:sp>
      <p:sp>
        <p:nvSpPr>
          <p:cNvPr id="5" name="AutoShape 5"/>
          <p:cNvSpPr/>
          <p:nvPr/>
        </p:nvSpPr>
        <p:spPr>
          <a:xfrm>
            <a:off x="0" y="2286000"/>
            <a:ext cx="12192000" cy="508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2000" b="0" i="0" u="none" strike="noStrike">
                <a:solidFill>
                  <a:srgbClr val="6C757D"/>
                </a:solidFill>
                <a:latin typeface="Noto Sans SC"/>
                <a:ea typeface="Noto Sans SC"/>
                <a:cs typeface="Noto Sans SC"/>
                <a:sym typeface="Noto Sans SC"/>
              </a:rPr>
              <a:t>欢迎交流讨论！</a:t>
            </a:r>
            <a:endParaRPr lang="en-US" sz="1100"/>
          </a:p>
        </p:txBody>
      </p:sp>
      <p:cxnSp>
        <p:nvCxnSpPr>
          <p:cNvPr id="6" name="Connector 6"/>
          <p:cNvCxnSpPr/>
          <p:nvPr/>
        </p:nvCxnSpPr>
        <p:spPr>
          <a:xfrm rot="-34376">
            <a:off x="5461032" y="2914650"/>
            <a:ext cx="1270000" cy="12700"/>
          </a:xfrm>
          <a:prstGeom prst="line">
            <a:avLst/>
          </a:prstGeom>
          <a:solidFill>
            <a:srgbClr val="DEE0E3">
              <a:alpha val="100000"/>
            </a:srgbClr>
          </a:solidFill>
          <a:ln w="25400" cap="flat" cmpd="sng">
            <a:solidFill>
              <a:srgbClr val="0D6EFD">
                <a:alpha val="100000"/>
              </a:srgbClr>
            </a:solidFill>
            <a:prstDash val="solid"/>
            <a:round/>
            <a:headEnd type="none" w="lg" len="lg"/>
            <a:tailEnd type="none" w="lg" len="lg"/>
          </a:ln>
        </p:spPr>
      </p:cxnSp>
      <p:pic>
        <p:nvPicPr>
          <p:cNvPr id="7" name="Picture 7"/>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556000" y="3429000"/>
            <a:ext cx="304800" cy="304800"/>
          </a:xfrm>
          <a:prstGeom prst="rect">
            <a:avLst/>
          </a:prstGeom>
        </p:spPr>
      </p:pic>
      <p:sp>
        <p:nvSpPr>
          <p:cNvPr id="8" name="AutoShape 8"/>
          <p:cNvSpPr/>
          <p:nvPr/>
        </p:nvSpPr>
        <p:spPr>
          <a:xfrm>
            <a:off x="3937000" y="3390900"/>
            <a:ext cx="3810000" cy="381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1600" b="0" i="0" u="none" strike="noStrike" dirty="0">
                <a:solidFill>
                  <a:srgbClr val="374151"/>
                </a:solidFill>
                <a:latin typeface="Noto Sans SC"/>
                <a:ea typeface="Noto Sans SC"/>
                <a:cs typeface="Noto Sans SC"/>
                <a:sym typeface="Noto Sans SC"/>
              </a:rPr>
              <a:t>Email: cowei</a:t>
            </a:r>
            <a:r>
              <a:rPr lang="en-US" altLang="zh-CN" sz="1600" b="0" i="0" u="none" strike="noStrike" dirty="0">
                <a:solidFill>
                  <a:srgbClr val="374151"/>
                </a:solidFill>
                <a:latin typeface="Noto Sans SC"/>
                <a:ea typeface="Noto Sans SC"/>
                <a:cs typeface="Noto Sans SC"/>
                <a:sym typeface="Noto Sans SC"/>
              </a:rPr>
              <a:t>2022@outlook.com</a:t>
            </a:r>
            <a:endParaRPr lang="en-US" sz="1100" dirty="0"/>
          </a:p>
        </p:txBody>
      </p:sp>
      <p:pic>
        <p:nvPicPr>
          <p:cNvPr id="9" name="Picture 9"/>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556000" y="3937000"/>
            <a:ext cx="304800" cy="304800"/>
          </a:xfrm>
          <a:prstGeom prst="rect">
            <a:avLst/>
          </a:prstGeom>
        </p:spPr>
      </p:pic>
      <p:sp>
        <p:nvSpPr>
          <p:cNvPr id="10" name="AutoShape 10"/>
          <p:cNvSpPr/>
          <p:nvPr/>
        </p:nvSpPr>
        <p:spPr>
          <a:xfrm>
            <a:off x="3937000" y="3898900"/>
            <a:ext cx="3810000" cy="381000"/>
          </a:xfrm>
          <a:prstGeom prst="rect">
            <a:avLst/>
          </a:prstGeom>
          <a:noFill/>
          <a:ln w="12700" cap="flat" cmpd="sng">
            <a:noFill/>
            <a:prstDash val="solid"/>
            <a:round/>
          </a:ln>
        </p:spPr>
        <p:txBody>
          <a:bodyPr vert="horz" wrap="none" lIns="0" tIns="0" rIns="0" bIns="0" rtlCol="0" anchor="ctr" anchorCtr="0"/>
          <a:lstStyle/>
          <a:p>
            <a:pPr>
              <a:lnSpc>
                <a:spcPct val="125000"/>
              </a:lnSpc>
              <a:defRPr/>
            </a:pPr>
            <a:r>
              <a:rPr lang="en-US" sz="1600" b="0" i="0" u="none" strike="noStrike" dirty="0">
                <a:solidFill>
                  <a:srgbClr val="374151"/>
                </a:solidFill>
                <a:latin typeface="Noto Sans SC"/>
                <a:ea typeface="Noto Sans SC"/>
                <a:cs typeface="Noto Sans SC"/>
                <a:sym typeface="Noto Sans SC"/>
              </a:rPr>
              <a:t>GitHub: </a:t>
            </a:r>
            <a:r>
              <a:rPr lang="en-US" sz="1600" dirty="0">
                <a:solidFill>
                  <a:srgbClr val="374151"/>
                </a:solidFill>
                <a:latin typeface="Noto Sans SC"/>
                <a:ea typeface="Noto Sans SC"/>
                <a:cs typeface="Noto Sans SC"/>
                <a:sym typeface="Noto Sans SC"/>
              </a:rPr>
              <a:t>https://</a:t>
            </a:r>
            <a:r>
              <a:rPr lang="en-US" sz="1600" dirty="0" err="1">
                <a:solidFill>
                  <a:srgbClr val="374151"/>
                </a:solidFill>
                <a:latin typeface="Noto Sans SC"/>
                <a:ea typeface="Noto Sans SC"/>
                <a:cs typeface="Noto Sans SC"/>
                <a:sym typeface="Noto Sans SC"/>
              </a:rPr>
              <a:t>github.com</a:t>
            </a:r>
            <a:r>
              <a:rPr lang="en-US" sz="1600" dirty="0">
                <a:solidFill>
                  <a:srgbClr val="374151"/>
                </a:solidFill>
                <a:latin typeface="Noto Sans SC"/>
                <a:ea typeface="Noto Sans SC"/>
                <a:cs typeface="Noto Sans SC"/>
                <a:sym typeface="Noto Sans SC"/>
              </a:rPr>
              <a:t>/</a:t>
            </a:r>
            <a:r>
              <a:rPr lang="en-US" sz="1600" dirty="0" err="1">
                <a:solidFill>
                  <a:srgbClr val="374151"/>
                </a:solidFill>
                <a:latin typeface="Noto Sans SC"/>
                <a:ea typeface="Noto Sans SC"/>
                <a:cs typeface="Noto Sans SC"/>
                <a:sym typeface="Noto Sans SC"/>
              </a:rPr>
              <a:t>zheng-qinghe</a:t>
            </a:r>
            <a:r>
              <a:rPr lang="en-US" sz="1600" dirty="0">
                <a:solidFill>
                  <a:srgbClr val="374151"/>
                </a:solidFill>
                <a:latin typeface="Noto Sans SC"/>
                <a:ea typeface="Noto Sans SC"/>
                <a:cs typeface="Noto Sans SC"/>
                <a:sym typeface="Noto Sans SC"/>
              </a:rPr>
              <a:t>/</a:t>
            </a:r>
            <a:r>
              <a:rPr lang="en-US" sz="1600" dirty="0" err="1">
                <a:solidFill>
                  <a:srgbClr val="374151"/>
                </a:solidFill>
                <a:latin typeface="Noto Sans SC"/>
                <a:ea typeface="Noto Sans SC"/>
                <a:cs typeface="Noto Sans SC"/>
                <a:sym typeface="Noto Sans SC"/>
              </a:rPr>
              <a:t>QuantDecision</a:t>
            </a:r>
            <a:endParaRPr lang="en-US" sz="1100" dirty="0"/>
          </a:p>
        </p:txBody>
      </p:sp>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43</TotalTime>
  <Words>2437</Words>
  <Application>Microsoft Macintosh PowerPoint</Application>
  <PresentationFormat>宽屏</PresentationFormat>
  <Paragraphs>620</Paragraphs>
  <Slides>31</Slides>
  <Notes>31</Notes>
  <HiddenSlides>0</HiddenSlides>
  <MMClips>0</MMClips>
  <ScaleCrop>false</ScaleCrop>
  <HeadingPairs>
    <vt:vector size="6" baseType="variant">
      <vt:variant>
        <vt:lpstr>已用的字体</vt:lpstr>
      </vt:variant>
      <vt:variant>
        <vt:i4>3</vt:i4>
      </vt:variant>
      <vt:variant>
        <vt:lpstr>主题</vt:lpstr>
      </vt:variant>
      <vt:variant>
        <vt:i4>2</vt:i4>
      </vt:variant>
      <vt:variant>
        <vt:lpstr>幻灯片标题</vt:lpstr>
      </vt:variant>
      <vt:variant>
        <vt:i4>31</vt:i4>
      </vt:variant>
    </vt:vector>
  </HeadingPairs>
  <TitlesOfParts>
    <vt:vector size="36" baseType="lpstr">
      <vt:lpstr>Noto Sans SC</vt:lpstr>
      <vt:lpstr>Arial</vt:lpstr>
      <vt:lpstr>Consolas</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happy tudou</cp:lastModifiedBy>
  <cp:revision>3</cp:revision>
  <dcterms:modified xsi:type="dcterms:W3CDTF">2026-03-14T06:31:16Z</dcterms:modified>
</cp:coreProperties>
</file>